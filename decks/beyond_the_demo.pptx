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Say this section is separate from the timed demo, no clock pressure, this is discussion.
SAY: We just walked through a scripted demo for each tool. Now let's step back. Where do these things actually show up once you're not following a script? Before I show you my list, think of one task at your own job that's slow, repetitive, or buried in documents nobody reads. Hold onto it, I'm going to ask for examples in a minute.
GOAL: Set an open, informal tone. This is a discussion, not a continuation of the timed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Read two or three of these out loud, then open the floor.
SAY: Same pattern every time: your own documents, plus a question you'd otherwise have to hunt through them to answer.
ASK THE CLASS: Does anyone here already do one of these six by hand? Walk us through how long it takes today.
ASK THE CLASS: Whose job in this room involves a stack of documents nobody fully reads? What would you ask a notebook loaded with those docs?
FOLLOW-UP: If someone shares a real example, ask what the equivalent of a 'citation click' would be in their world, i.e., how would they check the tool's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Same as the previous slide, read a couple out loud, then open the floor using the 'Your turn' card.
SAY: Notice these aren't about the AI writing code from scratch and walking away. They're about removing setup friction so the work that WAS worth doing becomes easy enough to actually do.
ASK THE CLASS: Raise your hand if you've ever put off analyzing a dataset because setting up the environment felt like a bigger job than the analysis itself.
ASK THE CLASS: For the teaching example, has anyone here been a student or instructor where 'it works on my machine' actually blocked a class?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Slow down here, this is the one idea you want people to leave with.
SAY: Every example on the last two slides reduces to one of these two moves. If you forget every specific use case by tomorrow, keep these two: ground your answer in sources you can check, and rent the compute instead of owning it.
ASK THE CLASS: Of the two, which one solves a bigger problem for YOUR work right now? Ask for a show of hands, grounded answers vs. disposable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This is a timed pair-share, not a lecture slide. Actually set a 2-minute timer if you have one.
SAY: Turn to the person next to you. You've each got a task from the start of this section. Two minutes: pick a tool for it, name the first document or dataset you'd load, and say how you'd check the answer before trusting it.
AFTER 2 MINUTES: Cold-call two or three pairs. Push back gently if someone picks a tool that doesn't fit, e.g., 'that sounds like a live-data question, would grounding in a static doc actually help there?'
TRANSITION: Close by returning to the two ideas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200" b="1" spc="300" kern="0" dirty="0">
                <a:solidFill>
                  <a:srgbClr val="C4B5FD"/>
                </a:solidFill>
                <a:latin typeface="Calibri" pitchFamily="34" charset="0"/>
                <a:ea typeface="Calibri" pitchFamily="34" charset="-122"/>
                <a:cs typeface="Calibri" pitchFamily="34" charset="-120"/>
              </a:rPr>
              <a:t>AFTER THE DEMO  •  OPEN DISCUSSION</a:t>
            </a:r>
            <a:endParaRPr lang="en-US" sz="1200" dirty="0"/>
          </a:p>
        </p:txBody>
      </p:sp>
      <p:sp>
        <p:nvSpPr>
          <p:cNvPr id="3" name="Text 1"/>
          <p:cNvSpPr txBox="1"/>
          <p:nvPr/>
        </p:nvSpPr>
        <p:spPr>
          <a:xfrm>
            <a:off x="457200" y="1371600"/>
            <a:ext cx="8229600" cy="91440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Beyond today's demo</a:t>
            </a:r>
            <a:endParaRPr lang="en-US" sz="4600" dirty="0"/>
          </a:p>
        </p:txBody>
      </p:sp>
      <p:sp>
        <p:nvSpPr>
          <p:cNvPr id="4" name="Text 2"/>
          <p:cNvSpPr txBox="1"/>
          <p:nvPr/>
        </p:nvSpPr>
        <p:spPr>
          <a:xfrm>
            <a:off x="457200" y="2286000"/>
            <a:ext cx="8229600" cy="457200"/>
          </a:xfrm>
          <a:prstGeom prst="rect">
            <a:avLst/>
          </a:prstGeom>
          <a:noFill/>
          <a:ln/>
        </p:spPr>
        <p:txBody>
          <a:bodyPr wrap="square" lIns="0" tIns="0" rIns="0" bIns="0" rtlCol="0" anchor="ctr"/>
          <a:lstStyle/>
          <a:p>
            <a:pPr indent="0" marL="0">
              <a:buNone/>
            </a:pPr>
            <a:r>
              <a:rPr lang="en-US" sz="2000" dirty="0">
                <a:solidFill>
                  <a:srgbClr val="CBD5E1"/>
                </a:solidFill>
                <a:latin typeface="Calibri" pitchFamily="34" charset="0"/>
                <a:ea typeface="Calibri" pitchFamily="34" charset="-122"/>
                <a:cs typeface="Calibri" pitchFamily="34" charset="-120"/>
              </a:rPr>
              <a:t>Where else do these two tools actually show up at work?</a:t>
            </a:r>
            <a:endParaRPr lang="en-US" sz="2000" dirty="0"/>
          </a:p>
        </p:txBody>
      </p:sp>
      <p:sp>
        <p:nvSpPr>
          <p:cNvPr id="5" name="Shape 3"/>
          <p:cNvSpPr/>
          <p:nvPr/>
        </p:nvSpPr>
        <p:spPr>
          <a:xfrm>
            <a:off x="457200" y="3063240"/>
            <a:ext cx="8229600" cy="868680"/>
          </a:xfrm>
          <a:prstGeom prst="roundRect">
            <a:avLst>
              <a:gd name="adj" fmla="val 12632"/>
            </a:avLst>
          </a:prstGeom>
          <a:solidFill>
            <a:srgbClr val="1E293B"/>
          </a:solidFill>
          <a:ln w="12700">
            <a:solidFill>
              <a:srgbClr val="1E293B"/>
            </a:solidFill>
            <a:prstDash val="solid"/>
          </a:ln>
        </p:spPr>
      </p:sp>
      <p:sp>
        <p:nvSpPr>
          <p:cNvPr id="6" name="Text 4"/>
          <p:cNvSpPr txBox="1"/>
          <p:nvPr/>
        </p:nvSpPr>
        <p:spPr>
          <a:xfrm>
            <a:off x="685800" y="3063240"/>
            <a:ext cx="7772400" cy="868680"/>
          </a:xfrm>
          <a:prstGeom prst="rect">
            <a:avLst/>
          </a:prstGeom>
          <a:noFill/>
          <a:ln/>
        </p:spPr>
        <p:txBody>
          <a:bodyPr wrap="square" lIns="0" tIns="0" rIns="0" bIns="0"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BEFORE WE START   </a:t>
            </a:r>
            <a:endParaRPr lang="en-US" sz="1100" dirty="0"/>
          </a:p>
          <a:p>
            <a:pPr indent="0" marL="0">
              <a:buNone/>
            </a:pPr>
            <a:r>
              <a:rPr lang="en-US" sz="1400" dirty="0">
                <a:solidFill>
                  <a:srgbClr val="E2E8F0"/>
                </a:solidFill>
                <a:latin typeface="Calibri" pitchFamily="34" charset="0"/>
                <a:ea typeface="Calibri" pitchFamily="34" charset="-122"/>
                <a:cs typeface="Calibri" pitchFamily="34" charset="-120"/>
              </a:rPr>
              <a:t>Think of one task at your own job that's slow, repetitive, or full of documents nobody fully reads. Keep it in mind, we'll come back to it.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2563EB"/>
                </a:solidFill>
                <a:latin typeface="Calibri" pitchFamily="34" charset="0"/>
                <a:ea typeface="Calibri" pitchFamily="34" charset="-122"/>
                <a:cs typeface="Calibri" pitchFamily="34" charset="-120"/>
              </a:rPr>
              <a:t>GEMINI NOTEBOOK</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Other real-life uses</a:t>
            </a:r>
            <a:endParaRPr lang="en-US" sz="2800" dirty="0"/>
          </a:p>
        </p:txBody>
      </p:sp>
      <p:sp>
        <p:nvSpPr>
          <p:cNvPr id="4" name="Shape 2"/>
          <p:cNvSpPr/>
          <p:nvPr/>
        </p:nvSpPr>
        <p:spPr>
          <a:xfrm>
            <a:off x="457200" y="1371600"/>
            <a:ext cx="2624328" cy="1554480"/>
          </a:xfrm>
          <a:prstGeom prst="roundRect">
            <a:avLst>
              <a:gd name="adj" fmla="val 7059"/>
            </a:avLst>
          </a:prstGeom>
          <a:solidFill>
            <a:srgbClr val="F8FAFC"/>
          </a:solidFill>
          <a:ln w="12700">
            <a:solidFill>
              <a:srgbClr val="E2E8F0"/>
            </a:solidFill>
            <a:prstDash val="solid"/>
          </a:ln>
        </p:spPr>
      </p:sp>
      <p:sp>
        <p:nvSpPr>
          <p:cNvPr id="5" name="Shape 3"/>
          <p:cNvSpPr/>
          <p:nvPr/>
        </p:nvSpPr>
        <p:spPr>
          <a:xfrm>
            <a:off x="603504" y="1499616"/>
            <a:ext cx="384048" cy="384048"/>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703356" y="1599468"/>
            <a:ext cx="184343" cy="184343"/>
          </a:xfrm>
          <a:prstGeom prst="rect">
            <a:avLst/>
          </a:prstGeom>
        </p:spPr>
      </p:pic>
      <p:sp>
        <p:nvSpPr>
          <p:cNvPr id="7" name="Text 4"/>
          <p:cNvSpPr txBox="1"/>
          <p:nvPr/>
        </p:nvSpPr>
        <p:spPr>
          <a:xfrm>
            <a:off x="1078992" y="148132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Onboarding</a:t>
            </a:r>
            <a:endParaRPr lang="en-US" sz="1350" dirty="0"/>
          </a:p>
        </p:txBody>
      </p:sp>
      <p:sp>
        <p:nvSpPr>
          <p:cNvPr id="8" name="Text 5"/>
          <p:cNvSpPr txBox="1"/>
          <p:nvPr/>
        </p:nvSpPr>
        <p:spPr>
          <a:xfrm>
            <a:off x="603504" y="193852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Load the team wiki, runbooks and a recorded kickoff call. New hires ask questions and get answers cited to the real docs.</a:t>
            </a:r>
            <a:endParaRPr lang="en-US" sz="1050" dirty="0"/>
          </a:p>
        </p:txBody>
      </p:sp>
      <p:sp>
        <p:nvSpPr>
          <p:cNvPr id="9" name="Shape 6"/>
          <p:cNvSpPr/>
          <p:nvPr/>
        </p:nvSpPr>
        <p:spPr>
          <a:xfrm>
            <a:off x="3200400" y="1371600"/>
            <a:ext cx="2624328" cy="1554480"/>
          </a:xfrm>
          <a:prstGeom prst="roundRect">
            <a:avLst>
              <a:gd name="adj" fmla="val 7059"/>
            </a:avLst>
          </a:prstGeom>
          <a:solidFill>
            <a:srgbClr val="F8FAFC"/>
          </a:solidFill>
          <a:ln w="12700">
            <a:solidFill>
              <a:srgbClr val="E2E8F0"/>
            </a:solidFill>
            <a:prstDash val="solid"/>
          </a:ln>
        </p:spPr>
      </p:sp>
      <p:sp>
        <p:nvSpPr>
          <p:cNvPr id="10" name="Shape 7"/>
          <p:cNvSpPr/>
          <p:nvPr/>
        </p:nvSpPr>
        <p:spPr>
          <a:xfrm>
            <a:off x="3346704" y="1499616"/>
            <a:ext cx="384048" cy="384048"/>
          </a:xfrm>
          <a:prstGeom prst="ellipse">
            <a:avLst/>
          </a:prstGeom>
          <a:solidFill>
            <a:srgbClr val="DBEAFE"/>
          </a:solidFill>
          <a:ln w="12700">
            <a:solidFill>
              <a:srgbClr val="DBEAFE"/>
            </a:solidFill>
            <a:prstDash val="solid"/>
          </a:ln>
        </p:spPr>
      </p:sp>
      <p:pic>
        <p:nvPicPr>
          <p:cNvPr id="11" name="Image 1" descr="preencoded.png">    </p:cNvPr>
          <p:cNvPicPr>
            <a:picLocks noChangeAspect="1"/>
          </p:cNvPicPr>
          <p:nvPr/>
        </p:nvPicPr>
        <p:blipFill>
          <a:blip r:embed="rId2"/>
          <a:stretch>
            <a:fillRect/>
          </a:stretch>
        </p:blipFill>
        <p:spPr>
          <a:xfrm>
            <a:off x="3446556" y="1599468"/>
            <a:ext cx="184343" cy="184343"/>
          </a:xfrm>
          <a:prstGeom prst="rect">
            <a:avLst/>
          </a:prstGeom>
        </p:spPr>
      </p:pic>
      <p:sp>
        <p:nvSpPr>
          <p:cNvPr id="12" name="Text 8"/>
          <p:cNvSpPr txBox="1"/>
          <p:nvPr/>
        </p:nvSpPr>
        <p:spPr>
          <a:xfrm>
            <a:off x="3822192" y="148132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Contract &amp; policy review</a:t>
            </a:r>
            <a:endParaRPr lang="en-US" sz="1350" dirty="0"/>
          </a:p>
        </p:txBody>
      </p:sp>
      <p:sp>
        <p:nvSpPr>
          <p:cNvPr id="13" name="Text 9"/>
          <p:cNvSpPr txBox="1"/>
          <p:nvPr/>
        </p:nvSpPr>
        <p:spPr>
          <a:xfrm>
            <a:off x="3346704" y="193852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Load a vendor contract or compliance policy and ask what it does and doesn't cover.</a:t>
            </a:r>
            <a:endParaRPr lang="en-US" sz="1050" dirty="0"/>
          </a:p>
        </p:txBody>
      </p:sp>
      <p:sp>
        <p:nvSpPr>
          <p:cNvPr id="14" name="Shape 10"/>
          <p:cNvSpPr/>
          <p:nvPr/>
        </p:nvSpPr>
        <p:spPr>
          <a:xfrm>
            <a:off x="5943600" y="1371600"/>
            <a:ext cx="2624328" cy="1554480"/>
          </a:xfrm>
          <a:prstGeom prst="roundRect">
            <a:avLst>
              <a:gd name="adj" fmla="val 7059"/>
            </a:avLst>
          </a:prstGeom>
          <a:solidFill>
            <a:srgbClr val="F8FAFC"/>
          </a:solidFill>
          <a:ln w="12700">
            <a:solidFill>
              <a:srgbClr val="E2E8F0"/>
            </a:solidFill>
            <a:prstDash val="solid"/>
          </a:ln>
        </p:spPr>
      </p:sp>
      <p:sp>
        <p:nvSpPr>
          <p:cNvPr id="15" name="Shape 11"/>
          <p:cNvSpPr/>
          <p:nvPr/>
        </p:nvSpPr>
        <p:spPr>
          <a:xfrm>
            <a:off x="6089904" y="1499616"/>
            <a:ext cx="384048" cy="384048"/>
          </a:xfrm>
          <a:prstGeom prst="ellipse">
            <a:avLst/>
          </a:prstGeom>
          <a:solidFill>
            <a:srgbClr val="DBEAFE"/>
          </a:solidFill>
          <a:ln w="12700">
            <a:solidFill>
              <a:srgbClr val="DBEAFE"/>
            </a:solidFill>
            <a:prstDash val="solid"/>
          </a:ln>
        </p:spPr>
      </p:sp>
      <p:pic>
        <p:nvPicPr>
          <p:cNvPr id="16" name="Image 2" descr="preencoded.png">    </p:cNvPr>
          <p:cNvPicPr>
            <a:picLocks noChangeAspect="1"/>
          </p:cNvPicPr>
          <p:nvPr/>
        </p:nvPicPr>
        <p:blipFill>
          <a:blip r:embed="rId3"/>
          <a:stretch>
            <a:fillRect/>
          </a:stretch>
        </p:blipFill>
        <p:spPr>
          <a:xfrm>
            <a:off x="6189756" y="1599468"/>
            <a:ext cx="184343" cy="184343"/>
          </a:xfrm>
          <a:prstGeom prst="rect">
            <a:avLst/>
          </a:prstGeom>
        </p:spPr>
      </p:pic>
      <p:sp>
        <p:nvSpPr>
          <p:cNvPr id="17" name="Text 12"/>
          <p:cNvSpPr txBox="1"/>
          <p:nvPr/>
        </p:nvSpPr>
        <p:spPr>
          <a:xfrm>
            <a:off x="6565392" y="148132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Meeting prep</a:t>
            </a:r>
            <a:endParaRPr lang="en-US" sz="1350" dirty="0"/>
          </a:p>
        </p:txBody>
      </p:sp>
      <p:sp>
        <p:nvSpPr>
          <p:cNvPr id="18" name="Text 13"/>
          <p:cNvSpPr txBox="1"/>
          <p:nvPr/>
        </p:nvSpPr>
        <p:spPr>
          <a:xfrm>
            <a:off x="6089904" y="193852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Load prior notes, public filings and an earnings call before a client meeting, and ask for a synthesis.</a:t>
            </a:r>
            <a:endParaRPr lang="en-US" sz="1050" dirty="0"/>
          </a:p>
        </p:txBody>
      </p:sp>
      <p:sp>
        <p:nvSpPr>
          <p:cNvPr id="19" name="Shape 14"/>
          <p:cNvSpPr/>
          <p:nvPr/>
        </p:nvSpPr>
        <p:spPr>
          <a:xfrm>
            <a:off x="457200" y="3063240"/>
            <a:ext cx="2624328" cy="1554480"/>
          </a:xfrm>
          <a:prstGeom prst="roundRect">
            <a:avLst>
              <a:gd name="adj" fmla="val 7059"/>
            </a:avLst>
          </a:prstGeom>
          <a:solidFill>
            <a:srgbClr val="F8FAFC"/>
          </a:solidFill>
          <a:ln w="12700">
            <a:solidFill>
              <a:srgbClr val="E2E8F0"/>
            </a:solidFill>
            <a:prstDash val="solid"/>
          </a:ln>
        </p:spPr>
      </p:sp>
      <p:sp>
        <p:nvSpPr>
          <p:cNvPr id="20" name="Shape 15"/>
          <p:cNvSpPr/>
          <p:nvPr/>
        </p:nvSpPr>
        <p:spPr>
          <a:xfrm>
            <a:off x="603504" y="3191256"/>
            <a:ext cx="384048" cy="384048"/>
          </a:xfrm>
          <a:prstGeom prst="ellipse">
            <a:avLst/>
          </a:prstGeom>
          <a:solidFill>
            <a:srgbClr val="DBEAFE"/>
          </a:solidFill>
          <a:ln w="12700">
            <a:solidFill>
              <a:srgbClr val="DBEAFE"/>
            </a:solidFill>
            <a:prstDash val="solid"/>
          </a:ln>
        </p:spPr>
      </p:sp>
      <p:pic>
        <p:nvPicPr>
          <p:cNvPr id="21" name="Image 3" descr="preencoded.png">    </p:cNvPr>
          <p:cNvPicPr>
            <a:picLocks noChangeAspect="1"/>
          </p:cNvPicPr>
          <p:nvPr/>
        </p:nvPicPr>
        <p:blipFill>
          <a:blip r:embed="rId4"/>
          <a:stretch>
            <a:fillRect/>
          </a:stretch>
        </p:blipFill>
        <p:spPr>
          <a:xfrm>
            <a:off x="703356" y="3291108"/>
            <a:ext cx="184343" cy="184343"/>
          </a:xfrm>
          <a:prstGeom prst="rect">
            <a:avLst/>
          </a:prstGeom>
        </p:spPr>
      </p:pic>
      <p:sp>
        <p:nvSpPr>
          <p:cNvPr id="22" name="Text 16"/>
          <p:cNvSpPr txBox="1"/>
          <p:nvPr/>
        </p:nvSpPr>
        <p:spPr>
          <a:xfrm>
            <a:off x="1078992" y="317296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Literature review</a:t>
            </a:r>
            <a:endParaRPr lang="en-US" sz="1350" dirty="0"/>
          </a:p>
        </p:txBody>
      </p:sp>
      <p:sp>
        <p:nvSpPr>
          <p:cNvPr id="23" name="Text 17"/>
          <p:cNvSpPr txBox="1"/>
          <p:nvPr/>
        </p:nvSpPr>
        <p:spPr>
          <a:xfrm>
            <a:off x="603504" y="363016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Load a stack of papers and ask where they agree or disagree, same shape as today's 'where do sources disagree' prompt.</a:t>
            </a:r>
            <a:endParaRPr lang="en-US" sz="1050" dirty="0"/>
          </a:p>
        </p:txBody>
      </p:sp>
      <p:sp>
        <p:nvSpPr>
          <p:cNvPr id="24" name="Shape 18"/>
          <p:cNvSpPr/>
          <p:nvPr/>
        </p:nvSpPr>
        <p:spPr>
          <a:xfrm>
            <a:off x="3200400" y="3063240"/>
            <a:ext cx="2624328" cy="1554480"/>
          </a:xfrm>
          <a:prstGeom prst="roundRect">
            <a:avLst>
              <a:gd name="adj" fmla="val 7059"/>
            </a:avLst>
          </a:prstGeom>
          <a:solidFill>
            <a:srgbClr val="F8FAFC"/>
          </a:solidFill>
          <a:ln w="12700">
            <a:solidFill>
              <a:srgbClr val="E2E8F0"/>
            </a:solidFill>
            <a:prstDash val="solid"/>
          </a:ln>
        </p:spPr>
      </p:sp>
      <p:sp>
        <p:nvSpPr>
          <p:cNvPr id="25" name="Shape 19"/>
          <p:cNvSpPr/>
          <p:nvPr/>
        </p:nvSpPr>
        <p:spPr>
          <a:xfrm>
            <a:off x="3346704" y="3191256"/>
            <a:ext cx="384048" cy="384048"/>
          </a:xfrm>
          <a:prstGeom prst="ellipse">
            <a:avLst/>
          </a:prstGeom>
          <a:solidFill>
            <a:srgbClr val="DBEAFE"/>
          </a:solidFill>
          <a:ln w="12700">
            <a:solidFill>
              <a:srgbClr val="DBEAFE"/>
            </a:solidFill>
            <a:prstDash val="solid"/>
          </a:ln>
        </p:spPr>
      </p:sp>
      <p:pic>
        <p:nvPicPr>
          <p:cNvPr id="26" name="Image 4" descr="preencoded.png">    </p:cNvPr>
          <p:cNvPicPr>
            <a:picLocks noChangeAspect="1"/>
          </p:cNvPicPr>
          <p:nvPr/>
        </p:nvPicPr>
        <p:blipFill>
          <a:blip r:embed="rId5"/>
          <a:stretch>
            <a:fillRect/>
          </a:stretch>
        </p:blipFill>
        <p:spPr>
          <a:xfrm>
            <a:off x="3446556" y="3291108"/>
            <a:ext cx="184343" cy="184343"/>
          </a:xfrm>
          <a:prstGeom prst="rect">
            <a:avLst/>
          </a:prstGeom>
        </p:spPr>
      </p:pic>
      <p:sp>
        <p:nvSpPr>
          <p:cNvPr id="27" name="Text 20"/>
          <p:cNvSpPr txBox="1"/>
          <p:nvPr/>
        </p:nvSpPr>
        <p:spPr>
          <a:xfrm>
            <a:off x="3822192" y="317296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Support content audits</a:t>
            </a:r>
            <a:endParaRPr lang="en-US" sz="1350" dirty="0"/>
          </a:p>
        </p:txBody>
      </p:sp>
      <p:sp>
        <p:nvSpPr>
          <p:cNvPr id="28" name="Text 21"/>
          <p:cNvSpPr txBox="1"/>
          <p:nvPr/>
        </p:nvSpPr>
        <p:spPr>
          <a:xfrm>
            <a:off x="3346704" y="363016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Load help docs plus real support tickets, and find where the docs are silent or wrong.</a:t>
            </a:r>
            <a:endParaRPr lang="en-US" sz="1050" dirty="0"/>
          </a:p>
        </p:txBody>
      </p:sp>
      <p:sp>
        <p:nvSpPr>
          <p:cNvPr id="29" name="Shape 22"/>
          <p:cNvSpPr/>
          <p:nvPr/>
        </p:nvSpPr>
        <p:spPr>
          <a:xfrm>
            <a:off x="5943600" y="3063240"/>
            <a:ext cx="2624328" cy="1554480"/>
          </a:xfrm>
          <a:prstGeom prst="roundRect">
            <a:avLst>
              <a:gd name="adj" fmla="val 7059"/>
            </a:avLst>
          </a:prstGeom>
          <a:solidFill>
            <a:srgbClr val="F8FAFC"/>
          </a:solidFill>
          <a:ln w="12700">
            <a:solidFill>
              <a:srgbClr val="E2E8F0"/>
            </a:solidFill>
            <a:prstDash val="solid"/>
          </a:ln>
        </p:spPr>
      </p:sp>
      <p:sp>
        <p:nvSpPr>
          <p:cNvPr id="30" name="Shape 23"/>
          <p:cNvSpPr/>
          <p:nvPr/>
        </p:nvSpPr>
        <p:spPr>
          <a:xfrm>
            <a:off x="6089904" y="3191256"/>
            <a:ext cx="384048" cy="384048"/>
          </a:xfrm>
          <a:prstGeom prst="ellipse">
            <a:avLst/>
          </a:prstGeom>
          <a:solidFill>
            <a:srgbClr val="DBEAFE"/>
          </a:solidFill>
          <a:ln w="12700">
            <a:solidFill>
              <a:srgbClr val="DBEAFE"/>
            </a:solidFill>
            <a:prstDash val="solid"/>
          </a:ln>
        </p:spPr>
      </p:sp>
      <p:pic>
        <p:nvPicPr>
          <p:cNvPr id="31" name="Image 5" descr="preencoded.png">    </p:cNvPr>
          <p:cNvPicPr>
            <a:picLocks noChangeAspect="1"/>
          </p:cNvPicPr>
          <p:nvPr/>
        </p:nvPicPr>
        <p:blipFill>
          <a:blip r:embed="rId6"/>
          <a:stretch>
            <a:fillRect/>
          </a:stretch>
        </p:blipFill>
        <p:spPr>
          <a:xfrm>
            <a:off x="6189756" y="3291108"/>
            <a:ext cx="184343" cy="184343"/>
          </a:xfrm>
          <a:prstGeom prst="rect">
            <a:avLst/>
          </a:prstGeom>
        </p:spPr>
      </p:pic>
      <p:sp>
        <p:nvSpPr>
          <p:cNvPr id="32" name="Text 24"/>
          <p:cNvSpPr txBox="1"/>
          <p:nvPr/>
        </p:nvSpPr>
        <p:spPr>
          <a:xfrm>
            <a:off x="6565392" y="317296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Personal research</a:t>
            </a:r>
            <a:endParaRPr lang="en-US" sz="1350" dirty="0"/>
          </a:p>
        </p:txBody>
      </p:sp>
      <p:sp>
        <p:nvSpPr>
          <p:cNvPr id="33" name="Text 25"/>
          <p:cNvSpPr txBox="1"/>
          <p:nvPr/>
        </p:nvSpPr>
        <p:spPr>
          <a:xfrm>
            <a:off x="6089904" y="363016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Load a few long articles and a video explainer on a topic, then interrogate them together.</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059669"/>
                </a:solidFill>
                <a:latin typeface="Calibri" pitchFamily="34" charset="0"/>
                <a:ea typeface="Calibri" pitchFamily="34" charset="-122"/>
                <a:cs typeface="Calibri" pitchFamily="34" charset="-120"/>
              </a:rPr>
              <a:t>GOOGLE COLAB</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Other real-life uses</a:t>
            </a:r>
            <a:endParaRPr lang="en-US" sz="2800" dirty="0"/>
          </a:p>
        </p:txBody>
      </p:sp>
      <p:sp>
        <p:nvSpPr>
          <p:cNvPr id="4" name="Shape 2"/>
          <p:cNvSpPr/>
          <p:nvPr/>
        </p:nvSpPr>
        <p:spPr>
          <a:xfrm>
            <a:off x="457200" y="1371600"/>
            <a:ext cx="2624328" cy="1554480"/>
          </a:xfrm>
          <a:prstGeom prst="roundRect">
            <a:avLst>
              <a:gd name="adj" fmla="val 7059"/>
            </a:avLst>
          </a:prstGeom>
          <a:solidFill>
            <a:srgbClr val="F8FAFC"/>
          </a:solidFill>
          <a:ln w="12700">
            <a:solidFill>
              <a:srgbClr val="E2E8F0"/>
            </a:solidFill>
            <a:prstDash val="solid"/>
          </a:ln>
        </p:spPr>
      </p:sp>
      <p:sp>
        <p:nvSpPr>
          <p:cNvPr id="5" name="Shape 3"/>
          <p:cNvSpPr/>
          <p:nvPr/>
        </p:nvSpPr>
        <p:spPr>
          <a:xfrm>
            <a:off x="603504" y="1499616"/>
            <a:ext cx="384048" cy="384048"/>
          </a:xfrm>
          <a:prstGeom prst="ellipse">
            <a:avLst/>
          </a:prstGeom>
          <a:solidFill>
            <a:srgbClr val="D1FAE5"/>
          </a:solidFill>
          <a:ln w="12700">
            <a:solidFill>
              <a:srgbClr val="D1FAE5"/>
            </a:solidFill>
            <a:prstDash val="solid"/>
          </a:ln>
        </p:spPr>
      </p:sp>
      <p:pic>
        <p:nvPicPr>
          <p:cNvPr id="6" name="Image 0" descr="preencoded.png">    </p:cNvPr>
          <p:cNvPicPr>
            <a:picLocks noChangeAspect="1"/>
          </p:cNvPicPr>
          <p:nvPr/>
        </p:nvPicPr>
        <p:blipFill>
          <a:blip r:embed="rId1"/>
          <a:stretch>
            <a:fillRect/>
          </a:stretch>
        </p:blipFill>
        <p:spPr>
          <a:xfrm>
            <a:off x="703356" y="1599468"/>
            <a:ext cx="184343" cy="184343"/>
          </a:xfrm>
          <a:prstGeom prst="rect">
            <a:avLst/>
          </a:prstGeom>
        </p:spPr>
      </p:pic>
      <p:sp>
        <p:nvSpPr>
          <p:cNvPr id="7" name="Text 4"/>
          <p:cNvSpPr txBox="1"/>
          <p:nvPr/>
        </p:nvSpPr>
        <p:spPr>
          <a:xfrm>
            <a:off x="1078992" y="148132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Data cleaning &amp; EDA</a:t>
            </a:r>
            <a:endParaRPr lang="en-US" sz="1350" dirty="0"/>
          </a:p>
        </p:txBody>
      </p:sp>
      <p:sp>
        <p:nvSpPr>
          <p:cNvPr id="8" name="Text 5"/>
          <p:cNvSpPr txBox="1"/>
          <p:nvPr/>
        </p:nvSpPr>
        <p:spPr>
          <a:xfrm>
            <a:off x="603504" y="193852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Upload a messy CSV, profile it, clean it and chart it, the same prompt-to-plot pattern from today's demo.</a:t>
            </a:r>
            <a:endParaRPr lang="en-US" sz="1050" dirty="0"/>
          </a:p>
        </p:txBody>
      </p:sp>
      <p:sp>
        <p:nvSpPr>
          <p:cNvPr id="9" name="Shape 6"/>
          <p:cNvSpPr/>
          <p:nvPr/>
        </p:nvSpPr>
        <p:spPr>
          <a:xfrm>
            <a:off x="3200400" y="1371600"/>
            <a:ext cx="2624328" cy="1554480"/>
          </a:xfrm>
          <a:prstGeom prst="roundRect">
            <a:avLst>
              <a:gd name="adj" fmla="val 7059"/>
            </a:avLst>
          </a:prstGeom>
          <a:solidFill>
            <a:srgbClr val="F8FAFC"/>
          </a:solidFill>
          <a:ln w="12700">
            <a:solidFill>
              <a:srgbClr val="E2E8F0"/>
            </a:solidFill>
            <a:prstDash val="solid"/>
          </a:ln>
        </p:spPr>
      </p:sp>
      <p:sp>
        <p:nvSpPr>
          <p:cNvPr id="10" name="Shape 7"/>
          <p:cNvSpPr/>
          <p:nvPr/>
        </p:nvSpPr>
        <p:spPr>
          <a:xfrm>
            <a:off x="3346704" y="1499616"/>
            <a:ext cx="384048" cy="384048"/>
          </a:xfrm>
          <a:prstGeom prst="ellipse">
            <a:avLst/>
          </a:prstGeom>
          <a:solidFill>
            <a:srgbClr val="D1FAE5"/>
          </a:solidFill>
          <a:ln w="12700">
            <a:solidFill>
              <a:srgbClr val="D1FAE5"/>
            </a:solidFill>
            <a:prstDash val="solid"/>
          </a:ln>
        </p:spPr>
      </p:sp>
      <p:pic>
        <p:nvPicPr>
          <p:cNvPr id="11" name="Image 1" descr="preencoded.png">    </p:cNvPr>
          <p:cNvPicPr>
            <a:picLocks noChangeAspect="1"/>
          </p:cNvPicPr>
          <p:nvPr/>
        </p:nvPicPr>
        <p:blipFill>
          <a:blip r:embed="rId2"/>
          <a:stretch>
            <a:fillRect/>
          </a:stretch>
        </p:blipFill>
        <p:spPr>
          <a:xfrm>
            <a:off x="3446556" y="1599468"/>
            <a:ext cx="184343" cy="184343"/>
          </a:xfrm>
          <a:prstGeom prst="rect">
            <a:avLst/>
          </a:prstGeom>
        </p:spPr>
      </p:pic>
      <p:sp>
        <p:nvSpPr>
          <p:cNvPr id="12" name="Text 8"/>
          <p:cNvSpPr txBox="1"/>
          <p:nvPr/>
        </p:nvSpPr>
        <p:spPr>
          <a:xfrm>
            <a:off x="3822192" y="148132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Model prototyping</a:t>
            </a:r>
            <a:endParaRPr lang="en-US" sz="1350" dirty="0"/>
          </a:p>
        </p:txBody>
      </p:sp>
      <p:sp>
        <p:nvSpPr>
          <p:cNvPr id="13" name="Text 9"/>
          <p:cNvSpPr txBox="1"/>
          <p:nvPr/>
        </p:nvSpPr>
        <p:spPr>
          <a:xfrm>
            <a:off x="3346704" y="193852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Try a small model or a fine-tune on a free GPU before deciding it's worth dedicated infrastructure.</a:t>
            </a:r>
            <a:endParaRPr lang="en-US" sz="1050" dirty="0"/>
          </a:p>
        </p:txBody>
      </p:sp>
      <p:sp>
        <p:nvSpPr>
          <p:cNvPr id="14" name="Shape 10"/>
          <p:cNvSpPr/>
          <p:nvPr/>
        </p:nvSpPr>
        <p:spPr>
          <a:xfrm>
            <a:off x="5943600" y="1371600"/>
            <a:ext cx="2624328" cy="1554480"/>
          </a:xfrm>
          <a:prstGeom prst="roundRect">
            <a:avLst>
              <a:gd name="adj" fmla="val 7059"/>
            </a:avLst>
          </a:prstGeom>
          <a:solidFill>
            <a:srgbClr val="F8FAFC"/>
          </a:solidFill>
          <a:ln w="12700">
            <a:solidFill>
              <a:srgbClr val="E2E8F0"/>
            </a:solidFill>
            <a:prstDash val="solid"/>
          </a:ln>
        </p:spPr>
      </p:sp>
      <p:sp>
        <p:nvSpPr>
          <p:cNvPr id="15" name="Shape 11"/>
          <p:cNvSpPr/>
          <p:nvPr/>
        </p:nvSpPr>
        <p:spPr>
          <a:xfrm>
            <a:off x="6089904" y="1499616"/>
            <a:ext cx="384048" cy="384048"/>
          </a:xfrm>
          <a:prstGeom prst="ellipse">
            <a:avLst/>
          </a:prstGeom>
          <a:solidFill>
            <a:srgbClr val="D1FAE5"/>
          </a:solidFill>
          <a:ln w="12700">
            <a:solidFill>
              <a:srgbClr val="D1FAE5"/>
            </a:solidFill>
            <a:prstDash val="solid"/>
          </a:ln>
        </p:spPr>
      </p:sp>
      <p:pic>
        <p:nvPicPr>
          <p:cNvPr id="16" name="Image 2" descr="preencoded.png">    </p:cNvPr>
          <p:cNvPicPr>
            <a:picLocks noChangeAspect="1"/>
          </p:cNvPicPr>
          <p:nvPr/>
        </p:nvPicPr>
        <p:blipFill>
          <a:blip r:embed="rId3"/>
          <a:stretch>
            <a:fillRect/>
          </a:stretch>
        </p:blipFill>
        <p:spPr>
          <a:xfrm>
            <a:off x="6189756" y="1599468"/>
            <a:ext cx="184343" cy="184343"/>
          </a:xfrm>
          <a:prstGeom prst="rect">
            <a:avLst/>
          </a:prstGeom>
        </p:spPr>
      </p:pic>
      <p:sp>
        <p:nvSpPr>
          <p:cNvPr id="17" name="Text 12"/>
          <p:cNvSpPr txBox="1"/>
          <p:nvPr/>
        </p:nvSpPr>
        <p:spPr>
          <a:xfrm>
            <a:off x="6565392" y="148132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Teaching &amp; shared homework</a:t>
            </a:r>
            <a:endParaRPr lang="en-US" sz="1350" dirty="0"/>
          </a:p>
        </p:txBody>
      </p:sp>
      <p:sp>
        <p:nvSpPr>
          <p:cNvPr id="18" name="Text 13"/>
          <p:cNvSpPr txBox="1"/>
          <p:nvPr/>
        </p:nvSpPr>
        <p:spPr>
          <a:xfrm>
            <a:off x="6089904" y="193852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Share one notebook link so every student runs identical code with zero setup.</a:t>
            </a:r>
            <a:endParaRPr lang="en-US" sz="1050" dirty="0"/>
          </a:p>
        </p:txBody>
      </p:sp>
      <p:sp>
        <p:nvSpPr>
          <p:cNvPr id="19" name="Shape 14"/>
          <p:cNvSpPr/>
          <p:nvPr/>
        </p:nvSpPr>
        <p:spPr>
          <a:xfrm>
            <a:off x="457200" y="3063240"/>
            <a:ext cx="2624328" cy="1554480"/>
          </a:xfrm>
          <a:prstGeom prst="roundRect">
            <a:avLst>
              <a:gd name="adj" fmla="val 7059"/>
            </a:avLst>
          </a:prstGeom>
          <a:solidFill>
            <a:srgbClr val="F8FAFC"/>
          </a:solidFill>
          <a:ln w="12700">
            <a:solidFill>
              <a:srgbClr val="E2E8F0"/>
            </a:solidFill>
            <a:prstDash val="solid"/>
          </a:ln>
        </p:spPr>
      </p:sp>
      <p:sp>
        <p:nvSpPr>
          <p:cNvPr id="20" name="Shape 15"/>
          <p:cNvSpPr/>
          <p:nvPr/>
        </p:nvSpPr>
        <p:spPr>
          <a:xfrm>
            <a:off x="603504" y="3191256"/>
            <a:ext cx="384048" cy="384048"/>
          </a:xfrm>
          <a:prstGeom prst="ellipse">
            <a:avLst/>
          </a:prstGeom>
          <a:solidFill>
            <a:srgbClr val="D1FAE5"/>
          </a:solidFill>
          <a:ln w="12700">
            <a:solidFill>
              <a:srgbClr val="D1FAE5"/>
            </a:solidFill>
            <a:prstDash val="solid"/>
          </a:ln>
        </p:spPr>
      </p:sp>
      <p:pic>
        <p:nvPicPr>
          <p:cNvPr id="21" name="Image 3" descr="preencoded.png">    </p:cNvPr>
          <p:cNvPicPr>
            <a:picLocks noChangeAspect="1"/>
          </p:cNvPicPr>
          <p:nvPr/>
        </p:nvPicPr>
        <p:blipFill>
          <a:blip r:embed="rId4"/>
          <a:stretch>
            <a:fillRect/>
          </a:stretch>
        </p:blipFill>
        <p:spPr>
          <a:xfrm>
            <a:off x="703356" y="3291108"/>
            <a:ext cx="184343" cy="184343"/>
          </a:xfrm>
          <a:prstGeom prst="rect">
            <a:avLst/>
          </a:prstGeom>
        </p:spPr>
      </p:pic>
      <p:sp>
        <p:nvSpPr>
          <p:cNvPr id="22" name="Text 16"/>
          <p:cNvSpPr txBox="1"/>
          <p:nvPr/>
        </p:nvSpPr>
        <p:spPr>
          <a:xfrm>
            <a:off x="1078992" y="317296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One-off automation</a:t>
            </a:r>
            <a:endParaRPr lang="en-US" sz="1350" dirty="0"/>
          </a:p>
        </p:txBody>
      </p:sp>
      <p:sp>
        <p:nvSpPr>
          <p:cNvPr id="23" name="Text 17"/>
          <p:cNvSpPr txBox="1"/>
          <p:nvPr/>
        </p:nvSpPr>
        <p:spPr>
          <a:xfrm>
            <a:off x="603504" y="363016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A scrape-and-report script that runs occasionally and doesn't justify its own server.</a:t>
            </a:r>
            <a:endParaRPr lang="en-US" sz="1050" dirty="0"/>
          </a:p>
        </p:txBody>
      </p:sp>
      <p:sp>
        <p:nvSpPr>
          <p:cNvPr id="24" name="Shape 18"/>
          <p:cNvSpPr/>
          <p:nvPr/>
        </p:nvSpPr>
        <p:spPr>
          <a:xfrm>
            <a:off x="3200400" y="3063240"/>
            <a:ext cx="2624328" cy="1554480"/>
          </a:xfrm>
          <a:prstGeom prst="roundRect">
            <a:avLst>
              <a:gd name="adj" fmla="val 7059"/>
            </a:avLst>
          </a:prstGeom>
          <a:solidFill>
            <a:srgbClr val="F8FAFC"/>
          </a:solidFill>
          <a:ln w="12700">
            <a:solidFill>
              <a:srgbClr val="E2E8F0"/>
            </a:solidFill>
            <a:prstDash val="solid"/>
          </a:ln>
        </p:spPr>
      </p:sp>
      <p:sp>
        <p:nvSpPr>
          <p:cNvPr id="25" name="Shape 19"/>
          <p:cNvSpPr/>
          <p:nvPr/>
        </p:nvSpPr>
        <p:spPr>
          <a:xfrm>
            <a:off x="3346704" y="3191256"/>
            <a:ext cx="384048" cy="384048"/>
          </a:xfrm>
          <a:prstGeom prst="ellipse">
            <a:avLst/>
          </a:prstGeom>
          <a:solidFill>
            <a:srgbClr val="D1FAE5"/>
          </a:solidFill>
          <a:ln w="12700">
            <a:solidFill>
              <a:srgbClr val="D1FAE5"/>
            </a:solidFill>
            <a:prstDash val="solid"/>
          </a:ln>
        </p:spPr>
      </p:sp>
      <p:pic>
        <p:nvPicPr>
          <p:cNvPr id="26" name="Image 4" descr="preencoded.png">    </p:cNvPr>
          <p:cNvPicPr>
            <a:picLocks noChangeAspect="1"/>
          </p:cNvPicPr>
          <p:nvPr/>
        </p:nvPicPr>
        <p:blipFill>
          <a:blip r:embed="rId5"/>
          <a:stretch>
            <a:fillRect/>
          </a:stretch>
        </p:blipFill>
        <p:spPr>
          <a:xfrm>
            <a:off x="3446556" y="3291108"/>
            <a:ext cx="184343" cy="184343"/>
          </a:xfrm>
          <a:prstGeom prst="rect">
            <a:avLst/>
          </a:prstGeom>
        </p:spPr>
      </p:pic>
      <p:sp>
        <p:nvSpPr>
          <p:cNvPr id="27" name="Text 20"/>
          <p:cNvSpPr txBox="1"/>
          <p:nvPr/>
        </p:nvSpPr>
        <p:spPr>
          <a:xfrm>
            <a:off x="3822192" y="3172968"/>
            <a:ext cx="1847088" cy="420624"/>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Collaborative debugging</a:t>
            </a:r>
            <a:endParaRPr lang="en-US" sz="1350" dirty="0"/>
          </a:p>
        </p:txBody>
      </p:sp>
      <p:sp>
        <p:nvSpPr>
          <p:cNvPr id="28" name="Text 21"/>
          <p:cNvSpPr txBox="1"/>
          <p:nvPr/>
        </p:nvSpPr>
        <p:spPr>
          <a:xfrm>
            <a:off x="3346704" y="3630168"/>
            <a:ext cx="2331720" cy="896112"/>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Two people open the same notebook; one triggers an error, the other reviews the suggested fix.</a:t>
            </a:r>
            <a:endParaRPr lang="en-US" sz="1050" dirty="0"/>
          </a:p>
        </p:txBody>
      </p:sp>
      <p:sp>
        <p:nvSpPr>
          <p:cNvPr id="29" name="Shape 22"/>
          <p:cNvSpPr/>
          <p:nvPr/>
        </p:nvSpPr>
        <p:spPr>
          <a:xfrm>
            <a:off x="5943600" y="3063240"/>
            <a:ext cx="2624328" cy="1554480"/>
          </a:xfrm>
          <a:prstGeom prst="roundRect">
            <a:avLst>
              <a:gd name="adj" fmla="val 7059"/>
            </a:avLst>
          </a:prstGeom>
          <a:solidFill>
            <a:srgbClr val="FFFBEB"/>
          </a:solidFill>
          <a:ln w="12700">
            <a:solidFill>
              <a:srgbClr val="FDE68A"/>
            </a:solidFill>
            <a:prstDash val="solid"/>
          </a:ln>
        </p:spPr>
      </p:sp>
      <p:sp>
        <p:nvSpPr>
          <p:cNvPr id="30" name="Shape 23"/>
          <p:cNvSpPr/>
          <p:nvPr/>
        </p:nvSpPr>
        <p:spPr>
          <a:xfrm>
            <a:off x="6089904" y="3191256"/>
            <a:ext cx="384048" cy="384048"/>
          </a:xfrm>
          <a:prstGeom prst="ellipse">
            <a:avLst/>
          </a:prstGeom>
          <a:solidFill>
            <a:srgbClr val="FEF3C7"/>
          </a:solidFill>
          <a:ln w="12700">
            <a:solidFill>
              <a:srgbClr val="FEF3C7"/>
            </a:solidFill>
            <a:prstDash val="solid"/>
          </a:ln>
        </p:spPr>
      </p:sp>
      <p:pic>
        <p:nvPicPr>
          <p:cNvPr id="31" name="Image 5" descr="preencoded.png">    </p:cNvPr>
          <p:cNvPicPr>
            <a:picLocks noChangeAspect="1"/>
          </p:cNvPicPr>
          <p:nvPr/>
        </p:nvPicPr>
        <p:blipFill>
          <a:blip r:embed="rId6"/>
          <a:stretch>
            <a:fillRect/>
          </a:stretch>
        </p:blipFill>
        <p:spPr>
          <a:xfrm>
            <a:off x="6189756" y="3291108"/>
            <a:ext cx="184343" cy="184343"/>
          </a:xfrm>
          <a:prstGeom prst="rect">
            <a:avLst/>
          </a:prstGeom>
        </p:spPr>
      </p:pic>
      <p:sp>
        <p:nvSpPr>
          <p:cNvPr id="32" name="Text 24"/>
          <p:cNvSpPr txBox="1"/>
          <p:nvPr/>
        </p:nvSpPr>
        <p:spPr>
          <a:xfrm>
            <a:off x="6565392" y="3172968"/>
            <a:ext cx="1847088" cy="420624"/>
          </a:xfrm>
          <a:prstGeom prst="rect">
            <a:avLst/>
          </a:prstGeom>
          <a:noFill/>
          <a:ln/>
        </p:spPr>
        <p:txBody>
          <a:bodyPr wrap="square" lIns="0" tIns="0" rIns="0" bIns="0" rtlCol="0" anchor="ctr"/>
          <a:lstStyle/>
          <a:p>
            <a:pPr indent="0" marL="0">
              <a:buNone/>
            </a:pPr>
            <a:r>
              <a:rPr lang="en-US" sz="1350" b="1" dirty="0">
                <a:solidFill>
                  <a:srgbClr val="78350F"/>
                </a:solidFill>
                <a:latin typeface="Calibri" pitchFamily="34" charset="0"/>
                <a:ea typeface="Calibri" pitchFamily="34" charset="-122"/>
                <a:cs typeface="Calibri" pitchFamily="34" charset="-120"/>
              </a:rPr>
              <a:t>Your turn</a:t>
            </a:r>
            <a:endParaRPr lang="en-US" sz="1350" dirty="0"/>
          </a:p>
        </p:txBody>
      </p:sp>
      <p:sp>
        <p:nvSpPr>
          <p:cNvPr id="33" name="Text 25"/>
          <p:cNvSpPr txBox="1"/>
          <p:nvPr/>
        </p:nvSpPr>
        <p:spPr>
          <a:xfrm>
            <a:off x="6089904" y="3630168"/>
            <a:ext cx="2331720" cy="896112"/>
          </a:xfrm>
          <a:prstGeom prst="rect">
            <a:avLst/>
          </a:prstGeom>
          <a:noFill/>
          <a:ln/>
        </p:spPr>
        <p:txBody>
          <a:bodyPr wrap="square" lIns="0" tIns="0" rIns="0" bIns="0" rtlCol="0" anchor="t"/>
          <a:lstStyle/>
          <a:p>
            <a:pPr indent="0" marL="0">
              <a:buNone/>
            </a:pPr>
            <a:r>
              <a:rPr lang="en-US" sz="1050" i="1" dirty="0">
                <a:solidFill>
                  <a:srgbClr val="78350F"/>
                </a:solidFill>
                <a:latin typeface="Calibri" pitchFamily="34" charset="0"/>
                <a:ea typeface="Calibri" pitchFamily="34" charset="-122"/>
                <a:cs typeface="Calibri" pitchFamily="34" charset="-120"/>
              </a:rPr>
              <a:t>What's a script or analysis you avoid because setting it up feels like too much work?</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7C3AED"/>
                </a:solidFill>
                <a:latin typeface="Calibri" pitchFamily="34" charset="0"/>
                <a:ea typeface="Calibri" pitchFamily="34" charset="-122"/>
                <a:cs typeface="Calibri" pitchFamily="34" charset="-120"/>
              </a:rPr>
              <a:t>SYNTHESIS</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Underneath all of it, the same two ideas</a:t>
            </a:r>
            <a:endParaRPr lang="en-US" sz="2800" dirty="0"/>
          </a:p>
        </p:txBody>
      </p:sp>
      <p:sp>
        <p:nvSpPr>
          <p:cNvPr id="4" name="Shape 2"/>
          <p:cNvSpPr/>
          <p:nvPr/>
        </p:nvSpPr>
        <p:spPr>
          <a:xfrm>
            <a:off x="457200" y="1417320"/>
            <a:ext cx="4023360" cy="2880360"/>
          </a:xfrm>
          <a:prstGeom prst="roundRect">
            <a:avLst>
              <a:gd name="adj" fmla="val 3810"/>
            </a:avLst>
          </a:prstGeom>
          <a:solidFill>
            <a:srgbClr val="EFF6FF"/>
          </a:solidFill>
          <a:ln w="12700">
            <a:solidFill>
              <a:srgbClr val="BFDBFE"/>
            </a:solidFill>
            <a:prstDash val="solid"/>
          </a:ln>
        </p:spPr>
      </p:sp>
      <p:sp>
        <p:nvSpPr>
          <p:cNvPr id="5" name="Shape 3"/>
          <p:cNvSpPr/>
          <p:nvPr/>
        </p:nvSpPr>
        <p:spPr>
          <a:xfrm>
            <a:off x="685800" y="1627632"/>
            <a:ext cx="502920" cy="502920"/>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816559" y="1758391"/>
            <a:ext cx="241402" cy="241402"/>
          </a:xfrm>
          <a:prstGeom prst="rect">
            <a:avLst/>
          </a:prstGeom>
        </p:spPr>
      </p:pic>
      <p:sp>
        <p:nvSpPr>
          <p:cNvPr id="7" name="Text 4"/>
          <p:cNvSpPr txBox="1"/>
          <p:nvPr/>
        </p:nvSpPr>
        <p:spPr>
          <a:xfrm>
            <a:off x="685800" y="2286000"/>
            <a:ext cx="3657600" cy="365760"/>
          </a:xfrm>
          <a:prstGeom prst="rect">
            <a:avLst/>
          </a:prstGeom>
          <a:noFill/>
          <a:ln/>
        </p:spPr>
        <p:txBody>
          <a:bodyPr wrap="square" lIns="0" tIns="0" rIns="0" bIns="0" rtlCol="0" anchor="ctr"/>
          <a:lstStyle/>
          <a:p>
            <a:pPr indent="0" marL="0">
              <a:buNone/>
            </a:pPr>
            <a:r>
              <a:rPr lang="en-US" sz="1900" b="1" dirty="0">
                <a:solidFill>
                  <a:srgbClr val="1D4ED8"/>
                </a:solidFill>
                <a:latin typeface="Calibri" pitchFamily="34" charset="0"/>
                <a:ea typeface="Calibri" pitchFamily="34" charset="-122"/>
                <a:cs typeface="Calibri" pitchFamily="34" charset="-120"/>
              </a:rPr>
              <a:t>Grounded answers</a:t>
            </a:r>
            <a:endParaRPr lang="en-US" sz="1900" dirty="0"/>
          </a:p>
        </p:txBody>
      </p:sp>
      <p:sp>
        <p:nvSpPr>
          <p:cNvPr id="8" name="Text 5"/>
          <p:cNvSpPr txBox="1"/>
          <p:nvPr/>
        </p:nvSpPr>
        <p:spPr>
          <a:xfrm>
            <a:off x="685800" y="2633472"/>
            <a:ext cx="3657600" cy="365760"/>
          </a:xfrm>
          <a:prstGeom prst="rect">
            <a:avLst/>
          </a:prstGeom>
          <a:noFill/>
          <a:ln/>
        </p:spPr>
        <p:txBody>
          <a:bodyPr wrap="square" lIns="0" tIns="0" rIns="0" bIns="0" rtlCol="0" anchor="ctr"/>
          <a:lstStyle/>
          <a:p>
            <a:pPr indent="0" marL="0">
              <a:buNone/>
            </a:pPr>
            <a:r>
              <a:rPr lang="en-US" sz="1900" b="1" dirty="0">
                <a:solidFill>
                  <a:srgbClr val="1D4ED8"/>
                </a:solidFill>
                <a:latin typeface="Calibri" pitchFamily="34" charset="0"/>
                <a:ea typeface="Calibri" pitchFamily="34" charset="-122"/>
                <a:cs typeface="Calibri" pitchFamily="34" charset="-120"/>
              </a:rPr>
              <a:t>from your own sources</a:t>
            </a:r>
            <a:endParaRPr lang="en-US" sz="1900" dirty="0"/>
          </a:p>
        </p:txBody>
      </p:sp>
      <p:sp>
        <p:nvSpPr>
          <p:cNvPr id="9" name="Text 6"/>
          <p:cNvSpPr txBox="1"/>
          <p:nvPr/>
        </p:nvSpPr>
        <p:spPr>
          <a:xfrm>
            <a:off x="685800" y="3108960"/>
            <a:ext cx="3657600" cy="1051560"/>
          </a:xfrm>
          <a:prstGeom prst="rect">
            <a:avLst/>
          </a:prstGeom>
          <a:noFill/>
          <a:ln/>
        </p:spPr>
        <p:txBody>
          <a:bodyPr wrap="square" lIns="0" tIns="0" rIns="0" bIns="0" rtlCol="0" anchor="t"/>
          <a:lstStyle/>
          <a:p>
            <a:pPr indent="0" marL="0">
              <a:buNone/>
            </a:pPr>
            <a:r>
              <a:rPr lang="en-US" sz="1300" dirty="0">
                <a:solidFill>
                  <a:srgbClr val="1E3A8A"/>
                </a:solidFill>
                <a:latin typeface="Calibri" pitchFamily="34" charset="0"/>
                <a:ea typeface="Calibri" pitchFamily="34" charset="-122"/>
                <a:cs typeface="Calibri" pitchFamily="34" charset="-120"/>
              </a:rPr>
              <a:t>Onboarding, contracts, meeting prep, literature reviews, support audits, research, all the same move: point the tool at documents that already exist and demand a citation.</a:t>
            </a:r>
            <a:endParaRPr lang="en-US" sz="1300" dirty="0"/>
          </a:p>
        </p:txBody>
      </p:sp>
      <p:sp>
        <p:nvSpPr>
          <p:cNvPr id="10" name="Shape 7"/>
          <p:cNvSpPr/>
          <p:nvPr/>
        </p:nvSpPr>
        <p:spPr>
          <a:xfrm>
            <a:off x="4663440" y="1417320"/>
            <a:ext cx="4023360" cy="2880360"/>
          </a:xfrm>
          <a:prstGeom prst="roundRect">
            <a:avLst>
              <a:gd name="adj" fmla="val 3810"/>
            </a:avLst>
          </a:prstGeom>
          <a:solidFill>
            <a:srgbClr val="ECFDF5"/>
          </a:solidFill>
          <a:ln w="12700">
            <a:solidFill>
              <a:srgbClr val="A7F3D0"/>
            </a:solidFill>
            <a:prstDash val="solid"/>
          </a:ln>
        </p:spPr>
      </p:sp>
      <p:sp>
        <p:nvSpPr>
          <p:cNvPr id="11" name="Shape 8"/>
          <p:cNvSpPr/>
          <p:nvPr/>
        </p:nvSpPr>
        <p:spPr>
          <a:xfrm>
            <a:off x="4892040" y="1627632"/>
            <a:ext cx="502920" cy="502920"/>
          </a:xfrm>
          <a:prstGeom prst="ellipse">
            <a:avLst/>
          </a:prstGeom>
          <a:solidFill>
            <a:srgbClr val="D1FAE5"/>
          </a:solidFill>
          <a:ln w="12700">
            <a:solidFill>
              <a:srgbClr val="D1FAE5"/>
            </a:solidFill>
            <a:prstDash val="solid"/>
          </a:ln>
        </p:spPr>
      </p:sp>
      <p:pic>
        <p:nvPicPr>
          <p:cNvPr id="12" name="Image 1" descr="preencoded.png">    </p:cNvPr>
          <p:cNvPicPr>
            <a:picLocks noChangeAspect="1"/>
          </p:cNvPicPr>
          <p:nvPr/>
        </p:nvPicPr>
        <p:blipFill>
          <a:blip r:embed="rId2"/>
          <a:stretch>
            <a:fillRect/>
          </a:stretch>
        </p:blipFill>
        <p:spPr>
          <a:xfrm>
            <a:off x="5022799" y="1758391"/>
            <a:ext cx="241402" cy="241402"/>
          </a:xfrm>
          <a:prstGeom prst="rect">
            <a:avLst/>
          </a:prstGeom>
        </p:spPr>
      </p:pic>
      <p:sp>
        <p:nvSpPr>
          <p:cNvPr id="13" name="Text 9"/>
          <p:cNvSpPr txBox="1"/>
          <p:nvPr/>
        </p:nvSpPr>
        <p:spPr>
          <a:xfrm>
            <a:off x="4892040" y="2286000"/>
            <a:ext cx="3657600" cy="365760"/>
          </a:xfrm>
          <a:prstGeom prst="rect">
            <a:avLst/>
          </a:prstGeom>
          <a:noFill/>
          <a:ln/>
        </p:spPr>
        <p:txBody>
          <a:bodyPr wrap="square" lIns="0" tIns="0" rIns="0" bIns="0" rtlCol="0" anchor="ctr"/>
          <a:lstStyle/>
          <a:p>
            <a:pPr indent="0" marL="0">
              <a:buNone/>
            </a:pPr>
            <a:r>
              <a:rPr lang="en-US" sz="1900" b="1" dirty="0">
                <a:solidFill>
                  <a:srgbClr val="166534"/>
                </a:solidFill>
                <a:latin typeface="Calibri" pitchFamily="34" charset="0"/>
                <a:ea typeface="Calibri" pitchFamily="34" charset="-122"/>
                <a:cs typeface="Calibri" pitchFamily="34" charset="-120"/>
              </a:rPr>
              <a:t>Disposable compute</a:t>
            </a:r>
            <a:endParaRPr lang="en-US" sz="1900" dirty="0"/>
          </a:p>
        </p:txBody>
      </p:sp>
      <p:sp>
        <p:nvSpPr>
          <p:cNvPr id="14" name="Text 10"/>
          <p:cNvSpPr txBox="1"/>
          <p:nvPr/>
        </p:nvSpPr>
        <p:spPr>
          <a:xfrm>
            <a:off x="4892040" y="2633472"/>
            <a:ext cx="3657600" cy="365760"/>
          </a:xfrm>
          <a:prstGeom prst="rect">
            <a:avLst/>
          </a:prstGeom>
          <a:noFill/>
          <a:ln/>
        </p:spPr>
        <p:txBody>
          <a:bodyPr wrap="square" lIns="0" tIns="0" rIns="0" bIns="0" rtlCol="0" anchor="ctr"/>
          <a:lstStyle/>
          <a:p>
            <a:pPr indent="0" marL="0">
              <a:buNone/>
            </a:pPr>
            <a:r>
              <a:rPr lang="en-US" sz="1900" b="1" dirty="0">
                <a:solidFill>
                  <a:srgbClr val="166534"/>
                </a:solidFill>
                <a:latin typeface="Calibri" pitchFamily="34" charset="0"/>
                <a:ea typeface="Calibri" pitchFamily="34" charset="-122"/>
                <a:cs typeface="Calibri" pitchFamily="34" charset="-120"/>
              </a:rPr>
              <a:t>you don't have to own</a:t>
            </a:r>
            <a:endParaRPr lang="en-US" sz="1900" dirty="0"/>
          </a:p>
        </p:txBody>
      </p:sp>
      <p:sp>
        <p:nvSpPr>
          <p:cNvPr id="15" name="Text 11"/>
          <p:cNvSpPr txBox="1"/>
          <p:nvPr/>
        </p:nvSpPr>
        <p:spPr>
          <a:xfrm>
            <a:off x="4892040" y="3108960"/>
            <a:ext cx="3657600" cy="1051560"/>
          </a:xfrm>
          <a:prstGeom prst="rect">
            <a:avLst/>
          </a:prstGeom>
          <a:noFill/>
          <a:ln/>
        </p:spPr>
        <p:txBody>
          <a:bodyPr wrap="square" lIns="0" tIns="0" rIns="0" bIns="0" rtlCol="0" anchor="t"/>
          <a:lstStyle/>
          <a:p>
            <a:pPr indent="0" marL="0">
              <a:buNone/>
            </a:pPr>
            <a:r>
              <a:rPr lang="en-US" sz="1300" dirty="0">
                <a:solidFill>
                  <a:srgbClr val="14532D"/>
                </a:solidFill>
                <a:latin typeface="Calibri" pitchFamily="34" charset="0"/>
                <a:ea typeface="Calibri" pitchFamily="34" charset="-122"/>
                <a:cs typeface="Calibri" pitchFamily="34" charset="-120"/>
              </a:rPr>
              <a:t>Cleaning data, prototyping, teaching, automation, debugging together, all the same move: spin up a machine for as long as the task needs, then let it go.</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200" b="1" spc="300" kern="0" dirty="0">
                <a:solidFill>
                  <a:srgbClr val="C4B5FD"/>
                </a:solidFill>
                <a:latin typeface="Calibri" pitchFamily="34" charset="0"/>
                <a:ea typeface="Calibri" pitchFamily="34" charset="-122"/>
                <a:cs typeface="Calibri" pitchFamily="34" charset="-120"/>
              </a:rPr>
              <a:t>YOUR TURN  •  5 MINUTES</a:t>
            </a:r>
            <a:endParaRPr lang="en-US" sz="1200" dirty="0"/>
          </a:p>
        </p:txBody>
      </p:sp>
      <p:sp>
        <p:nvSpPr>
          <p:cNvPr id="3" name="Text 1"/>
          <p:cNvSpPr txBox="1"/>
          <p:nvPr/>
        </p:nvSpPr>
        <p:spPr>
          <a:xfrm>
            <a:off x="457200" y="731520"/>
            <a:ext cx="822960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Bring back that task from the start</a:t>
            </a:r>
            <a:endParaRPr lang="en-US" sz="3200" dirty="0"/>
          </a:p>
        </p:txBody>
      </p:sp>
      <p:sp>
        <p:nvSpPr>
          <p:cNvPr id="4" name="Shape 2"/>
          <p:cNvSpPr/>
          <p:nvPr/>
        </p:nvSpPr>
        <p:spPr>
          <a:xfrm>
            <a:off x="457200" y="1691640"/>
            <a:ext cx="8229600" cy="713232"/>
          </a:xfrm>
          <a:prstGeom prst="roundRect">
            <a:avLst>
              <a:gd name="adj" fmla="val 15385"/>
            </a:avLst>
          </a:prstGeom>
          <a:solidFill>
            <a:srgbClr val="1E293B"/>
          </a:solidFill>
          <a:ln w="12700">
            <a:solidFill>
              <a:srgbClr val="1E293B"/>
            </a:solidFill>
            <a:prstDash val="solid"/>
          </a:ln>
        </p:spPr>
      </p:sp>
      <p:sp>
        <p:nvSpPr>
          <p:cNvPr id="5" name="Shape 3"/>
          <p:cNvSpPr/>
          <p:nvPr/>
        </p:nvSpPr>
        <p:spPr>
          <a:xfrm>
            <a:off x="658368" y="1828800"/>
            <a:ext cx="438912" cy="438912"/>
          </a:xfrm>
          <a:prstGeom prst="ellipse">
            <a:avLst/>
          </a:prstGeom>
          <a:solidFill>
            <a:srgbClr val="38BDF8"/>
          </a:solidFill>
          <a:ln w="12700">
            <a:solidFill>
              <a:srgbClr val="38BDF8"/>
            </a:solidFill>
            <a:prstDash val="solid"/>
          </a:ln>
        </p:spPr>
      </p:sp>
      <p:sp>
        <p:nvSpPr>
          <p:cNvPr id="6" name="Text 4"/>
          <p:cNvSpPr txBox="1"/>
          <p:nvPr/>
        </p:nvSpPr>
        <p:spPr>
          <a:xfrm>
            <a:off x="658368" y="1828800"/>
            <a:ext cx="438912" cy="438912"/>
          </a:xfrm>
          <a:prstGeom prst="rect">
            <a:avLst/>
          </a:prstGeom>
          <a:noFill/>
          <a:ln/>
        </p:spPr>
        <p:txBody>
          <a:bodyPr wrap="square" lIns="0" tIns="0" rIns="0" bIns="0" rtlCol="0" anchor="ctr"/>
          <a:lstStyle/>
          <a:p>
            <a:pPr algn="ctr" indent="0" marL="0">
              <a:buNone/>
            </a:pPr>
            <a:r>
              <a:rPr lang="en-US" sz="1700" b="1" dirty="0">
                <a:solidFill>
                  <a:srgbClr val="0F172A"/>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353312" y="1691640"/>
            <a:ext cx="7132320" cy="713232"/>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Which tool fits it: grounded answers, disposable compute, or neither?</a:t>
            </a:r>
            <a:endParaRPr lang="en-US" sz="1650" dirty="0"/>
          </a:p>
        </p:txBody>
      </p:sp>
      <p:sp>
        <p:nvSpPr>
          <p:cNvPr id="8" name="Shape 6"/>
          <p:cNvSpPr/>
          <p:nvPr/>
        </p:nvSpPr>
        <p:spPr>
          <a:xfrm>
            <a:off x="457200" y="2514600"/>
            <a:ext cx="8229600" cy="713232"/>
          </a:xfrm>
          <a:prstGeom prst="roundRect">
            <a:avLst>
              <a:gd name="adj" fmla="val 15385"/>
            </a:avLst>
          </a:prstGeom>
          <a:solidFill>
            <a:srgbClr val="1E293B"/>
          </a:solidFill>
          <a:ln w="12700">
            <a:solidFill>
              <a:srgbClr val="1E293B"/>
            </a:solidFill>
            <a:prstDash val="solid"/>
          </a:ln>
        </p:spPr>
      </p:sp>
      <p:sp>
        <p:nvSpPr>
          <p:cNvPr id="9" name="Shape 7"/>
          <p:cNvSpPr/>
          <p:nvPr/>
        </p:nvSpPr>
        <p:spPr>
          <a:xfrm>
            <a:off x="658368" y="2651760"/>
            <a:ext cx="438912" cy="438912"/>
          </a:xfrm>
          <a:prstGeom prst="ellipse">
            <a:avLst/>
          </a:prstGeom>
          <a:solidFill>
            <a:srgbClr val="34D399"/>
          </a:solidFill>
          <a:ln w="12700">
            <a:solidFill>
              <a:srgbClr val="34D399"/>
            </a:solidFill>
            <a:prstDash val="solid"/>
          </a:ln>
        </p:spPr>
      </p:sp>
      <p:sp>
        <p:nvSpPr>
          <p:cNvPr id="10" name="Text 8"/>
          <p:cNvSpPr txBox="1"/>
          <p:nvPr/>
        </p:nvSpPr>
        <p:spPr>
          <a:xfrm>
            <a:off x="658368" y="2651760"/>
            <a:ext cx="438912" cy="438912"/>
          </a:xfrm>
          <a:prstGeom prst="rect">
            <a:avLst/>
          </a:prstGeom>
          <a:noFill/>
          <a:ln/>
        </p:spPr>
        <p:txBody>
          <a:bodyPr wrap="square" lIns="0" tIns="0" rIns="0" bIns="0" rtlCol="0" anchor="ctr"/>
          <a:lstStyle/>
          <a:p>
            <a:pPr algn="ctr" indent="0" marL="0">
              <a:buNone/>
            </a:pPr>
            <a:r>
              <a:rPr lang="en-US" sz="1700" b="1" dirty="0">
                <a:solidFill>
                  <a:srgbClr val="0F172A"/>
                </a:solidFill>
                <a:latin typeface="Calibri" pitchFamily="34" charset="0"/>
                <a:ea typeface="Calibri" pitchFamily="34" charset="-122"/>
                <a:cs typeface="Calibri" pitchFamily="34" charset="-120"/>
              </a:rPr>
              <a:t>2</a:t>
            </a:r>
            <a:endParaRPr lang="en-US" sz="1700" dirty="0"/>
          </a:p>
        </p:txBody>
      </p:sp>
      <p:sp>
        <p:nvSpPr>
          <p:cNvPr id="11" name="Text 9"/>
          <p:cNvSpPr txBox="1"/>
          <p:nvPr/>
        </p:nvSpPr>
        <p:spPr>
          <a:xfrm>
            <a:off x="1353312" y="2514600"/>
            <a:ext cx="7132320" cy="713232"/>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What's the one document or dataset you'd load in first?</a:t>
            </a:r>
            <a:endParaRPr lang="en-US" sz="1650" dirty="0"/>
          </a:p>
        </p:txBody>
      </p:sp>
      <p:sp>
        <p:nvSpPr>
          <p:cNvPr id="12" name="Shape 10"/>
          <p:cNvSpPr/>
          <p:nvPr/>
        </p:nvSpPr>
        <p:spPr>
          <a:xfrm>
            <a:off x="457200" y="3337560"/>
            <a:ext cx="8229600" cy="713232"/>
          </a:xfrm>
          <a:prstGeom prst="roundRect">
            <a:avLst>
              <a:gd name="adj" fmla="val 15385"/>
            </a:avLst>
          </a:prstGeom>
          <a:solidFill>
            <a:srgbClr val="1E293B"/>
          </a:solidFill>
          <a:ln w="12700">
            <a:solidFill>
              <a:srgbClr val="1E293B"/>
            </a:solidFill>
            <a:prstDash val="solid"/>
          </a:ln>
        </p:spPr>
      </p:sp>
      <p:sp>
        <p:nvSpPr>
          <p:cNvPr id="13" name="Shape 11"/>
          <p:cNvSpPr/>
          <p:nvPr/>
        </p:nvSpPr>
        <p:spPr>
          <a:xfrm>
            <a:off x="658368" y="3474720"/>
            <a:ext cx="438912" cy="438912"/>
          </a:xfrm>
          <a:prstGeom prst="ellipse">
            <a:avLst/>
          </a:prstGeom>
          <a:solidFill>
            <a:srgbClr val="FBBF24"/>
          </a:solidFill>
          <a:ln w="12700">
            <a:solidFill>
              <a:srgbClr val="FBBF24"/>
            </a:solidFill>
            <a:prstDash val="solid"/>
          </a:ln>
        </p:spPr>
      </p:sp>
      <p:sp>
        <p:nvSpPr>
          <p:cNvPr id="14" name="Text 12"/>
          <p:cNvSpPr txBox="1"/>
          <p:nvPr/>
        </p:nvSpPr>
        <p:spPr>
          <a:xfrm>
            <a:off x="658368" y="3474720"/>
            <a:ext cx="438912" cy="438912"/>
          </a:xfrm>
          <a:prstGeom prst="rect">
            <a:avLst/>
          </a:prstGeom>
          <a:noFill/>
          <a:ln/>
        </p:spPr>
        <p:txBody>
          <a:bodyPr wrap="square" lIns="0" tIns="0" rIns="0" bIns="0" rtlCol="0" anchor="ctr"/>
          <a:lstStyle/>
          <a:p>
            <a:pPr algn="ctr" indent="0" marL="0">
              <a:buNone/>
            </a:pPr>
            <a:r>
              <a:rPr lang="en-US" sz="1700" b="1" dirty="0">
                <a:solidFill>
                  <a:srgbClr val="0F172A"/>
                </a:solidFill>
                <a:latin typeface="Calibri" pitchFamily="34" charset="0"/>
                <a:ea typeface="Calibri" pitchFamily="34" charset="-122"/>
                <a:cs typeface="Calibri" pitchFamily="34" charset="-120"/>
              </a:rPr>
              <a:t>3</a:t>
            </a:r>
            <a:endParaRPr lang="en-US" sz="1700" dirty="0"/>
          </a:p>
        </p:txBody>
      </p:sp>
      <p:sp>
        <p:nvSpPr>
          <p:cNvPr id="15" name="Text 13"/>
          <p:cNvSpPr txBox="1"/>
          <p:nvPr/>
        </p:nvSpPr>
        <p:spPr>
          <a:xfrm>
            <a:off x="1353312" y="3337560"/>
            <a:ext cx="7132320" cy="713232"/>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How would you check the answer before you trusted it?</a:t>
            </a:r>
            <a:endParaRPr lang="en-US" sz="1650" dirty="0"/>
          </a:p>
        </p:txBody>
      </p:sp>
      <p:sp>
        <p:nvSpPr>
          <p:cNvPr id="16" name="Shape 14"/>
          <p:cNvSpPr/>
          <p:nvPr/>
        </p:nvSpPr>
        <p:spPr>
          <a:xfrm>
            <a:off x="457200" y="4251960"/>
            <a:ext cx="8229600" cy="548640"/>
          </a:xfrm>
          <a:prstGeom prst="roundRect">
            <a:avLst>
              <a:gd name="adj" fmla="val 20000"/>
            </a:avLst>
          </a:prstGeom>
          <a:solidFill>
            <a:srgbClr val="1E293B"/>
          </a:solidFill>
          <a:ln w="12700">
            <a:solidFill>
              <a:srgbClr val="1E293B"/>
            </a:solidFill>
            <a:prstDash val="solid"/>
          </a:ln>
        </p:spPr>
      </p:sp>
      <p:sp>
        <p:nvSpPr>
          <p:cNvPr id="17" name="Text 15"/>
          <p:cNvSpPr txBox="1"/>
          <p:nvPr/>
        </p:nvSpPr>
        <p:spPr>
          <a:xfrm>
            <a:off x="640080" y="4251960"/>
            <a:ext cx="7863840" cy="548640"/>
          </a:xfrm>
          <a:prstGeom prst="rect">
            <a:avLst/>
          </a:prstGeom>
          <a:noFill/>
          <a:ln/>
        </p:spPr>
        <p:txBody>
          <a:bodyPr wrap="square" lIns="0" tIns="0" rIns="0" bIns="0" rtlCol="0" anchor="ctr"/>
          <a:lstStyle/>
          <a:p>
            <a:pPr indent="0" marL="0">
              <a:buNone/>
            </a:pPr>
            <a:r>
              <a:rPr lang="en-US" sz="1350" i="1" dirty="0">
                <a:solidFill>
                  <a:srgbClr val="CBD5E1"/>
                </a:solidFill>
                <a:latin typeface="Calibri" pitchFamily="34" charset="0"/>
                <a:ea typeface="Calibri" pitchFamily="34" charset="-122"/>
                <a:cs typeface="Calibri" pitchFamily="34" charset="-120"/>
              </a:rPr>
              <a:t>Turn to the person next to you for 2 minutes, then we'll hear a few out loud.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Today's Demo: Real-Life Uses</dc:title>
  <dc:subject>PptxGenJS Presentation</dc:subject>
  <dc:creator>PptxGenJS</dc:creator>
  <cp:lastModifiedBy>PptxGenJS</cp:lastModifiedBy>
  <cp:revision>1</cp:revision>
  <dcterms:created xsi:type="dcterms:W3CDTF">2026-09-22T01:11:31Z</dcterms:created>
  <dcterms:modified xsi:type="dcterms:W3CDTF">2026-09-22T01:11:31Z</dcterms:modified>
</cp:coreProperties>
</file>