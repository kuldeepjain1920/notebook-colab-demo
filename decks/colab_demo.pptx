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15:00 (about 30 seconds)
SAY: In the notebook, we found the top ten SWE-bench Verified scores and checked them against the report. Now let's turn those numbers into a chart, and see what it takes to run code without installing anything locally.
SETUP CHECK: Colab tab open, T4 runtime already connected, Cells 1 and 2 already run so df is loaded (see slide notes for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15:00 to 18:00
LIVE: Run Cell 1 (architecture check). Point at the Linux distro, core count and RAM, none of which come from the presenter's laptop.
SAY: Runs in the cloud, browser as the interface, not 'executes entirely in your browser.' That distinction matters because it's why the files disappear when the session ends, which is why we mount Drive next.
CAUTION: Don't say 'full Jupyter stack runs in your browser' — it runs on the remote VM.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18:00 to 21:00
LIVE: Runtime &gt; Change runtime type &gt; T4 GPU. Run the GPU timing cell. Point at the printed CPU vs GPU time and the speedup line.
SAY: Not a promise of instant GPU access, it's 'subject to availability' on every tier. This run happened to get a Tesla T4 and a 64x speedup on a basic matrix multiply.
SAY (code gen): Click an empty cell, click 'generate,' type what you want, press Enter. That's it, no Ctrl+Space shortcut.
ACTUAL NUMBERS: CUDA available: True; GPU: Tesla T4; CPU 2.5324s; GPU 0.0394s; 64.2x speedup.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21:00 to 24:00
LIVE: Run Cell 2. Show the Drive permission popup (pre-authorized already, so this should be instant). Show df.head() with the 10 rows.
SAY: Mounting gives this running session access to Drive. It's different from saving the notebook file, which we'll cover in a minute. This CSV is the exact table we cited from the report a few minutes ago.
BACKUP: If Drive is slow, the fallback dataset (California housing) loads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24:00 to 26:00
LIVE: In an empty cell, click 'generate,' paste the base plot prompt (horizontal bar chart of score_pct by model, zero-based axis, gap annotation). Run it, show the chart. Then run the ties/color variation prompt shown on this slide and show that chart instead, or alongside.
SAY: Same idea as the citations we clicked in the notebook: check what a chart actually shows. Four of the ten are exact ties, two more are tied, and the top four span just 1.2 points.
CAUTION: Gemini's generated code can vary run to run. If it produces something off, use the fallback matplotlib cell (see backup slide) rather than debugging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26:00 to 27:00
LIVE: Run the planted-typo cell, let it fail, click Explain Error under the output.
SAY: In the notebook half, every claim pointed to a passage in a source. Here, 'Explain Error' is different: it's the tool explaining its own mistake, which is useful, but it's not evidence about anything outside this cell. Good for debugging, not for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27:00 to 28:00
LIVE: Open the File menu, point at Save a copy in Drive and Locate in Drive. Mention the Share button was tested and works, without actually sharing on stage.
SAY: Two different things: mounting Drive lets THIS running session read your files, like the CSV we loaded. Saving or downloading is about the notebook FILE itself, code, markdown and outputs. Keep a local .ipynb download as backup before any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28:00 to 29:00
LIVE: Open colab.research.google.com pricing info (open beforehand). As of this deck's last check: Free $0 (~90 min idle timeout, 12-hour max session); Pro $9.99 (100 compute units/month); Pro+ $49.99 (500 compute units/month, background execution). RECHECK THESE NUMBERS THE DAY OF.
SAY: I'd rather read current numbers than put stale ones on a slide. Free covers everything we did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29:00 to 29:30
SAY: When our own chatbot baseline ran earlier, it didn't invent our policy. It said plainly that it couldn't see our playbook. That's a point in its favor, not against it: the real gap isn't recklessness, it's that it has no access to sources you haven't given it. Pick Notebook when the answer has to trace back to a document, Colab when you need to compute or visualize something, and a general chatbot for open-ended help where private grounding doesn't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29:30 to 30:00
SAY: Connect the runtime before you need it, check generated code before trusting it, and verify a chart's axis. Same spirit as this morning: click the citation, check the chart.
CLOSE: Both tools have a free tier that covers everything shown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CHEAT SHEET (not for the audience).
GPU numbers and the ties chart are from the actual dry run. Recheck compute-tier prices and timeouts the day of, since they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colab.research.google.com" TargetMode="External"/><Relationship Id="rId1" Type="http://schemas.openxmlformats.org/officeDocument/2006/relationships/image" Target="../media/image-8-1.png"/><Relationship Id="rId3" Type="http://schemas.openxmlformats.org/officeDocument/2006/relationships/image" Target="../media/image-8-2.png"/><Relationship Id="rId4" Type="http://schemas.openxmlformats.org/officeDocument/2006/relationships/image" Target="../media/image-8-3.png"/><Relationship Id="rId5" Type="http://schemas.openxmlformats.org/officeDocument/2006/relationships/image" Target="../media/image-8-4.png"/><Relationship Id="rId6" Type="http://schemas.openxmlformats.org/officeDocument/2006/relationships/image" Target="../media/image-8-5.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74320"/>
          </a:xfrm>
          <a:prstGeom prst="rect">
            <a:avLst/>
          </a:prstGeom>
          <a:noFill/>
          <a:ln/>
        </p:spPr>
        <p:txBody>
          <a:bodyPr wrap="square" lIns="0" tIns="0" rIns="0" bIns="0" rtlCol="0" anchor="ctr"/>
          <a:lstStyle/>
          <a:p>
            <a:pPr indent="0" marL="0">
              <a:buNone/>
            </a:pPr>
            <a:r>
              <a:rPr lang="en-US" sz="1200" b="1" spc="300" kern="0" dirty="0">
                <a:solidFill>
                  <a:srgbClr val="6EE7B7"/>
                </a:solidFill>
                <a:latin typeface="Calibri" pitchFamily="34" charset="0"/>
                <a:ea typeface="Calibri" pitchFamily="34" charset="-122"/>
                <a:cs typeface="Calibri" pitchFamily="34" charset="-120"/>
              </a:rPr>
              <a:t>GOOGLE COLAB LIVE DEMO  •  15 MINUTES</a:t>
            </a:r>
            <a:endParaRPr lang="en-US" sz="1200" dirty="0"/>
          </a:p>
        </p:txBody>
      </p:sp>
      <p:sp>
        <p:nvSpPr>
          <p:cNvPr id="3" name="Text 1"/>
          <p:cNvSpPr txBox="1"/>
          <p:nvPr/>
        </p:nvSpPr>
        <p:spPr>
          <a:xfrm>
            <a:off x="457200" y="1371600"/>
            <a:ext cx="8229600" cy="91440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From reading to running</a:t>
            </a:r>
            <a:endParaRPr lang="en-US" sz="4800" dirty="0"/>
          </a:p>
        </p:txBody>
      </p:sp>
      <p:sp>
        <p:nvSpPr>
          <p:cNvPr id="4" name="Text 2"/>
          <p:cNvSpPr txBox="1"/>
          <p:nvPr/>
        </p:nvSpPr>
        <p:spPr>
          <a:xfrm>
            <a:off x="457200" y="2286000"/>
            <a:ext cx="8229600" cy="457200"/>
          </a:xfrm>
          <a:prstGeom prst="rect">
            <a:avLst/>
          </a:prstGeom>
          <a:noFill/>
          <a:ln/>
        </p:spPr>
        <p:txBody>
          <a:bodyPr wrap="square" lIns="0" tIns="0" rIns="0" bIns="0" rtlCol="0" anchor="ctr"/>
          <a:lstStyle/>
          <a:p>
            <a:pPr indent="0" marL="0">
              <a:buNone/>
            </a:pPr>
            <a:r>
              <a:rPr lang="en-US" sz="2200" dirty="0">
                <a:solidFill>
                  <a:srgbClr val="CBD5E1"/>
                </a:solidFill>
                <a:latin typeface="Calibri" pitchFamily="34" charset="0"/>
                <a:ea typeface="Calibri" pitchFamily="34" charset="-122"/>
                <a:cs typeface="Calibri" pitchFamily="34" charset="-120"/>
              </a:rPr>
              <a:t>Cloud Python, zero setup</a:t>
            </a:r>
            <a:endParaRPr lang="en-US" sz="2200" dirty="0"/>
          </a:p>
        </p:txBody>
      </p:sp>
      <p:sp>
        <p:nvSpPr>
          <p:cNvPr id="5" name="Shape 3"/>
          <p:cNvSpPr/>
          <p:nvPr/>
        </p:nvSpPr>
        <p:spPr>
          <a:xfrm>
            <a:off x="457200" y="3063240"/>
            <a:ext cx="8229600" cy="868680"/>
          </a:xfrm>
          <a:prstGeom prst="roundRect">
            <a:avLst>
              <a:gd name="adj" fmla="val 12632"/>
            </a:avLst>
          </a:prstGeom>
          <a:solidFill>
            <a:srgbClr val="1E293B"/>
          </a:solidFill>
          <a:ln w="12700">
            <a:solidFill>
              <a:srgbClr val="1E293B"/>
            </a:solidFill>
            <a:prstDash val="solid"/>
          </a:ln>
        </p:spPr>
      </p:sp>
      <p:sp>
        <p:nvSpPr>
          <p:cNvPr id="6" name="Text 4"/>
          <p:cNvSpPr txBox="1"/>
          <p:nvPr/>
        </p:nvSpPr>
        <p:spPr>
          <a:xfrm>
            <a:off x="685800" y="3063240"/>
            <a:ext cx="7772400" cy="868680"/>
          </a:xfrm>
          <a:prstGeom prst="rect">
            <a:avLst/>
          </a:prstGeom>
          <a:noFill/>
          <a:ln/>
        </p:spPr>
        <p:txBody>
          <a:bodyPr wrap="square" lIns="0" tIns="0" rIns="0" bIns="0"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THE HANDOFF   </a:t>
            </a:r>
            <a:endParaRPr lang="en-US" sz="1100" dirty="0"/>
          </a:p>
          <a:p>
            <a:pPr indent="0" marL="0">
              <a:buNone/>
            </a:pPr>
            <a:r>
              <a:rPr lang="en-US" sz="1400" dirty="0">
                <a:solidFill>
                  <a:srgbClr val="E2E8F0"/>
                </a:solidFill>
                <a:latin typeface="Calibri" pitchFamily="34" charset="0"/>
                <a:ea typeface="Calibri" pitchFamily="34" charset="-122"/>
                <a:cs typeface="Calibri" pitchFamily="34" charset="-120"/>
              </a:rPr>
              <a:t>The numbers we just verified in the notebook (top-10 SWE-bench Verified scores, AI Index p. 101) become a chart here.</a:t>
            </a:r>
            <a:endParaRPr lang="en-US" sz="1100" dirty="0"/>
          </a:p>
        </p:txBody>
      </p:sp>
      <p:sp>
        <p:nvSpPr>
          <p:cNvPr id="7" name="Text 5"/>
          <p:cNvSpPr txBox="1"/>
          <p:nvPr/>
        </p:nvSpPr>
        <p:spPr>
          <a:xfrm>
            <a:off x="457200" y="4206240"/>
            <a:ext cx="8229600" cy="640080"/>
          </a:xfrm>
          <a:prstGeom prst="rect">
            <a:avLst/>
          </a:prstGeom>
          <a:noFill/>
          <a:ln/>
        </p:spPr>
        <p:txBody>
          <a:bodyPr wrap="square" lIns="0" tIns="0" rIns="0" bIns="0" rtlCol="0" anchor="t"/>
          <a:lstStyle/>
          <a:p>
            <a:pPr indent="0" marL="0">
              <a:buNone/>
            </a:pPr>
            <a:r>
              <a:rPr lang="en-US" sz="1200" dirty="0">
                <a:solidFill>
                  <a:srgbClr val="94A3B8"/>
                </a:solidFill>
                <a:latin typeface="Calibri" pitchFamily="34" charset="0"/>
                <a:ea typeface="Calibri" pitchFamily="34" charset="-122"/>
                <a:cs typeface="Calibri" pitchFamily="34" charset="-120"/>
              </a:rPr>
              <a:t>Session 2 (15:00 – 30:00)</a:t>
            </a:r>
            <a:endParaRPr lang="en-US" sz="1200" dirty="0"/>
          </a:p>
          <a:p>
            <a:pPr indent="0" marL="0">
              <a:buNone/>
            </a:pPr>
            <a:r>
              <a:rPr lang="en-US" sz="1500" b="1" dirty="0">
                <a:solidFill>
                  <a:srgbClr val="FFFFFF"/>
                </a:solidFill>
                <a:latin typeface="Calibri" pitchFamily="34" charset="0"/>
                <a:ea typeface="Calibri" pitchFamily="34" charset="-122"/>
                <a:cs typeface="Calibri" pitchFamily="34" charset="-120"/>
              </a:rPr>
              <a:t>Cloud compute, code from prompts, and quick sanity checks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200" kern="0" dirty="0">
                <a:solidFill>
                  <a:srgbClr val="059669"/>
                </a:solidFill>
                <a:latin typeface="Calibri" pitchFamily="34" charset="0"/>
                <a:ea typeface="Calibri" pitchFamily="34" charset="-122"/>
                <a:cs typeface="Calibri" pitchFamily="34" charset="-120"/>
              </a:rPr>
              <a:t>SESSION 2: WHY COLAB (15:00 – 18:00)</a:t>
            </a:r>
            <a:endParaRPr lang="en-US" sz="1100" dirty="0"/>
          </a:p>
        </p:txBody>
      </p:sp>
      <p:sp>
        <p:nvSpPr>
          <p:cNvPr id="3" name="Text 1"/>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The problem, and the fix</a:t>
            </a:r>
            <a:endParaRPr lang="en-US" sz="2800" dirty="0"/>
          </a:p>
        </p:txBody>
      </p:sp>
      <p:sp>
        <p:nvSpPr>
          <p:cNvPr id="4" name="Shape 2"/>
          <p:cNvSpPr/>
          <p:nvPr/>
        </p:nvSpPr>
        <p:spPr>
          <a:xfrm>
            <a:off x="457200" y="1325880"/>
            <a:ext cx="4023360" cy="3017520"/>
          </a:xfrm>
          <a:prstGeom prst="roundRect">
            <a:avLst>
              <a:gd name="adj" fmla="val 3636"/>
            </a:avLst>
          </a:prstGeom>
          <a:solidFill>
            <a:srgbClr val="FEF2F2"/>
          </a:solidFill>
          <a:ln w="12700">
            <a:solidFill>
              <a:srgbClr val="FECACA"/>
            </a:solidFill>
            <a:prstDash val="solid"/>
          </a:ln>
        </p:spPr>
      </p:sp>
      <p:sp>
        <p:nvSpPr>
          <p:cNvPr id="5" name="Shape 3"/>
          <p:cNvSpPr/>
          <p:nvPr/>
        </p:nvSpPr>
        <p:spPr>
          <a:xfrm>
            <a:off x="640080" y="1463040"/>
            <a:ext cx="411480" cy="411480"/>
          </a:xfrm>
          <a:prstGeom prst="ellipse">
            <a:avLst/>
          </a:prstGeom>
          <a:solidFill>
            <a:srgbClr val="FEE2E2"/>
          </a:solidFill>
          <a:ln w="12700">
            <a:solidFill>
              <a:srgbClr val="FEE2E2"/>
            </a:solidFill>
            <a:prstDash val="solid"/>
          </a:ln>
        </p:spPr>
      </p:sp>
      <p:pic>
        <p:nvPicPr>
          <p:cNvPr id="6" name="Image 0" descr="preencoded.png">    </p:cNvPr>
          <p:cNvPicPr>
            <a:picLocks noChangeAspect="1"/>
          </p:cNvPicPr>
          <p:nvPr/>
        </p:nvPicPr>
        <p:blipFill>
          <a:blip r:embed="rId1"/>
          <a:stretch>
            <a:fillRect/>
          </a:stretch>
        </p:blipFill>
        <p:spPr>
          <a:xfrm>
            <a:off x="747065" y="1570025"/>
            <a:ext cx="197510" cy="197510"/>
          </a:xfrm>
          <a:prstGeom prst="rect">
            <a:avLst/>
          </a:prstGeom>
        </p:spPr>
      </p:pic>
      <p:sp>
        <p:nvSpPr>
          <p:cNvPr id="7" name="Text 4"/>
          <p:cNvSpPr txBox="1"/>
          <p:nvPr/>
        </p:nvSpPr>
        <p:spPr>
          <a:xfrm>
            <a:off x="1161288" y="1463040"/>
            <a:ext cx="3108960" cy="411480"/>
          </a:xfrm>
          <a:prstGeom prst="rect">
            <a:avLst/>
          </a:prstGeom>
          <a:noFill/>
          <a:ln/>
        </p:spPr>
        <p:txBody>
          <a:bodyPr wrap="square" lIns="0" tIns="0" rIns="0" bIns="0" rtlCol="0" anchor="ctr"/>
          <a:lstStyle/>
          <a:p>
            <a:pPr indent="0" marL="0">
              <a:buNone/>
            </a:pPr>
            <a:r>
              <a:rPr lang="en-US" sz="1800" b="1" dirty="0">
                <a:solidFill>
                  <a:srgbClr val="991B1B"/>
                </a:solidFill>
                <a:latin typeface="Calibri" pitchFamily="34" charset="0"/>
                <a:ea typeface="Calibri" pitchFamily="34" charset="-122"/>
                <a:cs typeface="Calibri" pitchFamily="34" charset="-120"/>
              </a:rPr>
              <a:t>Local setup pain</a:t>
            </a:r>
            <a:endParaRPr lang="en-US" sz="1800" dirty="0"/>
          </a:p>
        </p:txBody>
      </p:sp>
      <p:sp>
        <p:nvSpPr>
          <p:cNvPr id="8" name="Text 5"/>
          <p:cNvSpPr txBox="1"/>
          <p:nvPr/>
        </p:nvSpPr>
        <p:spPr>
          <a:xfrm>
            <a:off x="640080" y="2103120"/>
            <a:ext cx="3657600" cy="2103120"/>
          </a:xfrm>
          <a:prstGeom prst="rect">
            <a:avLst/>
          </a:prstGeom>
          <a:noFill/>
          <a:ln/>
        </p:spPr>
        <p:txBody>
          <a:bodyPr wrap="square" lIns="0" tIns="0" rIns="0" bIns="0" rtlCol="0" anchor="t"/>
          <a:lstStyle/>
          <a:p>
            <a:pPr marL="203200" indent="-203200">
              <a:spcAft>
                <a:spcPts val="1200"/>
              </a:spcAft>
              <a:buSzPct val="100000"/>
              <a:buChar char="•"/>
            </a:pPr>
            <a:r>
              <a:rPr lang="en-US" sz="1450" dirty="0">
                <a:solidFill>
                  <a:srgbClr val="7F1D1D"/>
                </a:solidFill>
                <a:latin typeface="Calibri" pitchFamily="34" charset="0"/>
                <a:ea typeface="Calibri" pitchFamily="34" charset="-122"/>
                <a:cs typeface="Calibri" pitchFamily="34" charset="-120"/>
              </a:rPr>
              <a:t>“Works on my machine” — environment and dependency clashes</a:t>
            </a:r>
            <a:endParaRPr lang="en-US" sz="1450" dirty="0"/>
          </a:p>
          <a:p>
            <a:pPr marL="203200" indent="-203200">
              <a:spcAft>
                <a:spcPts val="1200"/>
              </a:spcAft>
              <a:buSzPct val="100000"/>
              <a:buChar char="•"/>
            </a:pPr>
            <a:r>
              <a:rPr lang="en-US" sz="1450" dirty="0">
                <a:solidFill>
                  <a:srgbClr val="7F1D1D"/>
                </a:solidFill>
                <a:latin typeface="Calibri" pitchFamily="34" charset="0"/>
                <a:ea typeface="Calibri" pitchFamily="34" charset="-122"/>
                <a:cs typeface="Calibri" pitchFamily="34" charset="-120"/>
              </a:rPr>
              <a:t>No dedicated GPU on most laptops</a:t>
            </a:r>
            <a:endParaRPr lang="en-US" sz="1450" dirty="0"/>
          </a:p>
          <a:p>
            <a:pPr marL="203200" indent="-203200">
              <a:spcAft>
                <a:spcPts val="1200"/>
              </a:spcAft>
              <a:buSzPct val="100000"/>
              <a:buChar char="•"/>
            </a:pPr>
            <a:r>
              <a:rPr lang="en-US" sz="1450" dirty="0">
                <a:solidFill>
                  <a:srgbClr val="7F1D1D"/>
                </a:solidFill>
                <a:latin typeface="Calibri" pitchFamily="34" charset="0"/>
                <a:ea typeface="Calibri" pitchFamily="34" charset="-122"/>
                <a:cs typeface="Calibri" pitchFamily="34" charset="-120"/>
              </a:rPr>
              <a:t>CUDA drivers, cuDNN, compilation toolchains</a:t>
            </a:r>
            <a:endParaRPr lang="en-US" sz="1450" dirty="0"/>
          </a:p>
        </p:txBody>
      </p:sp>
      <p:sp>
        <p:nvSpPr>
          <p:cNvPr id="9" name="Shape 6"/>
          <p:cNvSpPr/>
          <p:nvPr/>
        </p:nvSpPr>
        <p:spPr>
          <a:xfrm>
            <a:off x="4663440" y="1325880"/>
            <a:ext cx="4023360" cy="3017520"/>
          </a:xfrm>
          <a:prstGeom prst="roundRect">
            <a:avLst>
              <a:gd name="adj" fmla="val 3636"/>
            </a:avLst>
          </a:prstGeom>
          <a:solidFill>
            <a:srgbClr val="ECFDF5"/>
          </a:solidFill>
          <a:ln w="12700">
            <a:solidFill>
              <a:srgbClr val="A7F3D0"/>
            </a:solidFill>
            <a:prstDash val="solid"/>
          </a:ln>
        </p:spPr>
      </p:sp>
      <p:sp>
        <p:nvSpPr>
          <p:cNvPr id="10" name="Shape 7"/>
          <p:cNvSpPr/>
          <p:nvPr/>
        </p:nvSpPr>
        <p:spPr>
          <a:xfrm>
            <a:off x="4846320" y="1463040"/>
            <a:ext cx="411480" cy="411480"/>
          </a:xfrm>
          <a:prstGeom prst="ellipse">
            <a:avLst/>
          </a:prstGeom>
          <a:solidFill>
            <a:srgbClr val="D1FAE5"/>
          </a:solidFill>
          <a:ln w="12700">
            <a:solidFill>
              <a:srgbClr val="D1FAE5"/>
            </a:solidFill>
            <a:prstDash val="solid"/>
          </a:ln>
        </p:spPr>
      </p:sp>
      <p:pic>
        <p:nvPicPr>
          <p:cNvPr id="11" name="Image 1" descr="preencoded.png">    </p:cNvPr>
          <p:cNvPicPr>
            <a:picLocks noChangeAspect="1"/>
          </p:cNvPicPr>
          <p:nvPr/>
        </p:nvPicPr>
        <p:blipFill>
          <a:blip r:embed="rId2"/>
          <a:stretch>
            <a:fillRect/>
          </a:stretch>
        </p:blipFill>
        <p:spPr>
          <a:xfrm>
            <a:off x="4953305" y="1570025"/>
            <a:ext cx="197510" cy="197510"/>
          </a:xfrm>
          <a:prstGeom prst="rect">
            <a:avLst/>
          </a:prstGeom>
        </p:spPr>
      </p:pic>
      <p:sp>
        <p:nvSpPr>
          <p:cNvPr id="12" name="Text 8"/>
          <p:cNvSpPr txBox="1"/>
          <p:nvPr/>
        </p:nvSpPr>
        <p:spPr>
          <a:xfrm>
            <a:off x="5367528" y="1463040"/>
            <a:ext cx="3108960" cy="411480"/>
          </a:xfrm>
          <a:prstGeom prst="rect">
            <a:avLst/>
          </a:prstGeom>
          <a:noFill/>
          <a:ln/>
        </p:spPr>
        <p:txBody>
          <a:bodyPr wrap="square" lIns="0" tIns="0" rIns="0" bIns="0" rtlCol="0" anchor="ctr"/>
          <a:lstStyle/>
          <a:p>
            <a:pPr indent="0" marL="0">
              <a:buNone/>
            </a:pPr>
            <a:r>
              <a:rPr lang="en-US" sz="1800" b="1" dirty="0">
                <a:solidFill>
                  <a:srgbClr val="166534"/>
                </a:solidFill>
                <a:latin typeface="Calibri" pitchFamily="34" charset="0"/>
                <a:ea typeface="Calibri" pitchFamily="34" charset="-122"/>
                <a:cs typeface="Calibri" pitchFamily="34" charset="-120"/>
              </a:rPr>
              <a:t>What Colab does</a:t>
            </a:r>
            <a:endParaRPr lang="en-US" sz="1800" dirty="0"/>
          </a:p>
        </p:txBody>
      </p:sp>
      <p:sp>
        <p:nvSpPr>
          <p:cNvPr id="13" name="Text 9"/>
          <p:cNvSpPr txBox="1"/>
          <p:nvPr/>
        </p:nvSpPr>
        <p:spPr>
          <a:xfrm>
            <a:off x="4846320" y="2103120"/>
            <a:ext cx="3657600" cy="2103120"/>
          </a:xfrm>
          <a:prstGeom prst="rect">
            <a:avLst/>
          </a:prstGeom>
          <a:noFill/>
          <a:ln/>
        </p:spPr>
        <p:txBody>
          <a:bodyPr wrap="square" lIns="0" tIns="0" rIns="0" bIns="0" rtlCol="0" anchor="t"/>
          <a:lstStyle/>
          <a:p>
            <a:pPr marL="203200" indent="-203200">
              <a:spcAft>
                <a:spcPts val="1200"/>
              </a:spcAft>
              <a:buSzPct val="100000"/>
              <a:buChar char="•"/>
            </a:pPr>
            <a:r>
              <a:rPr lang="en-US" sz="1450" dirty="0">
                <a:solidFill>
                  <a:srgbClr val="14532D"/>
                </a:solidFill>
                <a:latin typeface="Calibri" pitchFamily="34" charset="0"/>
                <a:ea typeface="Calibri" pitchFamily="34" charset="-122"/>
                <a:cs typeface="Calibri" pitchFamily="34" charset="-120"/>
              </a:rPr>
              <a:t>Code runs on a remote VM in the cloud</a:t>
            </a:r>
            <a:endParaRPr lang="en-US" sz="1450" dirty="0"/>
          </a:p>
          <a:p>
            <a:pPr marL="203200" indent="-203200">
              <a:spcAft>
                <a:spcPts val="1200"/>
              </a:spcAft>
              <a:buSzPct val="100000"/>
              <a:buChar char="•"/>
            </a:pPr>
            <a:r>
              <a:rPr lang="en-US" sz="1450" dirty="0">
                <a:solidFill>
                  <a:srgbClr val="14532D"/>
                </a:solidFill>
                <a:latin typeface="Calibri" pitchFamily="34" charset="0"/>
                <a:ea typeface="Calibri" pitchFamily="34" charset="-122"/>
                <a:cs typeface="Calibri" pitchFamily="34" charset="-120"/>
              </a:rPr>
              <a:t>Your browser is only the interface</a:t>
            </a:r>
            <a:endParaRPr lang="en-US" sz="1450" dirty="0"/>
          </a:p>
          <a:p>
            <a:pPr marL="203200" indent="-203200">
              <a:spcAft>
                <a:spcPts val="1200"/>
              </a:spcAft>
              <a:buSzPct val="100000"/>
              <a:buChar char="•"/>
            </a:pPr>
            <a:r>
              <a:rPr lang="en-US" sz="1450" dirty="0">
                <a:solidFill>
                  <a:srgbClr val="14532D"/>
                </a:solidFill>
                <a:latin typeface="Calibri" pitchFamily="34" charset="0"/>
                <a:ea typeface="Calibri" pitchFamily="34" charset="-122"/>
                <a:cs typeface="Calibri" pitchFamily="34" charset="-120"/>
              </a:rPr>
              <a:t>PyTorch, TensorFlow, Pandas, Matplotlib pre-installed</a:t>
            </a:r>
            <a:endParaRPr lang="en-US" sz="1450" dirty="0"/>
          </a:p>
        </p:txBody>
      </p:sp>
      <p:sp>
        <p:nvSpPr>
          <p:cNvPr id="14" name="Text 10"/>
          <p:cNvSpPr txBox="1"/>
          <p:nvPr/>
        </p:nvSpPr>
        <p:spPr>
          <a:xfrm>
            <a:off x="457200" y="4480560"/>
            <a:ext cx="8229600" cy="32004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Live: check what machine we're actually 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200" kern="0" dirty="0">
                <a:solidFill>
                  <a:srgbClr val="059669"/>
                </a:solidFill>
                <a:latin typeface="Calibri" pitchFamily="34" charset="0"/>
                <a:ea typeface="Calibri" pitchFamily="34" charset="-122"/>
                <a:cs typeface="Calibri" pitchFamily="34" charset="-120"/>
              </a:rPr>
              <a:t>SESSION 2: HARDWARE &amp; GEMINI (18:00 – 21:00)</a:t>
            </a:r>
            <a:endParaRPr lang="en-US" sz="1100" dirty="0"/>
          </a:p>
        </p:txBody>
      </p:sp>
      <p:sp>
        <p:nvSpPr>
          <p:cNvPr id="3" name="Text 1"/>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Free GPU, and code from a prompt</a:t>
            </a:r>
            <a:endParaRPr lang="en-US" sz="2800" dirty="0"/>
          </a:p>
        </p:txBody>
      </p:sp>
      <p:sp>
        <p:nvSpPr>
          <p:cNvPr id="4" name="Shape 2"/>
          <p:cNvSpPr/>
          <p:nvPr/>
        </p:nvSpPr>
        <p:spPr>
          <a:xfrm>
            <a:off x="457200" y="1325880"/>
            <a:ext cx="1828800" cy="1188720"/>
          </a:xfrm>
          <a:prstGeom prst="roundRect">
            <a:avLst>
              <a:gd name="adj" fmla="val 9231"/>
            </a:avLst>
          </a:prstGeom>
          <a:solidFill>
            <a:srgbClr val="F8FAFC"/>
          </a:solidFill>
          <a:ln w="12700">
            <a:solidFill>
              <a:srgbClr val="E2E8F0"/>
            </a:solidFill>
            <a:prstDash val="solid"/>
          </a:ln>
        </p:spPr>
      </p:sp>
      <p:sp>
        <p:nvSpPr>
          <p:cNvPr id="5" name="Text 3"/>
          <p:cNvSpPr txBox="1"/>
          <p:nvPr/>
        </p:nvSpPr>
        <p:spPr>
          <a:xfrm>
            <a:off x="566928" y="1417320"/>
            <a:ext cx="1609344" cy="320040"/>
          </a:xfrm>
          <a:prstGeom prst="rect">
            <a:avLst/>
          </a:prstGeom>
          <a:noFill/>
          <a:ln/>
        </p:spPr>
        <p:txBody>
          <a:bodyPr wrap="square" lIns="0" tIns="0" rIns="0" bIns="0" rtlCol="0" anchor="ctr"/>
          <a:lstStyle/>
          <a:p>
            <a:pPr indent="0" marL="0">
              <a:buNone/>
            </a:pPr>
            <a:r>
              <a:rPr lang="en-US" sz="1500" b="1" dirty="0">
                <a:solidFill>
                  <a:srgbClr val="475569"/>
                </a:solidFill>
                <a:latin typeface="Calibri" pitchFamily="34" charset="0"/>
                <a:ea typeface="Calibri" pitchFamily="34" charset="-122"/>
                <a:cs typeface="Calibri" pitchFamily="34" charset="-120"/>
              </a:rPr>
              <a:t>CPU</a:t>
            </a:r>
            <a:endParaRPr lang="en-US" sz="1500" dirty="0"/>
          </a:p>
        </p:txBody>
      </p:sp>
      <p:sp>
        <p:nvSpPr>
          <p:cNvPr id="6" name="Text 4"/>
          <p:cNvSpPr txBox="1"/>
          <p:nvPr/>
        </p:nvSpPr>
        <p:spPr>
          <a:xfrm>
            <a:off x="566928" y="1755648"/>
            <a:ext cx="1609344" cy="68580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Zero cost. Scripts and light analysis.</a:t>
            </a:r>
            <a:endParaRPr lang="en-US" sz="1050" dirty="0"/>
          </a:p>
        </p:txBody>
      </p:sp>
      <p:sp>
        <p:nvSpPr>
          <p:cNvPr id="7" name="Shape 5"/>
          <p:cNvSpPr/>
          <p:nvPr/>
        </p:nvSpPr>
        <p:spPr>
          <a:xfrm>
            <a:off x="2423160" y="1325880"/>
            <a:ext cx="1828800" cy="1188720"/>
          </a:xfrm>
          <a:prstGeom prst="roundRect">
            <a:avLst>
              <a:gd name="adj" fmla="val 9231"/>
            </a:avLst>
          </a:prstGeom>
          <a:solidFill>
            <a:srgbClr val="F8FAFC"/>
          </a:solidFill>
          <a:ln w="12700">
            <a:solidFill>
              <a:srgbClr val="E2E8F0"/>
            </a:solidFill>
            <a:prstDash val="solid"/>
          </a:ln>
        </p:spPr>
      </p:sp>
      <p:sp>
        <p:nvSpPr>
          <p:cNvPr id="8" name="Text 6"/>
          <p:cNvSpPr txBox="1"/>
          <p:nvPr/>
        </p:nvSpPr>
        <p:spPr>
          <a:xfrm>
            <a:off x="2532888" y="1417320"/>
            <a:ext cx="1609344" cy="320040"/>
          </a:xfrm>
          <a:prstGeom prst="rect">
            <a:avLst/>
          </a:prstGeom>
          <a:noFill/>
          <a:ln/>
        </p:spPr>
        <p:txBody>
          <a:bodyPr wrap="square" lIns="0" tIns="0" rIns="0" bIns="0" rtlCol="0" anchor="ctr"/>
          <a:lstStyle/>
          <a:p>
            <a:pPr indent="0" marL="0">
              <a:buNone/>
            </a:pPr>
            <a:r>
              <a:rPr lang="en-US" sz="1500" b="1" dirty="0">
                <a:solidFill>
                  <a:srgbClr val="2563EB"/>
                </a:solidFill>
                <a:latin typeface="Calibri" pitchFamily="34" charset="0"/>
                <a:ea typeface="Calibri" pitchFamily="34" charset="-122"/>
                <a:cs typeface="Calibri" pitchFamily="34" charset="-120"/>
              </a:rPr>
              <a:t>T4 GPU</a:t>
            </a:r>
            <a:endParaRPr lang="en-US" sz="1500" dirty="0"/>
          </a:p>
        </p:txBody>
      </p:sp>
      <p:sp>
        <p:nvSpPr>
          <p:cNvPr id="9" name="Text 7"/>
          <p:cNvSpPr txBox="1"/>
          <p:nvPr/>
        </p:nvSpPr>
        <p:spPr>
          <a:xfrm>
            <a:off x="2532888" y="1755648"/>
            <a:ext cx="1609344" cy="68580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Free. Subject to availability.</a:t>
            </a:r>
            <a:endParaRPr lang="en-US" sz="1050" dirty="0"/>
          </a:p>
        </p:txBody>
      </p:sp>
      <p:sp>
        <p:nvSpPr>
          <p:cNvPr id="10" name="Shape 8"/>
          <p:cNvSpPr/>
          <p:nvPr/>
        </p:nvSpPr>
        <p:spPr>
          <a:xfrm>
            <a:off x="4389120" y="1325880"/>
            <a:ext cx="1828800" cy="1188720"/>
          </a:xfrm>
          <a:prstGeom prst="roundRect">
            <a:avLst>
              <a:gd name="adj" fmla="val 9231"/>
            </a:avLst>
          </a:prstGeom>
          <a:solidFill>
            <a:srgbClr val="F8FAFC"/>
          </a:solidFill>
          <a:ln w="12700">
            <a:solidFill>
              <a:srgbClr val="E2E8F0"/>
            </a:solidFill>
            <a:prstDash val="solid"/>
          </a:ln>
        </p:spPr>
      </p:sp>
      <p:sp>
        <p:nvSpPr>
          <p:cNvPr id="11" name="Text 9"/>
          <p:cNvSpPr txBox="1"/>
          <p:nvPr/>
        </p:nvSpPr>
        <p:spPr>
          <a:xfrm>
            <a:off x="4498848" y="1417320"/>
            <a:ext cx="1609344" cy="320040"/>
          </a:xfrm>
          <a:prstGeom prst="rect">
            <a:avLst/>
          </a:prstGeom>
          <a:noFill/>
          <a:ln/>
        </p:spPr>
        <p:txBody>
          <a:bodyPr wrap="square" lIns="0" tIns="0" rIns="0" bIns="0" rtlCol="0" anchor="ctr"/>
          <a:lstStyle/>
          <a:p>
            <a:pPr indent="0" marL="0">
              <a:buNone/>
            </a:pPr>
            <a:r>
              <a:rPr lang="en-US" sz="1500" b="1" dirty="0">
                <a:solidFill>
                  <a:srgbClr val="7C3AED"/>
                </a:solidFill>
                <a:latin typeface="Calibri" pitchFamily="34" charset="0"/>
                <a:ea typeface="Calibri" pitchFamily="34" charset="-122"/>
                <a:cs typeface="Calibri" pitchFamily="34" charset="-120"/>
              </a:rPr>
              <a:t>L4 / A100</a:t>
            </a:r>
            <a:endParaRPr lang="en-US" sz="1500" dirty="0"/>
          </a:p>
        </p:txBody>
      </p:sp>
      <p:sp>
        <p:nvSpPr>
          <p:cNvPr id="12" name="Text 10"/>
          <p:cNvSpPr txBox="1"/>
          <p:nvPr/>
        </p:nvSpPr>
        <p:spPr>
          <a:xfrm>
            <a:off x="4498848" y="1755648"/>
            <a:ext cx="1609344" cy="685800"/>
          </a:xfrm>
          <a:prstGeom prst="rect">
            <a:avLst/>
          </a:prstGeom>
          <a:noFill/>
          <a:ln/>
        </p:spPr>
        <p:txBody>
          <a:bodyPr wrap="square" lIns="0" tIns="0" rIns="0" bIns="0" rtlCol="0" anchor="t"/>
          <a:lstStyle/>
          <a:p>
            <a:pPr indent="0" marL="0">
              <a:buNone/>
            </a:pPr>
            <a:r>
              <a:rPr lang="en-US" sz="1050" dirty="0">
                <a:solidFill>
                  <a:srgbClr val="475569"/>
                </a:solidFill>
                <a:latin typeface="Calibri" pitchFamily="34" charset="0"/>
                <a:ea typeface="Calibri" pitchFamily="34" charset="-122"/>
                <a:cs typeface="Calibri" pitchFamily="34" charset="-120"/>
              </a:rPr>
              <a:t>Priority tiers. Subject to availability.</a:t>
            </a:r>
            <a:endParaRPr lang="en-US" sz="1050" dirty="0"/>
          </a:p>
        </p:txBody>
      </p:sp>
      <p:sp>
        <p:nvSpPr>
          <p:cNvPr id="13" name="Shape 11"/>
          <p:cNvSpPr/>
          <p:nvPr/>
        </p:nvSpPr>
        <p:spPr>
          <a:xfrm>
            <a:off x="6400800" y="1325880"/>
            <a:ext cx="2286000" cy="1188720"/>
          </a:xfrm>
          <a:prstGeom prst="roundRect">
            <a:avLst>
              <a:gd name="adj" fmla="val 9231"/>
            </a:avLst>
          </a:prstGeom>
          <a:solidFill>
            <a:srgbClr val="ECFDF5"/>
          </a:solidFill>
          <a:ln w="12700">
            <a:solidFill>
              <a:srgbClr val="A7F3D0"/>
            </a:solidFill>
            <a:prstDash val="solid"/>
          </a:ln>
        </p:spPr>
      </p:sp>
      <p:sp>
        <p:nvSpPr>
          <p:cNvPr id="14" name="Text 12"/>
          <p:cNvSpPr txBox="1"/>
          <p:nvPr/>
        </p:nvSpPr>
        <p:spPr>
          <a:xfrm>
            <a:off x="6510528" y="1371600"/>
            <a:ext cx="2066544" cy="502920"/>
          </a:xfrm>
          <a:prstGeom prst="rect">
            <a:avLst/>
          </a:prstGeom>
          <a:noFill/>
          <a:ln/>
        </p:spPr>
        <p:txBody>
          <a:bodyPr wrap="square" lIns="0" tIns="0" rIns="0" bIns="0" rtlCol="0" anchor="ctr"/>
          <a:lstStyle/>
          <a:p>
            <a:pPr indent="0" marL="0">
              <a:buNone/>
            </a:pPr>
            <a:r>
              <a:rPr lang="en-US" sz="2600" b="1" dirty="0">
                <a:solidFill>
                  <a:srgbClr val="166534"/>
                </a:solidFill>
                <a:latin typeface="Calibri" pitchFamily="34" charset="0"/>
                <a:ea typeface="Calibri" pitchFamily="34" charset="-122"/>
                <a:cs typeface="Calibri" pitchFamily="34" charset="-120"/>
              </a:rPr>
              <a:t>64.2x</a:t>
            </a:r>
            <a:endParaRPr lang="en-US" sz="2600" dirty="0"/>
          </a:p>
        </p:txBody>
      </p:sp>
      <p:sp>
        <p:nvSpPr>
          <p:cNvPr id="15" name="Text 13"/>
          <p:cNvSpPr txBox="1"/>
          <p:nvPr/>
        </p:nvSpPr>
        <p:spPr>
          <a:xfrm>
            <a:off x="6510528" y="1828800"/>
            <a:ext cx="2066544" cy="640080"/>
          </a:xfrm>
          <a:prstGeom prst="rect">
            <a:avLst/>
          </a:prstGeom>
          <a:noFill/>
          <a:ln/>
        </p:spPr>
        <p:txBody>
          <a:bodyPr wrap="square" lIns="0" tIns="0" rIns="0" bIns="0" rtlCol="0" anchor="t"/>
          <a:lstStyle/>
          <a:p>
            <a:pPr indent="0" marL="0">
              <a:buNone/>
            </a:pPr>
            <a:r>
              <a:rPr lang="en-US" sz="1000" dirty="0">
                <a:solidFill>
                  <a:srgbClr val="14532D"/>
                </a:solidFill>
                <a:latin typeface="Calibri" pitchFamily="34" charset="0"/>
                <a:ea typeface="Calibri" pitchFamily="34" charset="-122"/>
                <a:cs typeface="Calibri" pitchFamily="34" charset="-120"/>
              </a:rPr>
              <a:t>faster on T4 (4096×4096 matrix multiply)</a:t>
            </a:r>
            <a:endParaRPr lang="en-US" sz="1000" dirty="0"/>
          </a:p>
        </p:txBody>
      </p:sp>
      <p:sp>
        <p:nvSpPr>
          <p:cNvPr id="16" name="Shape 14"/>
          <p:cNvSpPr/>
          <p:nvPr/>
        </p:nvSpPr>
        <p:spPr>
          <a:xfrm>
            <a:off x="457200" y="2743200"/>
            <a:ext cx="8229600" cy="1600200"/>
          </a:xfrm>
          <a:prstGeom prst="roundRect">
            <a:avLst>
              <a:gd name="adj" fmla="val 6857"/>
            </a:avLst>
          </a:prstGeom>
          <a:solidFill>
            <a:srgbClr val="F8FAFC"/>
          </a:solidFill>
          <a:ln w="12700">
            <a:solidFill>
              <a:srgbClr val="E2E8F0"/>
            </a:solidFill>
            <a:prstDash val="solid"/>
          </a:ln>
        </p:spPr>
      </p:sp>
      <p:sp>
        <p:nvSpPr>
          <p:cNvPr id="17" name="Text 15"/>
          <p:cNvSpPr txBox="1"/>
          <p:nvPr/>
        </p:nvSpPr>
        <p:spPr>
          <a:xfrm>
            <a:off x="640080" y="2834640"/>
            <a:ext cx="7863840" cy="228600"/>
          </a:xfrm>
          <a:prstGeom prst="rect">
            <a:avLst/>
          </a:prstGeom>
          <a:noFill/>
          <a:ln/>
        </p:spPr>
        <p:txBody>
          <a:bodyPr wrap="square" lIns="0" tIns="0" rIns="0" bIns="0" rtlCol="0" anchor="ctr"/>
          <a:lstStyle/>
          <a:p>
            <a:pPr indent="0" marL="0">
              <a:buNone/>
            </a:pPr>
            <a:r>
              <a:rPr lang="en-US" sz="1100" b="1" spc="100" kern="0" dirty="0">
                <a:solidFill>
                  <a:srgbClr val="64748B"/>
                </a:solidFill>
                <a:latin typeface="Calibri" pitchFamily="34" charset="0"/>
                <a:ea typeface="Calibri" pitchFamily="34" charset="-122"/>
                <a:cs typeface="Calibri" pitchFamily="34" charset="-120"/>
              </a:rPr>
              <a:t>HOW TO GENERATE CODE FROM A PROMPT</a:t>
            </a:r>
            <a:endParaRPr lang="en-US" sz="1100" dirty="0"/>
          </a:p>
        </p:txBody>
      </p:sp>
      <p:sp>
        <p:nvSpPr>
          <p:cNvPr id="18" name="Shape 16"/>
          <p:cNvSpPr/>
          <p:nvPr/>
        </p:nvSpPr>
        <p:spPr>
          <a:xfrm>
            <a:off x="640080" y="3127248"/>
            <a:ext cx="7863840" cy="502920"/>
          </a:xfrm>
          <a:prstGeom prst="roundRect">
            <a:avLst>
              <a:gd name="adj" fmla="val 21818"/>
            </a:avLst>
          </a:prstGeom>
          <a:solidFill>
            <a:srgbClr val="FFFFFF"/>
          </a:solidFill>
          <a:ln w="12700">
            <a:solidFill>
              <a:srgbClr val="94A3B8"/>
            </a:solidFill>
            <a:prstDash val="solid"/>
          </a:ln>
        </p:spPr>
      </p:sp>
      <p:sp>
        <p:nvSpPr>
          <p:cNvPr id="19" name="Text 17"/>
          <p:cNvSpPr txBox="1"/>
          <p:nvPr/>
        </p:nvSpPr>
        <p:spPr>
          <a:xfrm>
            <a:off x="777240" y="3127248"/>
            <a:ext cx="7589520" cy="502920"/>
          </a:xfrm>
          <a:prstGeom prst="rect">
            <a:avLst/>
          </a:prstGeom>
          <a:noFill/>
          <a:ln/>
        </p:spPr>
        <p:txBody>
          <a:bodyPr wrap="square" lIns="0" tIns="0" rIns="0" bIns="0" rtlCol="0" anchor="ctr"/>
          <a:lstStyle/>
          <a:p>
            <a:pPr indent="0" marL="0">
              <a:buNone/>
            </a:pPr>
            <a:r>
              <a:rPr lang="en-US" sz="1300" dirty="0">
                <a:solidFill>
                  <a:srgbClr val="0F172A"/>
                </a:solidFill>
                <a:latin typeface="Courier New" pitchFamily="34" charset="0"/>
                <a:ea typeface="Courier New" pitchFamily="34" charset="-122"/>
                <a:cs typeface="Courier New" pitchFamily="34" charset="-120"/>
              </a:rPr>
              <a:t>▶  </a:t>
            </a:r>
            <a:pPr indent="0" marL="0">
              <a:buNone/>
            </a:pPr>
            <a:r>
              <a:rPr lang="en-US" sz="1300" dirty="0">
                <a:solidFill>
                  <a:srgbClr val="64748B"/>
                </a:solidFill>
                <a:latin typeface="Courier New" pitchFamily="34" charset="0"/>
                <a:ea typeface="Courier New" pitchFamily="34" charset="-122"/>
                <a:cs typeface="Courier New" pitchFamily="34" charset="-120"/>
              </a:rPr>
              <a:t>Start coding or </a:t>
            </a:r>
            <a:pPr indent="0" marL="0">
              <a:buNone/>
            </a:pPr>
            <a:r>
              <a:rPr lang="en-US" sz="1300" u="sng" dirty="0">
                <a:solidFill>
                  <a:srgbClr val="2563EB"/>
                </a:solidFill>
                <a:latin typeface="Courier New" pitchFamily="34" charset="0"/>
                <a:ea typeface="Courier New" pitchFamily="34" charset="-122"/>
                <a:cs typeface="Courier New" pitchFamily="34" charset="-120"/>
              </a:rPr>
              <a:t>generate</a:t>
            </a:r>
            <a:pPr indent="0" marL="0">
              <a:buNone/>
            </a:pPr>
            <a:r>
              <a:rPr lang="en-US" sz="1300" dirty="0">
                <a:solidFill>
                  <a:srgbClr val="64748B"/>
                </a:solidFill>
                <a:latin typeface="Courier New" pitchFamily="34" charset="0"/>
                <a:ea typeface="Courier New" pitchFamily="34" charset="-122"/>
                <a:cs typeface="Courier New" pitchFamily="34" charset="-120"/>
              </a:rPr>
              <a:t> with AI.</a:t>
            </a:r>
            <a:endParaRPr lang="en-US" sz="1300" dirty="0"/>
          </a:p>
        </p:txBody>
      </p:sp>
      <p:sp>
        <p:nvSpPr>
          <p:cNvPr id="20" name="Text 18"/>
          <p:cNvSpPr txBox="1"/>
          <p:nvPr/>
        </p:nvSpPr>
        <p:spPr>
          <a:xfrm>
            <a:off x="640080" y="3749040"/>
            <a:ext cx="7863840" cy="502920"/>
          </a:xfrm>
          <a:prstGeom prst="rect">
            <a:avLst/>
          </a:prstGeom>
          <a:noFill/>
          <a:ln/>
        </p:spPr>
        <p:txBody>
          <a:bodyPr wrap="square" lIns="0" tIns="0" rIns="0" bIns="0" rtlCol="0" anchor="t"/>
          <a:lstStyle/>
          <a:p>
            <a:pPr indent="0" marL="0">
              <a:buNone/>
            </a:pPr>
            <a:r>
              <a:rPr lang="en-US" sz="1300" dirty="0">
                <a:solidFill>
                  <a:srgbClr val="475569"/>
                </a:solidFill>
                <a:latin typeface="Calibri" pitchFamily="34" charset="0"/>
                <a:ea typeface="Calibri" pitchFamily="34" charset="-122"/>
                <a:cs typeface="Calibri" pitchFamily="34" charset="-120"/>
              </a:rPr>
              <a:t>Click an empty code cell, click generate, type your prompt, press Enter.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200" kern="0" dirty="0">
                <a:solidFill>
                  <a:srgbClr val="059669"/>
                </a:solidFill>
                <a:latin typeface="Calibri" pitchFamily="34" charset="0"/>
                <a:ea typeface="Calibri" pitchFamily="34" charset="-122"/>
                <a:cs typeface="Calibri" pitchFamily="34" charset="-120"/>
              </a:rPr>
              <a:t>SESSION 2: DATA (21:00 – 24:00)</a:t>
            </a:r>
            <a:endParaRPr lang="en-US" sz="1100" dirty="0"/>
          </a:p>
        </p:txBody>
      </p:sp>
      <p:sp>
        <p:nvSpPr>
          <p:cNvPr id="3" name="Text 1"/>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Mount Drive, load the verified numbers</a:t>
            </a:r>
            <a:endParaRPr lang="en-US" sz="2800" dirty="0"/>
          </a:p>
        </p:txBody>
      </p:sp>
      <p:sp>
        <p:nvSpPr>
          <p:cNvPr id="4" name="Shape 2"/>
          <p:cNvSpPr/>
          <p:nvPr/>
        </p:nvSpPr>
        <p:spPr>
          <a:xfrm>
            <a:off x="457200" y="1371600"/>
            <a:ext cx="4023360" cy="2971800"/>
          </a:xfrm>
          <a:prstGeom prst="roundRect">
            <a:avLst>
              <a:gd name="adj" fmla="val 3692"/>
            </a:avLst>
          </a:prstGeom>
          <a:solidFill>
            <a:srgbClr val="F8FAFC"/>
          </a:solidFill>
          <a:ln w="12700">
            <a:solidFill>
              <a:srgbClr val="E2E8F0"/>
            </a:solidFill>
            <a:prstDash val="solid"/>
          </a:ln>
        </p:spPr>
      </p:sp>
      <p:sp>
        <p:nvSpPr>
          <p:cNvPr id="5" name="Text 3"/>
          <p:cNvSpPr txBox="1"/>
          <p:nvPr/>
        </p:nvSpPr>
        <p:spPr>
          <a:xfrm>
            <a:off x="640080" y="1463040"/>
            <a:ext cx="3657600" cy="228600"/>
          </a:xfrm>
          <a:prstGeom prst="rect">
            <a:avLst/>
          </a:prstGeom>
          <a:noFill/>
          <a:ln/>
        </p:spPr>
        <p:txBody>
          <a:bodyPr wrap="square" lIns="0" tIns="0" rIns="0" bIns="0" rtlCol="0" anchor="ctr"/>
          <a:lstStyle/>
          <a:p>
            <a:pPr indent="0" marL="0">
              <a:buNone/>
            </a:pPr>
            <a:r>
              <a:rPr lang="en-US" sz="1100" b="1" spc="100" kern="0" dirty="0">
                <a:solidFill>
                  <a:srgbClr val="64748B"/>
                </a:solidFill>
                <a:latin typeface="Calibri" pitchFamily="34" charset="0"/>
                <a:ea typeface="Calibri" pitchFamily="34" charset="-122"/>
                <a:cs typeface="Calibri" pitchFamily="34" charset="-120"/>
              </a:rPr>
              <a:t>TWO LINES</a:t>
            </a:r>
            <a:endParaRPr lang="en-US" sz="1100" dirty="0"/>
          </a:p>
        </p:txBody>
      </p:sp>
      <p:sp>
        <p:nvSpPr>
          <p:cNvPr id="6" name="Shape 4"/>
          <p:cNvSpPr/>
          <p:nvPr/>
        </p:nvSpPr>
        <p:spPr>
          <a:xfrm>
            <a:off x="640080" y="1783080"/>
            <a:ext cx="3657600" cy="960120"/>
          </a:xfrm>
          <a:prstGeom prst="roundRect">
            <a:avLst>
              <a:gd name="adj" fmla="val 11429"/>
            </a:avLst>
          </a:prstGeom>
          <a:solidFill>
            <a:srgbClr val="0F172A"/>
          </a:solidFill>
          <a:ln w="12700">
            <a:solidFill>
              <a:srgbClr val="0F172A"/>
            </a:solidFill>
            <a:prstDash val="solid"/>
          </a:ln>
        </p:spPr>
      </p:sp>
      <p:sp>
        <p:nvSpPr>
          <p:cNvPr id="7" name="Text 5"/>
          <p:cNvSpPr txBox="1"/>
          <p:nvPr/>
        </p:nvSpPr>
        <p:spPr>
          <a:xfrm>
            <a:off x="777240" y="1783080"/>
            <a:ext cx="3383280" cy="960120"/>
          </a:xfrm>
          <a:prstGeom prst="rect">
            <a:avLst/>
          </a:prstGeom>
          <a:noFill/>
          <a:ln/>
        </p:spPr>
        <p:txBody>
          <a:bodyPr wrap="square" lIns="0" tIns="0" rIns="0" bIns="0" rtlCol="0" anchor="ctr"/>
          <a:lstStyle/>
          <a:p>
            <a:pPr indent="0" marL="0">
              <a:buNone/>
            </a:pPr>
            <a:r>
              <a:rPr lang="en-US" sz="1200" dirty="0">
                <a:solidFill>
                  <a:srgbClr val="93C5FD"/>
                </a:solidFill>
                <a:latin typeface="Courier New" pitchFamily="34" charset="0"/>
                <a:ea typeface="Courier New" pitchFamily="34" charset="-122"/>
                <a:cs typeface="Courier New" pitchFamily="34" charset="-120"/>
              </a:rPr>
              <a:t>from google.colab import drive</a:t>
            </a:r>
            <a:endParaRPr lang="en-US" sz="1200" dirty="0"/>
          </a:p>
          <a:p>
            <a:pPr indent="0" marL="0">
              <a:buNone/>
            </a:pPr>
            <a:r>
              <a:rPr lang="en-US" sz="1200" dirty="0">
                <a:solidFill>
                  <a:srgbClr val="93C5FD"/>
                </a:solidFill>
                <a:latin typeface="Courier New" pitchFamily="34" charset="0"/>
                <a:ea typeface="Courier New" pitchFamily="34" charset="-122"/>
                <a:cs typeface="Courier New" pitchFamily="34" charset="-120"/>
              </a:rPr>
              <a:t>drive.mount('/content/drive')</a:t>
            </a:r>
            <a:endParaRPr lang="en-US" sz="1200" dirty="0"/>
          </a:p>
        </p:txBody>
      </p:sp>
      <p:sp>
        <p:nvSpPr>
          <p:cNvPr id="8" name="Text 6"/>
          <p:cNvSpPr txBox="1"/>
          <p:nvPr/>
        </p:nvSpPr>
        <p:spPr>
          <a:xfrm>
            <a:off x="640080" y="2880360"/>
            <a:ext cx="3657600" cy="1371600"/>
          </a:xfrm>
          <a:prstGeom prst="rect">
            <a:avLst/>
          </a:prstGeom>
          <a:noFill/>
          <a:ln/>
        </p:spPr>
        <p:txBody>
          <a:bodyPr wrap="square" lIns="0" tIns="0" rIns="0" bIns="0" rtlCol="0" anchor="t"/>
          <a:lstStyle/>
          <a:p>
            <a:pPr indent="0" marL="0">
              <a:buNone/>
            </a:pPr>
            <a:r>
              <a:rPr lang="en-US" sz="1250" dirty="0">
                <a:solidFill>
                  <a:srgbClr val="475569"/>
                </a:solidFill>
                <a:latin typeface="Calibri" pitchFamily="34" charset="0"/>
                <a:ea typeface="Calibri" pitchFamily="34" charset="-122"/>
                <a:cs typeface="Calibri" pitchFamily="34" charset="-120"/>
              </a:rPr>
              <a:t>Opens a one-time permission popup. Grants the running session access to your Drive files, separate from saving the notebook file itself.</a:t>
            </a:r>
            <a:endParaRPr lang="en-US" sz="1250" dirty="0"/>
          </a:p>
        </p:txBody>
      </p:sp>
      <p:sp>
        <p:nvSpPr>
          <p:cNvPr id="9" name="Shape 7"/>
          <p:cNvSpPr/>
          <p:nvPr/>
        </p:nvSpPr>
        <p:spPr>
          <a:xfrm>
            <a:off x="4663440" y="1371600"/>
            <a:ext cx="4023360" cy="2971800"/>
          </a:xfrm>
          <a:prstGeom prst="roundRect">
            <a:avLst>
              <a:gd name="adj" fmla="val 3692"/>
            </a:avLst>
          </a:prstGeom>
          <a:solidFill>
            <a:srgbClr val="EFF6FF"/>
          </a:solidFill>
          <a:ln w="12700">
            <a:solidFill>
              <a:srgbClr val="BFDBFE"/>
            </a:solidFill>
            <a:prstDash val="solid"/>
          </a:ln>
        </p:spPr>
      </p:sp>
      <p:sp>
        <p:nvSpPr>
          <p:cNvPr id="10" name="Shape 8"/>
          <p:cNvSpPr/>
          <p:nvPr/>
        </p:nvSpPr>
        <p:spPr>
          <a:xfrm>
            <a:off x="4846320" y="1508760"/>
            <a:ext cx="411480" cy="411480"/>
          </a:xfrm>
          <a:prstGeom prst="ellipse">
            <a:avLst/>
          </a:prstGeom>
          <a:solidFill>
            <a:srgbClr val="DBEAFE"/>
          </a:solidFill>
          <a:ln w="12700">
            <a:solidFill>
              <a:srgbClr val="DBEAFE"/>
            </a:solidFill>
            <a:prstDash val="solid"/>
          </a:ln>
        </p:spPr>
      </p:sp>
      <p:pic>
        <p:nvPicPr>
          <p:cNvPr id="11" name="Image 0" descr="preencoded.png">    </p:cNvPr>
          <p:cNvPicPr>
            <a:picLocks noChangeAspect="1"/>
          </p:cNvPicPr>
          <p:nvPr/>
        </p:nvPicPr>
        <p:blipFill>
          <a:blip r:embed="rId1"/>
          <a:stretch>
            <a:fillRect/>
          </a:stretch>
        </p:blipFill>
        <p:spPr>
          <a:xfrm>
            <a:off x="4953305" y="1615745"/>
            <a:ext cx="197510" cy="197510"/>
          </a:xfrm>
          <a:prstGeom prst="rect">
            <a:avLst/>
          </a:prstGeom>
        </p:spPr>
      </p:pic>
      <p:sp>
        <p:nvSpPr>
          <p:cNvPr id="12" name="Text 9"/>
          <p:cNvSpPr txBox="1"/>
          <p:nvPr/>
        </p:nvSpPr>
        <p:spPr>
          <a:xfrm>
            <a:off x="5367528" y="1508760"/>
            <a:ext cx="3200400" cy="411480"/>
          </a:xfrm>
          <a:prstGeom prst="rect">
            <a:avLst/>
          </a:prstGeom>
          <a:noFill/>
          <a:ln/>
        </p:spPr>
        <p:txBody>
          <a:bodyPr wrap="square" lIns="0" tIns="0" rIns="0" bIns="0" rtlCol="0" anchor="ctr"/>
          <a:lstStyle/>
          <a:p>
            <a:pPr indent="0" marL="0">
              <a:buNone/>
            </a:pPr>
            <a:r>
              <a:rPr lang="en-US" sz="1500" b="1" dirty="0">
                <a:solidFill>
                  <a:srgbClr val="1D4ED8"/>
                </a:solidFill>
                <a:latin typeface="Courier New" pitchFamily="34" charset="0"/>
                <a:ea typeface="Courier New" pitchFamily="34" charset="-122"/>
                <a:cs typeface="Courier New" pitchFamily="34" charset="-120"/>
              </a:rPr>
              <a:t>ai_index_coding.csv</a:t>
            </a:r>
            <a:endParaRPr lang="en-US" sz="1500" dirty="0"/>
          </a:p>
        </p:txBody>
      </p:sp>
      <p:sp>
        <p:nvSpPr>
          <p:cNvPr id="13" name="Text 10"/>
          <p:cNvSpPr txBox="1"/>
          <p:nvPr/>
        </p:nvSpPr>
        <p:spPr>
          <a:xfrm>
            <a:off x="4846320" y="2103120"/>
            <a:ext cx="3657600" cy="2103120"/>
          </a:xfrm>
          <a:prstGeom prst="rect">
            <a:avLst/>
          </a:prstGeom>
          <a:noFill/>
          <a:ln/>
        </p:spPr>
        <p:txBody>
          <a:bodyPr wrap="square" lIns="0" tIns="0" rIns="0" bIns="0" rtlCol="0" anchor="t"/>
          <a:lstStyle/>
          <a:p>
            <a:pPr marL="203200" indent="-203200">
              <a:spcAft>
                <a:spcPts val="1000"/>
              </a:spcAft>
              <a:buSzPct val="100000"/>
              <a:buChar char="•"/>
            </a:pPr>
            <a:r>
              <a:rPr lang="en-US" sz="1300" dirty="0">
                <a:solidFill>
                  <a:srgbClr val="475569"/>
                </a:solidFill>
                <a:latin typeface="Calibri" pitchFamily="34" charset="0"/>
                <a:ea typeface="Calibri" pitchFamily="34" charset="-122"/>
                <a:cs typeface="Calibri" pitchFamily="34" charset="-120"/>
              </a:rPr>
              <a:t>10 rows: model, score_pct, source</a:t>
            </a:r>
            <a:endParaRPr lang="en-US" sz="1300" dirty="0"/>
          </a:p>
          <a:p>
            <a:pPr marL="203200" indent="-203200">
              <a:spcAft>
                <a:spcPts val="1000"/>
              </a:spcAft>
              <a:buSzPct val="100000"/>
              <a:buChar char="•"/>
            </a:pPr>
            <a:r>
              <a:rPr lang="en-US" sz="1300" dirty="0">
                <a:solidFill>
                  <a:srgbClr val="475569"/>
                </a:solidFill>
                <a:latin typeface="Calibri" pitchFamily="34" charset="0"/>
                <a:ea typeface="Calibri" pitchFamily="34" charset="-122"/>
                <a:cs typeface="Calibri" pitchFamily="34" charset="-120"/>
              </a:rPr>
              <a:t>Read from Figure 2.5.1, AI Index 2026, p. 101</a:t>
            </a:r>
            <a:endParaRPr lang="en-US" sz="1300" dirty="0"/>
          </a:p>
          <a:p>
            <a:pPr marL="203200" indent="-203200">
              <a:spcAft>
                <a:spcPts val="1000"/>
              </a:spcAft>
              <a:buSzPct val="100000"/>
              <a:buChar char="•"/>
            </a:pPr>
            <a:r>
              <a:rPr lang="en-US" sz="1300" dirty="0">
                <a:solidFill>
                  <a:srgbClr val="475569"/>
                </a:solidFill>
                <a:latin typeface="Calibri" pitchFamily="34" charset="0"/>
                <a:ea typeface="Calibri" pitchFamily="34" charset="-122"/>
                <a:cs typeface="Calibri" pitchFamily="34" charset="-120"/>
              </a:rPr>
              <a:t>Falls back to a sample dataset if the path isn't found, so the demo never dead-ends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200" kern="0" dirty="0">
                <a:solidFill>
                  <a:srgbClr val="059669"/>
                </a:solidFill>
                <a:latin typeface="Calibri" pitchFamily="34" charset="0"/>
                <a:ea typeface="Calibri" pitchFamily="34" charset="-122"/>
                <a:cs typeface="Calibri" pitchFamily="34" charset="-120"/>
              </a:rPr>
              <a:t>SESSION 2: PROMPT TO PLOT (24:00 – 26:00)</a:t>
            </a:r>
            <a:endParaRPr lang="en-US" sz="1100" dirty="0"/>
          </a:p>
        </p:txBody>
      </p:sp>
      <p:sp>
        <p:nvSpPr>
          <p:cNvPr id="3" name="Text 1"/>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One prompt, a chart that makes the point</a:t>
            </a:r>
            <a:endParaRPr lang="en-US" sz="2800" dirty="0"/>
          </a:p>
        </p:txBody>
      </p:sp>
      <p:sp>
        <p:nvSpPr>
          <p:cNvPr id="4" name="Shape 2"/>
          <p:cNvSpPr/>
          <p:nvPr/>
        </p:nvSpPr>
        <p:spPr>
          <a:xfrm>
            <a:off x="457200" y="1280160"/>
            <a:ext cx="8229600" cy="777240"/>
          </a:xfrm>
          <a:prstGeom prst="roundRect">
            <a:avLst>
              <a:gd name="adj" fmla="val 14118"/>
            </a:avLst>
          </a:prstGeom>
          <a:solidFill>
            <a:srgbClr val="F1F5F9"/>
          </a:solidFill>
          <a:ln w="12700">
            <a:solidFill>
              <a:srgbClr val="E2E8F0"/>
            </a:solidFill>
            <a:prstDash val="solid"/>
          </a:ln>
        </p:spPr>
      </p:sp>
      <p:sp>
        <p:nvSpPr>
          <p:cNvPr id="5" name="Text 3"/>
          <p:cNvSpPr txBox="1"/>
          <p:nvPr/>
        </p:nvSpPr>
        <p:spPr>
          <a:xfrm>
            <a:off x="640080" y="1344168"/>
            <a:ext cx="7863840" cy="201168"/>
          </a:xfrm>
          <a:prstGeom prst="rect">
            <a:avLst/>
          </a:prstGeom>
          <a:noFill/>
          <a:ln/>
        </p:spPr>
        <p:txBody>
          <a:bodyPr wrap="square" lIns="0" tIns="0" rIns="0" bIns="0" rtlCol="0" anchor="ctr"/>
          <a:lstStyle/>
          <a:p>
            <a:pPr indent="0" marL="0">
              <a:buNone/>
            </a:pPr>
            <a:r>
              <a:rPr lang="en-US" sz="1000" b="1" spc="100" kern="0" dirty="0">
                <a:solidFill>
                  <a:srgbClr val="64748B"/>
                </a:solidFill>
                <a:latin typeface="Calibri" pitchFamily="34" charset="0"/>
                <a:ea typeface="Calibri" pitchFamily="34" charset="-122"/>
                <a:cs typeface="Calibri" pitchFamily="34" charset="-120"/>
              </a:rPr>
              <a:t>THE PROMPT</a:t>
            </a:r>
            <a:endParaRPr lang="en-US" sz="1000" dirty="0"/>
          </a:p>
        </p:txBody>
      </p:sp>
      <p:sp>
        <p:nvSpPr>
          <p:cNvPr id="6" name="Text 4"/>
          <p:cNvSpPr txBox="1"/>
          <p:nvPr/>
        </p:nvSpPr>
        <p:spPr>
          <a:xfrm>
            <a:off x="640080" y="1536192"/>
            <a:ext cx="7863840" cy="502920"/>
          </a:xfrm>
          <a:prstGeom prst="rect">
            <a:avLst/>
          </a:prstGeom>
          <a:noFill/>
          <a:ln/>
        </p:spPr>
        <p:txBody>
          <a:bodyPr wrap="square" lIns="0" tIns="0" rIns="0" bIns="0" rtlCol="0" anchor="t"/>
          <a:lstStyle/>
          <a:p>
            <a:pPr indent="0" marL="0">
              <a:buNone/>
            </a:pPr>
            <a:r>
              <a:rPr lang="en-US" sz="1100" dirty="0">
                <a:solidFill>
                  <a:srgbClr val="0F172A"/>
                </a:solidFill>
                <a:latin typeface="Courier New" pitchFamily="34" charset="0"/>
                <a:ea typeface="Courier New" pitchFamily="34" charset="-122"/>
                <a:cs typeface="Courier New" pitchFamily="34" charset="-120"/>
              </a:rPr>
              <a:t>"Color the bars by score so models with the same score share a color, and add a note showing how many models are tied at each shared score."</a:t>
            </a:r>
            <a:endParaRPr lang="en-US" sz="1100" dirty="0"/>
          </a:p>
        </p:txBody>
      </p:sp>
      <p:pic>
        <p:nvPicPr>
          <p:cNvPr id="7" name="Image 0" descr="/home/claude/colabdeck/img/ties_chart.png">    </p:cNvPr>
          <p:cNvPicPr>
            <a:picLocks noChangeAspect="1"/>
          </p:cNvPicPr>
          <p:nvPr/>
        </p:nvPicPr>
        <p:blipFill>
          <a:blip r:embed="rId1"/>
          <a:stretch>
            <a:fillRect/>
          </a:stretch>
        </p:blipFill>
        <p:spPr>
          <a:xfrm>
            <a:off x="1234440" y="2194560"/>
            <a:ext cx="4206240" cy="2638044"/>
          </a:xfrm>
          <a:prstGeom prst="rect">
            <a:avLst/>
          </a:prstGeom>
        </p:spPr>
      </p:pic>
      <p:sp>
        <p:nvSpPr>
          <p:cNvPr id="8" name="Shape 5"/>
          <p:cNvSpPr/>
          <p:nvPr/>
        </p:nvSpPr>
        <p:spPr>
          <a:xfrm>
            <a:off x="1234440" y="2194560"/>
            <a:ext cx="4206240" cy="2638044"/>
          </a:xfrm>
          <a:prstGeom prst="rect">
            <a:avLst/>
          </a:prstGeom>
          <a:ln w="12700">
            <a:solidFill>
              <a:srgbClr val="E2E8F0"/>
            </a:solidFill>
            <a:prstDash val="solid"/>
          </a:ln>
        </p:spPr>
      </p:sp>
      <p:sp>
        <p:nvSpPr>
          <p:cNvPr id="9" name="Shape 6"/>
          <p:cNvSpPr/>
          <p:nvPr/>
        </p:nvSpPr>
        <p:spPr>
          <a:xfrm>
            <a:off x="5623560" y="2194560"/>
            <a:ext cx="3063240" cy="2638044"/>
          </a:xfrm>
          <a:prstGeom prst="roundRect">
            <a:avLst>
              <a:gd name="adj" fmla="val 4159"/>
            </a:avLst>
          </a:prstGeom>
          <a:solidFill>
            <a:srgbClr val="FFFBEB"/>
          </a:solidFill>
          <a:ln w="12700">
            <a:solidFill>
              <a:srgbClr val="FDE68A"/>
            </a:solidFill>
            <a:prstDash val="solid"/>
          </a:ln>
        </p:spPr>
      </p:sp>
      <p:sp>
        <p:nvSpPr>
          <p:cNvPr id="10" name="Text 7"/>
          <p:cNvSpPr txBox="1"/>
          <p:nvPr/>
        </p:nvSpPr>
        <p:spPr>
          <a:xfrm>
            <a:off x="5806440" y="2331720"/>
            <a:ext cx="2743200" cy="228600"/>
          </a:xfrm>
          <a:prstGeom prst="rect">
            <a:avLst/>
          </a:prstGeom>
          <a:noFill/>
          <a:ln/>
        </p:spPr>
        <p:txBody>
          <a:bodyPr wrap="square" lIns="0" tIns="0" rIns="0" bIns="0" rtlCol="0" anchor="ctr"/>
          <a:lstStyle/>
          <a:p>
            <a:pPr indent="0" marL="0">
              <a:buNone/>
            </a:pPr>
            <a:r>
              <a:rPr lang="en-US" sz="1100" b="1" spc="100" kern="0" dirty="0">
                <a:solidFill>
                  <a:srgbClr val="B45309"/>
                </a:solidFill>
                <a:latin typeface="Calibri" pitchFamily="34" charset="0"/>
                <a:ea typeface="Calibri" pitchFamily="34" charset="-122"/>
                <a:cs typeface="Calibri" pitchFamily="34" charset="-120"/>
              </a:rPr>
              <a:t>THE POINT</a:t>
            </a:r>
            <a:endParaRPr lang="en-US" sz="1100" dirty="0"/>
          </a:p>
        </p:txBody>
      </p:sp>
      <p:sp>
        <p:nvSpPr>
          <p:cNvPr id="11" name="Text 8"/>
          <p:cNvSpPr txBox="1"/>
          <p:nvPr/>
        </p:nvSpPr>
        <p:spPr>
          <a:xfrm>
            <a:off x="5806440" y="2651760"/>
            <a:ext cx="2743200" cy="2103120"/>
          </a:xfrm>
          <a:prstGeom prst="rect">
            <a:avLst/>
          </a:prstGeom>
          <a:noFill/>
          <a:ln/>
        </p:spPr>
        <p:txBody>
          <a:bodyPr wrap="square" lIns="0" tIns="0" rIns="0" bIns="0" rtlCol="0" anchor="t"/>
          <a:lstStyle/>
          <a:p>
            <a:pPr indent="0" marL="0">
              <a:buNone/>
            </a:pPr>
            <a:r>
              <a:rPr lang="en-US" sz="1500" b="1" dirty="0">
                <a:solidFill>
                  <a:srgbClr val="78350F"/>
                </a:solidFill>
                <a:latin typeface="Calibri" pitchFamily="34" charset="0"/>
                <a:ea typeface="Calibri" pitchFamily="34" charset="-122"/>
                <a:cs typeface="Calibri" pitchFamily="34" charset="-120"/>
              </a:rPr>
              <a:t>4 models tied at 72.8%
</a:t>
            </a:r>
            <a:endParaRPr lang="en-US" sz="1500" dirty="0"/>
          </a:p>
          <a:p>
            <a:pPr indent="0" marL="0">
              <a:buNone/>
            </a:pPr>
            <a:r>
              <a:rPr lang="en-US" sz="1500" b="1" dirty="0">
                <a:solidFill>
                  <a:srgbClr val="78350F"/>
                </a:solidFill>
                <a:latin typeface="Calibri" pitchFamily="34" charset="0"/>
                <a:ea typeface="Calibri" pitchFamily="34" charset="-122"/>
                <a:cs typeface="Calibri" pitchFamily="34" charset="-120"/>
              </a:rPr>
              <a:t>2 models tied at 75.8%
</a:t>
            </a:r>
            <a:endParaRPr lang="en-US" sz="1500" dirty="0"/>
          </a:p>
          <a:p>
            <a:pPr indent="0" marL="0">
              <a:buNone/>
            </a:pPr>
            <a:r>
              <a:rPr lang="en-US" sz="1300" dirty="0">
                <a:solidFill>
                  <a:srgbClr val="78350F"/>
                </a:solidFill>
                <a:latin typeface="Calibri" pitchFamily="34" charset="0"/>
                <a:ea typeface="Calibri" pitchFamily="34" charset="-122"/>
                <a:cs typeface="Calibri" pitchFamily="34" charset="-120"/>
              </a:rPr>
              <a:t>“Pick the top-ranked tool” is choosing among near-equals, not a clear winner.</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200" kern="0" dirty="0">
                <a:solidFill>
                  <a:srgbClr val="059669"/>
                </a:solidFill>
                <a:latin typeface="Calibri" pitchFamily="34" charset="0"/>
                <a:ea typeface="Calibri" pitchFamily="34" charset="-122"/>
                <a:cs typeface="Calibri" pitchFamily="34" charset="-120"/>
              </a:rPr>
              <a:t>SESSION 2: EXPLAIN ERROR (26:00 – 27:00)</a:t>
            </a:r>
            <a:endParaRPr lang="en-US" sz="1100" dirty="0"/>
          </a:p>
        </p:txBody>
      </p:sp>
      <p:sp>
        <p:nvSpPr>
          <p:cNvPr id="3" name="Text 1"/>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When code breaks, ask before you fix</a:t>
            </a:r>
            <a:endParaRPr lang="en-US" sz="2800" dirty="0"/>
          </a:p>
        </p:txBody>
      </p:sp>
      <p:sp>
        <p:nvSpPr>
          <p:cNvPr id="4" name="Shape 2"/>
          <p:cNvSpPr/>
          <p:nvPr/>
        </p:nvSpPr>
        <p:spPr>
          <a:xfrm>
            <a:off x="457200" y="1371600"/>
            <a:ext cx="4023360" cy="2926080"/>
          </a:xfrm>
          <a:prstGeom prst="roundRect">
            <a:avLst>
              <a:gd name="adj" fmla="val 3750"/>
            </a:avLst>
          </a:prstGeom>
          <a:solidFill>
            <a:srgbClr val="FEF2F2"/>
          </a:solidFill>
          <a:ln w="12700">
            <a:solidFill>
              <a:srgbClr val="FECACA"/>
            </a:solidFill>
            <a:prstDash val="solid"/>
          </a:ln>
        </p:spPr>
      </p:sp>
      <p:sp>
        <p:nvSpPr>
          <p:cNvPr id="5" name="Text 3"/>
          <p:cNvSpPr txBox="1"/>
          <p:nvPr/>
        </p:nvSpPr>
        <p:spPr>
          <a:xfrm>
            <a:off x="640080" y="1481328"/>
            <a:ext cx="3657600" cy="228600"/>
          </a:xfrm>
          <a:prstGeom prst="rect">
            <a:avLst/>
          </a:prstGeom>
          <a:noFill/>
          <a:ln/>
        </p:spPr>
        <p:txBody>
          <a:bodyPr wrap="square" lIns="0" tIns="0" rIns="0" bIns="0" rtlCol="0" anchor="ctr"/>
          <a:lstStyle/>
          <a:p>
            <a:pPr indent="0" marL="0">
              <a:buNone/>
            </a:pPr>
            <a:r>
              <a:rPr lang="en-US" sz="1000" b="1" spc="100" kern="0" dirty="0">
                <a:solidFill>
                  <a:srgbClr val="B91C1C"/>
                </a:solidFill>
                <a:latin typeface="Calibri" pitchFamily="34" charset="0"/>
                <a:ea typeface="Calibri" pitchFamily="34" charset="-122"/>
                <a:cs typeface="Calibri" pitchFamily="34" charset="-120"/>
              </a:rPr>
              <a:t>THE MISTAKE (ON PURPOSE)</a:t>
            </a:r>
            <a:endParaRPr lang="en-US" sz="1000" dirty="0"/>
          </a:p>
        </p:txBody>
      </p:sp>
      <p:sp>
        <p:nvSpPr>
          <p:cNvPr id="6" name="Shape 4"/>
          <p:cNvSpPr/>
          <p:nvPr/>
        </p:nvSpPr>
        <p:spPr>
          <a:xfrm>
            <a:off x="640080" y="1783080"/>
            <a:ext cx="3657600" cy="502920"/>
          </a:xfrm>
          <a:prstGeom prst="roundRect">
            <a:avLst>
              <a:gd name="adj" fmla="val 21818"/>
            </a:avLst>
          </a:prstGeom>
          <a:solidFill>
            <a:srgbClr val="0F172A"/>
          </a:solidFill>
          <a:ln w="12700">
            <a:solidFill>
              <a:srgbClr val="0F172A"/>
            </a:solidFill>
            <a:prstDash val="solid"/>
          </a:ln>
        </p:spPr>
      </p:sp>
      <p:sp>
        <p:nvSpPr>
          <p:cNvPr id="7" name="Text 5"/>
          <p:cNvSpPr txBox="1"/>
          <p:nvPr/>
        </p:nvSpPr>
        <p:spPr>
          <a:xfrm>
            <a:off x="777240" y="1783080"/>
            <a:ext cx="3383280" cy="502920"/>
          </a:xfrm>
          <a:prstGeom prst="rect">
            <a:avLst/>
          </a:prstGeom>
          <a:noFill/>
          <a:ln/>
        </p:spPr>
        <p:txBody>
          <a:bodyPr wrap="square" lIns="0" tIns="0" rIns="0" bIns="0" rtlCol="0" anchor="ctr"/>
          <a:lstStyle/>
          <a:p>
            <a:pPr indent="0" marL="0">
              <a:buNone/>
            </a:pPr>
            <a:r>
              <a:rPr lang="en-US" sz="1300" dirty="0">
                <a:solidFill>
                  <a:srgbClr val="FCA5A5"/>
                </a:solidFill>
                <a:latin typeface="Courier New" pitchFamily="34" charset="0"/>
                <a:ea typeface="Courier New" pitchFamily="34" charset="-122"/>
                <a:cs typeface="Courier New" pitchFamily="34" charset="-120"/>
              </a:rPr>
              <a:t>df['scor_pct'].max()</a:t>
            </a:r>
            <a:endParaRPr lang="en-US" sz="1300" dirty="0"/>
          </a:p>
        </p:txBody>
      </p:sp>
      <p:sp>
        <p:nvSpPr>
          <p:cNvPr id="8" name="Text 6"/>
          <p:cNvSpPr txBox="1"/>
          <p:nvPr/>
        </p:nvSpPr>
        <p:spPr>
          <a:xfrm>
            <a:off x="640080" y="2423160"/>
            <a:ext cx="3657600" cy="457200"/>
          </a:xfrm>
          <a:prstGeom prst="rect">
            <a:avLst/>
          </a:prstGeom>
          <a:noFill/>
          <a:ln/>
        </p:spPr>
        <p:txBody>
          <a:bodyPr wrap="square" lIns="0" tIns="0" rIns="0" bIns="0" rtlCol="0" anchor="t"/>
          <a:lstStyle/>
          <a:p>
            <a:pPr indent="0" marL="0">
              <a:buNone/>
            </a:pPr>
            <a:r>
              <a:rPr lang="en-US" sz="1300" dirty="0">
                <a:solidFill>
                  <a:srgbClr val="7F1D1D"/>
                </a:solidFill>
                <a:latin typeface="Calibri" pitchFamily="34" charset="0"/>
                <a:ea typeface="Calibri" pitchFamily="34" charset="-122"/>
                <a:cs typeface="Calibri" pitchFamily="34" charset="-120"/>
              </a:rPr>
              <a:t>The column is score_pct. This typo raises a KeyError.</a:t>
            </a:r>
            <a:endParaRPr lang="en-US" sz="1300" dirty="0"/>
          </a:p>
        </p:txBody>
      </p:sp>
      <p:sp>
        <p:nvSpPr>
          <p:cNvPr id="9" name="Text 7"/>
          <p:cNvSpPr txBox="1"/>
          <p:nvPr/>
        </p:nvSpPr>
        <p:spPr>
          <a:xfrm>
            <a:off x="640080" y="3703320"/>
            <a:ext cx="3657600" cy="457200"/>
          </a:xfrm>
          <a:prstGeom prst="rect">
            <a:avLst/>
          </a:prstGeom>
          <a:noFill/>
          <a:ln/>
        </p:spPr>
        <p:txBody>
          <a:bodyPr wrap="square" lIns="0" tIns="0" rIns="0" bIns="0" rtlCol="0" anchor="t"/>
          <a:lstStyle/>
          <a:p>
            <a:pPr indent="0" marL="0">
              <a:buNone/>
            </a:pPr>
            <a:r>
              <a:rPr lang="en-US" sz="1200" i="1" dirty="0">
                <a:solidFill>
                  <a:srgbClr val="991B1B"/>
                </a:solidFill>
                <a:latin typeface="Calibri" pitchFamily="34" charset="0"/>
                <a:ea typeface="Calibri" pitchFamily="34" charset="-122"/>
                <a:cs typeface="Calibri" pitchFamily="34" charset="-120"/>
              </a:rPr>
              <a:t>Confirmed: the Explain Error button appears under the failed cell's output.</a:t>
            </a:r>
            <a:endParaRPr lang="en-US" sz="1200" dirty="0"/>
          </a:p>
        </p:txBody>
      </p:sp>
      <p:sp>
        <p:nvSpPr>
          <p:cNvPr id="10" name="Shape 8"/>
          <p:cNvSpPr/>
          <p:nvPr/>
        </p:nvSpPr>
        <p:spPr>
          <a:xfrm>
            <a:off x="4663440" y="1371600"/>
            <a:ext cx="4023360" cy="2926080"/>
          </a:xfrm>
          <a:prstGeom prst="roundRect">
            <a:avLst>
              <a:gd name="adj" fmla="val 3750"/>
            </a:avLst>
          </a:prstGeom>
          <a:solidFill>
            <a:srgbClr val="ECFDF5"/>
          </a:solidFill>
          <a:ln w="12700">
            <a:solidFill>
              <a:srgbClr val="A7F3D0"/>
            </a:solidFill>
            <a:prstDash val="solid"/>
          </a:ln>
        </p:spPr>
      </p:sp>
      <p:sp>
        <p:nvSpPr>
          <p:cNvPr id="11" name="Shape 9"/>
          <p:cNvSpPr/>
          <p:nvPr/>
        </p:nvSpPr>
        <p:spPr>
          <a:xfrm>
            <a:off x="4846320" y="1508760"/>
            <a:ext cx="411480" cy="411480"/>
          </a:xfrm>
          <a:prstGeom prst="ellipse">
            <a:avLst/>
          </a:prstGeom>
          <a:solidFill>
            <a:srgbClr val="D1FAE5"/>
          </a:solidFill>
          <a:ln w="12700">
            <a:solidFill>
              <a:srgbClr val="D1FAE5"/>
            </a:solidFill>
            <a:prstDash val="solid"/>
          </a:ln>
        </p:spPr>
      </p:sp>
      <p:pic>
        <p:nvPicPr>
          <p:cNvPr id="12" name="Image 0" descr="preencoded.png">    </p:cNvPr>
          <p:cNvPicPr>
            <a:picLocks noChangeAspect="1"/>
          </p:cNvPicPr>
          <p:nvPr/>
        </p:nvPicPr>
        <p:blipFill>
          <a:blip r:embed="rId1"/>
          <a:stretch>
            <a:fillRect/>
          </a:stretch>
        </p:blipFill>
        <p:spPr>
          <a:xfrm>
            <a:off x="4953305" y="1615745"/>
            <a:ext cx="197510" cy="197510"/>
          </a:xfrm>
          <a:prstGeom prst="rect">
            <a:avLst/>
          </a:prstGeom>
        </p:spPr>
      </p:pic>
      <p:sp>
        <p:nvSpPr>
          <p:cNvPr id="13" name="Text 10"/>
          <p:cNvSpPr txBox="1"/>
          <p:nvPr/>
        </p:nvSpPr>
        <p:spPr>
          <a:xfrm>
            <a:off x="5367528" y="1508760"/>
            <a:ext cx="3108960" cy="411480"/>
          </a:xfrm>
          <a:prstGeom prst="rect">
            <a:avLst/>
          </a:prstGeom>
          <a:noFill/>
          <a:ln/>
        </p:spPr>
        <p:txBody>
          <a:bodyPr wrap="square" lIns="0" tIns="0" rIns="0" bIns="0" rtlCol="0" anchor="ctr"/>
          <a:lstStyle/>
          <a:p>
            <a:pPr indent="0" marL="0">
              <a:buNone/>
            </a:pPr>
            <a:r>
              <a:rPr lang="en-US" sz="1800" b="1" dirty="0">
                <a:solidFill>
                  <a:srgbClr val="166534"/>
                </a:solidFill>
                <a:latin typeface="Calibri" pitchFamily="34" charset="0"/>
                <a:ea typeface="Calibri" pitchFamily="34" charset="-122"/>
                <a:cs typeface="Calibri" pitchFamily="34" charset="-120"/>
              </a:rPr>
              <a:t>Explain Error</a:t>
            </a:r>
            <a:endParaRPr lang="en-US" sz="1800" dirty="0"/>
          </a:p>
        </p:txBody>
      </p:sp>
      <p:sp>
        <p:nvSpPr>
          <p:cNvPr id="14" name="Text 11"/>
          <p:cNvSpPr txBox="1"/>
          <p:nvPr/>
        </p:nvSpPr>
        <p:spPr>
          <a:xfrm>
            <a:off x="4846320" y="2103120"/>
            <a:ext cx="3657600" cy="2103120"/>
          </a:xfrm>
          <a:prstGeom prst="rect">
            <a:avLst/>
          </a:prstGeom>
          <a:noFill/>
          <a:ln/>
        </p:spPr>
        <p:txBody>
          <a:bodyPr wrap="square" lIns="0" tIns="0" rIns="0" bIns="0" rtlCol="0" anchor="t"/>
          <a:lstStyle/>
          <a:p>
            <a:pPr marL="203200" indent="-203200">
              <a:spcAft>
                <a:spcPts val="1000"/>
              </a:spcAft>
              <a:buSzPct val="100000"/>
              <a:buChar char="•"/>
            </a:pPr>
            <a:r>
              <a:rPr lang="en-US" sz="1350" dirty="0">
                <a:solidFill>
                  <a:srgbClr val="14532D"/>
                </a:solidFill>
                <a:latin typeface="Calibri" pitchFamily="34" charset="0"/>
                <a:ea typeface="Calibri" pitchFamily="34" charset="-122"/>
                <a:cs typeface="Calibri" pitchFamily="34" charset="-120"/>
              </a:rPr>
              <a:t>Diagnoses the failed cell</a:t>
            </a:r>
            <a:endParaRPr lang="en-US" sz="1350" dirty="0"/>
          </a:p>
          <a:p>
            <a:pPr marL="203200" indent="-203200">
              <a:spcAft>
                <a:spcPts val="1000"/>
              </a:spcAft>
              <a:buSzPct val="100000"/>
              <a:buChar char="•"/>
            </a:pPr>
            <a:r>
              <a:rPr lang="en-US" sz="1350" dirty="0">
                <a:solidFill>
                  <a:srgbClr val="14532D"/>
                </a:solidFill>
                <a:latin typeface="Calibri" pitchFamily="34" charset="0"/>
                <a:ea typeface="Calibri" pitchFamily="34" charset="-122"/>
                <a:cs typeface="Calibri" pitchFamily="34" charset="-120"/>
              </a:rPr>
              <a:t>Suggests a fix you review before applying</a:t>
            </a:r>
            <a:endParaRPr lang="en-US" sz="1350" dirty="0"/>
          </a:p>
          <a:p>
            <a:pPr marL="203200" indent="-203200">
              <a:spcAft>
                <a:spcPts val="1000"/>
              </a:spcAft>
              <a:buSzPct val="100000"/>
              <a:buChar char="•"/>
            </a:pPr>
            <a:r>
              <a:rPr lang="en-US" sz="1350" dirty="0">
                <a:solidFill>
                  <a:srgbClr val="14532D"/>
                </a:solidFill>
                <a:latin typeface="Calibri" pitchFamily="34" charset="0"/>
                <a:ea typeface="Calibri" pitchFamily="34" charset="-122"/>
                <a:cs typeface="Calibri" pitchFamily="34" charset="-120"/>
              </a:rPr>
              <a:t>This is Colab explaining Colab's own error, not a source citation</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200" kern="0" dirty="0">
                <a:solidFill>
                  <a:srgbClr val="059669"/>
                </a:solidFill>
                <a:latin typeface="Calibri" pitchFamily="34" charset="0"/>
                <a:ea typeface="Calibri" pitchFamily="34" charset="-122"/>
                <a:cs typeface="Calibri" pitchFamily="34" charset="-120"/>
              </a:rPr>
              <a:t>SESSION 2: SAVE &amp; SHARE (27:00 – 28:00)</a:t>
            </a:r>
            <a:endParaRPr lang="en-US" sz="1100" dirty="0"/>
          </a:p>
        </p:txBody>
      </p:sp>
      <p:sp>
        <p:nvSpPr>
          <p:cNvPr id="3" name="Text 1"/>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Where does this notebook actually live?</a:t>
            </a:r>
            <a:endParaRPr lang="en-US" sz="2800" dirty="0"/>
          </a:p>
        </p:txBody>
      </p:sp>
      <p:sp>
        <p:nvSpPr>
          <p:cNvPr id="4" name="Shape 2"/>
          <p:cNvSpPr/>
          <p:nvPr/>
        </p:nvSpPr>
        <p:spPr>
          <a:xfrm>
            <a:off x="457200" y="1325880"/>
            <a:ext cx="2560320" cy="2377440"/>
          </a:xfrm>
          <a:prstGeom prst="roundRect">
            <a:avLst>
              <a:gd name="adj" fmla="val 4615"/>
            </a:avLst>
          </a:prstGeom>
          <a:solidFill>
            <a:srgbClr val="F8FAFC"/>
          </a:solidFill>
          <a:ln w="12700">
            <a:solidFill>
              <a:srgbClr val="E2E8F0"/>
            </a:solidFill>
            <a:prstDash val="solid"/>
          </a:ln>
        </p:spPr>
      </p:sp>
      <p:sp>
        <p:nvSpPr>
          <p:cNvPr id="5" name="Shape 3"/>
          <p:cNvSpPr/>
          <p:nvPr/>
        </p:nvSpPr>
        <p:spPr>
          <a:xfrm>
            <a:off x="640080" y="1508760"/>
            <a:ext cx="502920" cy="502920"/>
          </a:xfrm>
          <a:prstGeom prst="ellipse">
            <a:avLst/>
          </a:prstGeom>
          <a:solidFill>
            <a:srgbClr val="DBEAFE"/>
          </a:solidFill>
          <a:ln w="12700">
            <a:solidFill>
              <a:srgbClr val="DBEAFE"/>
            </a:solidFill>
            <a:prstDash val="solid"/>
          </a:ln>
        </p:spPr>
      </p:sp>
      <p:pic>
        <p:nvPicPr>
          <p:cNvPr id="6" name="Image 0" descr="preencoded.png">    </p:cNvPr>
          <p:cNvPicPr>
            <a:picLocks noChangeAspect="1"/>
          </p:cNvPicPr>
          <p:nvPr/>
        </p:nvPicPr>
        <p:blipFill>
          <a:blip r:embed="rId1"/>
          <a:stretch>
            <a:fillRect/>
          </a:stretch>
        </p:blipFill>
        <p:spPr>
          <a:xfrm>
            <a:off x="770839" y="1639519"/>
            <a:ext cx="241402" cy="241402"/>
          </a:xfrm>
          <a:prstGeom prst="rect">
            <a:avLst/>
          </a:prstGeom>
        </p:spPr>
      </p:pic>
      <p:sp>
        <p:nvSpPr>
          <p:cNvPr id="7" name="Text 4"/>
          <p:cNvSpPr txBox="1"/>
          <p:nvPr/>
        </p:nvSpPr>
        <p:spPr>
          <a:xfrm>
            <a:off x="640080" y="2148840"/>
            <a:ext cx="2194560" cy="45720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Save a copy in Drive</a:t>
            </a:r>
            <a:endParaRPr lang="en-US" sz="1500" dirty="0"/>
          </a:p>
        </p:txBody>
      </p:sp>
      <p:sp>
        <p:nvSpPr>
          <p:cNvPr id="8" name="Text 5"/>
          <p:cNvSpPr txBox="1"/>
          <p:nvPr/>
        </p:nvSpPr>
        <p:spPr>
          <a:xfrm>
            <a:off x="640080" y="2606040"/>
            <a:ext cx="2194560" cy="10515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File → Save, or Save a copy in Drive. Defaults to the Colab Notebooks folder, or back to wherever it was opened from.</a:t>
            </a:r>
            <a:endParaRPr lang="en-US" sz="1150" dirty="0"/>
          </a:p>
        </p:txBody>
      </p:sp>
      <p:sp>
        <p:nvSpPr>
          <p:cNvPr id="9" name="Shape 6"/>
          <p:cNvSpPr/>
          <p:nvPr/>
        </p:nvSpPr>
        <p:spPr>
          <a:xfrm>
            <a:off x="3291840" y="1325880"/>
            <a:ext cx="2560320" cy="2377440"/>
          </a:xfrm>
          <a:prstGeom prst="roundRect">
            <a:avLst>
              <a:gd name="adj" fmla="val 4615"/>
            </a:avLst>
          </a:prstGeom>
          <a:solidFill>
            <a:srgbClr val="F8FAFC"/>
          </a:solidFill>
          <a:ln w="12700">
            <a:solidFill>
              <a:srgbClr val="E2E8F0"/>
            </a:solidFill>
            <a:prstDash val="solid"/>
          </a:ln>
        </p:spPr>
      </p:sp>
      <p:sp>
        <p:nvSpPr>
          <p:cNvPr id="10" name="Shape 7"/>
          <p:cNvSpPr/>
          <p:nvPr/>
        </p:nvSpPr>
        <p:spPr>
          <a:xfrm>
            <a:off x="3474720" y="1508760"/>
            <a:ext cx="502920" cy="502920"/>
          </a:xfrm>
          <a:prstGeom prst="ellipse">
            <a:avLst/>
          </a:prstGeom>
          <a:solidFill>
            <a:srgbClr val="FEF3C7"/>
          </a:solidFill>
          <a:ln w="12700">
            <a:solidFill>
              <a:srgbClr val="FEF3C7"/>
            </a:solidFill>
            <a:prstDash val="solid"/>
          </a:ln>
        </p:spPr>
      </p:sp>
      <p:pic>
        <p:nvPicPr>
          <p:cNvPr id="11" name="Image 1" descr="preencoded.png">    </p:cNvPr>
          <p:cNvPicPr>
            <a:picLocks noChangeAspect="1"/>
          </p:cNvPicPr>
          <p:nvPr/>
        </p:nvPicPr>
        <p:blipFill>
          <a:blip r:embed="rId2"/>
          <a:stretch>
            <a:fillRect/>
          </a:stretch>
        </p:blipFill>
        <p:spPr>
          <a:xfrm>
            <a:off x="3605479" y="1639519"/>
            <a:ext cx="241402" cy="241402"/>
          </a:xfrm>
          <a:prstGeom prst="rect">
            <a:avLst/>
          </a:prstGeom>
        </p:spPr>
      </p:pic>
      <p:sp>
        <p:nvSpPr>
          <p:cNvPr id="12" name="Text 8"/>
          <p:cNvSpPr txBox="1"/>
          <p:nvPr/>
        </p:nvSpPr>
        <p:spPr>
          <a:xfrm>
            <a:off x="3474720" y="2148840"/>
            <a:ext cx="2194560" cy="45720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Locate in Drive</a:t>
            </a:r>
            <a:endParaRPr lang="en-US" sz="1500" dirty="0"/>
          </a:p>
        </p:txBody>
      </p:sp>
      <p:sp>
        <p:nvSpPr>
          <p:cNvPr id="13" name="Text 9"/>
          <p:cNvSpPr txBox="1"/>
          <p:nvPr/>
        </p:nvSpPr>
        <p:spPr>
          <a:xfrm>
            <a:off x="3474720" y="2606040"/>
            <a:ext cx="2194560" cy="10515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File → Locate in Drive. Opens Drive and highlights the exact file, so you can confirm where it landed.</a:t>
            </a:r>
            <a:endParaRPr lang="en-US" sz="1150" dirty="0"/>
          </a:p>
        </p:txBody>
      </p:sp>
      <p:sp>
        <p:nvSpPr>
          <p:cNvPr id="14" name="Shape 10"/>
          <p:cNvSpPr/>
          <p:nvPr/>
        </p:nvSpPr>
        <p:spPr>
          <a:xfrm>
            <a:off x="6126480" y="1325880"/>
            <a:ext cx="2560320" cy="2377440"/>
          </a:xfrm>
          <a:prstGeom prst="roundRect">
            <a:avLst>
              <a:gd name="adj" fmla="val 4615"/>
            </a:avLst>
          </a:prstGeom>
          <a:solidFill>
            <a:srgbClr val="F8FAFC"/>
          </a:solidFill>
          <a:ln w="12700">
            <a:solidFill>
              <a:srgbClr val="E2E8F0"/>
            </a:solidFill>
            <a:prstDash val="solid"/>
          </a:ln>
        </p:spPr>
      </p:sp>
      <p:sp>
        <p:nvSpPr>
          <p:cNvPr id="15" name="Shape 11"/>
          <p:cNvSpPr/>
          <p:nvPr/>
        </p:nvSpPr>
        <p:spPr>
          <a:xfrm>
            <a:off x="6309360" y="1508760"/>
            <a:ext cx="502920" cy="502920"/>
          </a:xfrm>
          <a:prstGeom prst="ellipse">
            <a:avLst/>
          </a:prstGeom>
          <a:solidFill>
            <a:srgbClr val="D1FAE5"/>
          </a:solidFill>
          <a:ln w="12700">
            <a:solidFill>
              <a:srgbClr val="D1FAE5"/>
            </a:solidFill>
            <a:prstDash val="solid"/>
          </a:ln>
        </p:spPr>
      </p:sp>
      <p:pic>
        <p:nvPicPr>
          <p:cNvPr id="16" name="Image 2" descr="preencoded.png">    </p:cNvPr>
          <p:cNvPicPr>
            <a:picLocks noChangeAspect="1"/>
          </p:cNvPicPr>
          <p:nvPr/>
        </p:nvPicPr>
        <p:blipFill>
          <a:blip r:embed="rId3"/>
          <a:stretch>
            <a:fillRect/>
          </a:stretch>
        </p:blipFill>
        <p:spPr>
          <a:xfrm>
            <a:off x="6440119" y="1639519"/>
            <a:ext cx="241402" cy="241402"/>
          </a:xfrm>
          <a:prstGeom prst="rect">
            <a:avLst/>
          </a:prstGeom>
        </p:spPr>
      </p:pic>
      <p:sp>
        <p:nvSpPr>
          <p:cNvPr id="17" name="Text 12"/>
          <p:cNvSpPr txBox="1"/>
          <p:nvPr/>
        </p:nvSpPr>
        <p:spPr>
          <a:xfrm>
            <a:off x="6309360" y="2148840"/>
            <a:ext cx="2194560" cy="457200"/>
          </a:xfrm>
          <a:prstGeom prst="rect">
            <a:avLst/>
          </a:prstGeom>
          <a:noFill/>
          <a:ln/>
        </p:spPr>
        <p:txBody>
          <a:bodyPr wrap="square" lIns="0" tIns="0" rIns="0" bIns="0" rtlCol="0" anchor="t"/>
          <a:lstStyle/>
          <a:p>
            <a:pPr indent="0" marL="0">
              <a:buNone/>
            </a:pPr>
            <a:r>
              <a:rPr lang="en-US" sz="1500" b="1" dirty="0">
                <a:solidFill>
                  <a:srgbClr val="0F172A"/>
                </a:solidFill>
                <a:latin typeface="Calibri" pitchFamily="34" charset="0"/>
                <a:ea typeface="Calibri" pitchFamily="34" charset="-122"/>
                <a:cs typeface="Calibri" pitchFamily="34" charset="-120"/>
              </a:rPr>
              <a:t>Download .ipynb</a:t>
            </a:r>
            <a:endParaRPr lang="en-US" sz="1500" dirty="0"/>
          </a:p>
        </p:txBody>
      </p:sp>
      <p:sp>
        <p:nvSpPr>
          <p:cNvPr id="18" name="Text 13"/>
          <p:cNvSpPr txBox="1"/>
          <p:nvPr/>
        </p:nvSpPr>
        <p:spPr>
          <a:xfrm>
            <a:off x="6309360" y="2606040"/>
            <a:ext cx="2194560" cy="1051560"/>
          </a:xfrm>
          <a:prstGeom prst="rect">
            <a:avLst/>
          </a:prstGeom>
          <a:noFill/>
          <a:ln/>
        </p:spPr>
        <p:txBody>
          <a:bodyPr wrap="square" lIns="0" tIns="0" rIns="0" bIns="0" rtlCol="0" anchor="t"/>
          <a:lstStyle/>
          <a:p>
            <a:pPr indent="0" marL="0">
              <a:buNone/>
            </a:pPr>
            <a:r>
              <a:rPr lang="en-US" sz="1150" dirty="0">
                <a:solidFill>
                  <a:srgbClr val="475569"/>
                </a:solidFill>
                <a:latin typeface="Calibri" pitchFamily="34" charset="0"/>
                <a:ea typeface="Calibri" pitchFamily="34" charset="-122"/>
                <a:cs typeface="Calibri" pitchFamily="34" charset="-120"/>
              </a:rPr>
              <a:t>File → Download → Download .ipynb. Saves a local snapshot to your laptop's Downloads folder.</a:t>
            </a:r>
            <a:endParaRPr lang="en-US" sz="1150" dirty="0"/>
          </a:p>
        </p:txBody>
      </p:sp>
      <p:sp>
        <p:nvSpPr>
          <p:cNvPr id="19" name="Shape 14"/>
          <p:cNvSpPr/>
          <p:nvPr/>
        </p:nvSpPr>
        <p:spPr>
          <a:xfrm>
            <a:off x="457200" y="3886200"/>
            <a:ext cx="8229600" cy="777240"/>
          </a:xfrm>
          <a:prstGeom prst="roundRect">
            <a:avLst>
              <a:gd name="adj" fmla="val 14118"/>
            </a:avLst>
          </a:prstGeom>
          <a:solidFill>
            <a:srgbClr val="FFFBEB"/>
          </a:solidFill>
          <a:ln w="12700">
            <a:solidFill>
              <a:srgbClr val="FDE68A"/>
            </a:solidFill>
            <a:prstDash val="solid"/>
          </a:ln>
        </p:spPr>
      </p:sp>
      <p:sp>
        <p:nvSpPr>
          <p:cNvPr id="20" name="Shape 15"/>
          <p:cNvSpPr/>
          <p:nvPr/>
        </p:nvSpPr>
        <p:spPr>
          <a:xfrm>
            <a:off x="621792" y="4041648"/>
            <a:ext cx="457200" cy="457200"/>
          </a:xfrm>
          <a:prstGeom prst="ellipse">
            <a:avLst/>
          </a:prstGeom>
          <a:solidFill>
            <a:srgbClr val="FEF3C7"/>
          </a:solidFill>
          <a:ln w="12700">
            <a:solidFill>
              <a:srgbClr val="FEF3C7"/>
            </a:solidFill>
            <a:prstDash val="solid"/>
          </a:ln>
        </p:spPr>
      </p:sp>
      <p:pic>
        <p:nvPicPr>
          <p:cNvPr id="21" name="Image 3" descr="preencoded.png">    </p:cNvPr>
          <p:cNvPicPr>
            <a:picLocks noChangeAspect="1"/>
          </p:cNvPicPr>
          <p:nvPr/>
        </p:nvPicPr>
        <p:blipFill>
          <a:blip r:embed="rId4"/>
          <a:stretch>
            <a:fillRect/>
          </a:stretch>
        </p:blipFill>
        <p:spPr>
          <a:xfrm>
            <a:off x="740664" y="4160520"/>
            <a:ext cx="219456" cy="219456"/>
          </a:xfrm>
          <a:prstGeom prst="rect">
            <a:avLst/>
          </a:prstGeom>
        </p:spPr>
      </p:pic>
      <p:sp>
        <p:nvSpPr>
          <p:cNvPr id="22" name="Text 16"/>
          <p:cNvSpPr txBox="1"/>
          <p:nvPr/>
        </p:nvSpPr>
        <p:spPr>
          <a:xfrm>
            <a:off x="1234440" y="3886200"/>
            <a:ext cx="7315200" cy="777240"/>
          </a:xfrm>
          <a:prstGeom prst="rect">
            <a:avLst/>
          </a:prstGeom>
          <a:noFill/>
          <a:ln/>
        </p:spPr>
        <p:txBody>
          <a:bodyPr wrap="square" lIns="0" tIns="0" rIns="0" bIns="0" rtlCol="0" anchor="ctr"/>
          <a:lstStyle/>
          <a:p>
            <a:pPr indent="0" marL="0">
              <a:buNone/>
            </a:pPr>
            <a:r>
              <a:rPr lang="en-US" sz="1300" b="1" dirty="0">
                <a:solidFill>
                  <a:srgbClr val="78350F"/>
                </a:solidFill>
                <a:latin typeface="Calibri" pitchFamily="34" charset="0"/>
                <a:ea typeface="Calibri" pitchFamily="34" charset="-122"/>
                <a:cs typeface="Calibri" pitchFamily="34" charset="-120"/>
              </a:rPr>
              <a:t>The Share button generates a link for collaborators, confirmed working. </a:t>
            </a:r>
            <a:pPr indent="0" marL="0">
              <a:buNone/>
            </a:pPr>
            <a:r>
              <a:rPr lang="en-US" sz="1300" dirty="0">
                <a:solidFill>
                  <a:srgbClr val="78350F"/>
                </a:solidFill>
                <a:latin typeface="Calibri" pitchFamily="34" charset="0"/>
                <a:ea typeface="Calibri" pitchFamily="34" charset="-122"/>
                <a:cs typeface="Calibri" pitchFamily="34" charset="-120"/>
              </a:rPr>
              <a:t>Mounting Drive (slide 4) gives the running session access to files; saving the notebook is about the file itself.</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200" kern="0" dirty="0">
                <a:solidFill>
                  <a:srgbClr val="059669"/>
                </a:solidFill>
                <a:latin typeface="Calibri" pitchFamily="34" charset="0"/>
                <a:ea typeface="Calibri" pitchFamily="34" charset="-122"/>
                <a:cs typeface="Calibri" pitchFamily="34" charset="-120"/>
              </a:rPr>
              <a:t>SESSION 2: COMPUTE TIERS (28:00 – 29:00)</a:t>
            </a:r>
            <a:endParaRPr lang="en-US" sz="1100" dirty="0"/>
          </a:p>
        </p:txBody>
      </p:sp>
      <p:sp>
        <p:nvSpPr>
          <p:cNvPr id="3" name="Text 1"/>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Check current prices and limits live</a:t>
            </a:r>
            <a:endParaRPr lang="en-US" sz="2800" dirty="0"/>
          </a:p>
        </p:txBody>
      </p:sp>
      <p:sp>
        <p:nvSpPr>
          <p:cNvPr id="4" name="Shape 2"/>
          <p:cNvSpPr/>
          <p:nvPr/>
        </p:nvSpPr>
        <p:spPr>
          <a:xfrm>
            <a:off x="457200" y="1371600"/>
            <a:ext cx="4480560" cy="2971800"/>
          </a:xfrm>
          <a:prstGeom prst="roundRect">
            <a:avLst>
              <a:gd name="adj" fmla="val 3692"/>
            </a:avLst>
          </a:prstGeom>
          <a:solidFill>
            <a:srgbClr val="EFF6FF"/>
          </a:solidFill>
          <a:ln w="12700">
            <a:solidFill>
              <a:srgbClr val="BFDBFE"/>
            </a:solidFill>
            <a:prstDash val="solid"/>
          </a:ln>
        </p:spPr>
      </p:sp>
      <p:sp>
        <p:nvSpPr>
          <p:cNvPr id="5" name="Shape 3"/>
          <p:cNvSpPr/>
          <p:nvPr/>
        </p:nvSpPr>
        <p:spPr>
          <a:xfrm>
            <a:off x="685800" y="1600200"/>
            <a:ext cx="548640" cy="548640"/>
          </a:xfrm>
          <a:prstGeom prst="ellipse">
            <a:avLst/>
          </a:prstGeom>
          <a:solidFill>
            <a:srgbClr val="DBEAFE"/>
          </a:solidFill>
          <a:ln w="12700">
            <a:solidFill>
              <a:srgbClr val="DBEAFE"/>
            </a:solidFill>
            <a:prstDash val="solid"/>
          </a:ln>
        </p:spPr>
      </p:sp>
      <p:pic>
        <p:nvPicPr>
          <p:cNvPr id="6" name="Image 0" descr="preencoded.png">    </p:cNvPr>
          <p:cNvPicPr>
            <a:picLocks noChangeAspect="1"/>
          </p:cNvPicPr>
          <p:nvPr/>
        </p:nvPicPr>
        <p:blipFill>
          <a:blip r:embed="rId1"/>
          <a:stretch>
            <a:fillRect/>
          </a:stretch>
        </p:blipFill>
        <p:spPr>
          <a:xfrm>
            <a:off x="828446" y="1742846"/>
            <a:ext cx="263347" cy="263347"/>
          </a:xfrm>
          <a:prstGeom prst="rect">
            <a:avLst/>
          </a:prstGeom>
        </p:spPr>
      </p:pic>
      <p:sp>
        <p:nvSpPr>
          <p:cNvPr id="7" name="Text 4">
            <a:hlinkClick r:id="rId2" tooltip=""/>
          </p:cNvPr>
          <p:cNvSpPr txBox="1"/>
          <p:nvPr/>
        </p:nvSpPr>
        <p:spPr>
          <a:xfrm>
            <a:off x="685800" y="2286000"/>
            <a:ext cx="4114800" cy="502920"/>
          </a:xfrm>
          <a:prstGeom prst="rect">
            <a:avLst/>
          </a:prstGeom>
          <a:noFill/>
          <a:ln/>
        </p:spPr>
        <p:txBody>
          <a:bodyPr wrap="square" lIns="0" tIns="0" rIns="0" bIns="0" rtlCol="0" anchor="ctr"/>
          <a:lstStyle/>
          <a:p>
            <a:pPr indent="0" marL="0">
              <a:buNone/>
            </a:pPr>
            <a:r>
              <a:rPr lang="en-US" sz="2200" b="1" u="sng" dirty="0">
                <a:solidFill>
                  <a:srgbClr val="2563EB"/>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colab.research.google.com</a:t>
            </a:r>
            <a:endParaRPr lang="en-US" sz="2200" dirty="0"/>
          </a:p>
        </p:txBody>
      </p:sp>
      <p:sp>
        <p:nvSpPr>
          <p:cNvPr id="8" name="Text 5"/>
          <p:cNvSpPr txBox="1"/>
          <p:nvPr/>
        </p:nvSpPr>
        <p:spPr>
          <a:xfrm>
            <a:off x="685800" y="2926080"/>
            <a:ext cx="4023360" cy="731520"/>
          </a:xfrm>
          <a:prstGeom prst="rect">
            <a:avLst/>
          </a:prstGeom>
          <a:noFill/>
          <a:ln/>
        </p:spPr>
        <p:txBody>
          <a:bodyPr wrap="square" lIns="0" tIns="0" rIns="0" bIns="0" rtlCol="0" anchor="t"/>
          <a:lstStyle/>
          <a:p>
            <a:pPr indent="0" marL="0">
              <a:buNone/>
            </a:pPr>
            <a:r>
              <a:rPr lang="en-US" sz="1350" dirty="0">
                <a:solidFill>
                  <a:srgbClr val="475569"/>
                </a:solidFill>
                <a:latin typeface="Calibri" pitchFamily="34" charset="0"/>
                <a:ea typeface="Calibri" pitchFamily="34" charset="-122"/>
                <a:cs typeface="Calibri" pitchFamily="34" charset="-120"/>
              </a:rPr>
              <a:t>Prices, compute units, and timeout rules change, so read them live rather than from a frozen slide.</a:t>
            </a:r>
            <a:endParaRPr lang="en-US" sz="1350" dirty="0"/>
          </a:p>
        </p:txBody>
      </p:sp>
      <p:sp>
        <p:nvSpPr>
          <p:cNvPr id="9" name="Text 6"/>
          <p:cNvSpPr txBox="1"/>
          <p:nvPr/>
        </p:nvSpPr>
        <p:spPr>
          <a:xfrm>
            <a:off x="685800" y="3794760"/>
            <a:ext cx="4023360" cy="411480"/>
          </a:xfrm>
          <a:prstGeom prst="rect">
            <a:avLst/>
          </a:prstGeom>
          <a:noFill/>
          <a:ln/>
        </p:spPr>
        <p:txBody>
          <a:bodyPr wrap="square" lIns="0" tIns="0" rIns="0" bIns="0" rtlCol="0" anchor="t"/>
          <a:lstStyle/>
          <a:p>
            <a:pPr indent="0" marL="0">
              <a:buNone/>
            </a:pPr>
            <a:r>
              <a:rPr lang="en-US" sz="1150" i="1" dirty="0">
                <a:solidFill>
                  <a:srgbClr val="64748B"/>
                </a:solidFill>
                <a:latin typeface="Calibri" pitchFamily="34" charset="0"/>
                <a:ea typeface="Calibri" pitchFamily="34" charset="-122"/>
                <a:cs typeface="Calibri" pitchFamily="34" charset="-120"/>
              </a:rPr>
              <a:t>GPU availability is never guaranteed on any tier.</a:t>
            </a:r>
            <a:endParaRPr lang="en-US" sz="1150" dirty="0"/>
          </a:p>
        </p:txBody>
      </p:sp>
      <p:sp>
        <p:nvSpPr>
          <p:cNvPr id="10" name="Text 7"/>
          <p:cNvSpPr txBox="1"/>
          <p:nvPr/>
        </p:nvSpPr>
        <p:spPr>
          <a:xfrm>
            <a:off x="5257800" y="1371600"/>
            <a:ext cx="3429000" cy="228600"/>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TO COMPARE</a:t>
            </a:r>
            <a:endParaRPr lang="en-US" sz="1100" dirty="0"/>
          </a:p>
        </p:txBody>
      </p:sp>
      <p:sp>
        <p:nvSpPr>
          <p:cNvPr id="11" name="Shape 8"/>
          <p:cNvSpPr/>
          <p:nvPr/>
        </p:nvSpPr>
        <p:spPr>
          <a:xfrm>
            <a:off x="5257800" y="1737360"/>
            <a:ext cx="3429000" cy="566928"/>
          </a:xfrm>
          <a:prstGeom prst="roundRect">
            <a:avLst>
              <a:gd name="adj" fmla="val 19355"/>
            </a:avLst>
          </a:prstGeom>
          <a:solidFill>
            <a:srgbClr val="F8FAFC"/>
          </a:solidFill>
          <a:ln w="12700">
            <a:solidFill>
              <a:srgbClr val="E2E8F0"/>
            </a:solidFill>
            <a:prstDash val="solid"/>
          </a:ln>
        </p:spPr>
      </p:sp>
      <p:sp>
        <p:nvSpPr>
          <p:cNvPr id="12" name="Shape 9"/>
          <p:cNvSpPr/>
          <p:nvPr/>
        </p:nvSpPr>
        <p:spPr>
          <a:xfrm>
            <a:off x="5394960" y="1837944"/>
            <a:ext cx="365760" cy="365760"/>
          </a:xfrm>
          <a:prstGeom prst="ellipse">
            <a:avLst/>
          </a:prstGeom>
          <a:solidFill>
            <a:srgbClr val="D1FAE5"/>
          </a:solidFill>
          <a:ln w="12700">
            <a:solidFill>
              <a:srgbClr val="D1FAE5"/>
            </a:solidFill>
            <a:prstDash val="solid"/>
          </a:ln>
        </p:spPr>
      </p:sp>
      <p:pic>
        <p:nvPicPr>
          <p:cNvPr id="13" name="Image 1" descr="preencoded.png">    </p:cNvPr>
          <p:cNvPicPr>
            <a:picLocks noChangeAspect="1"/>
          </p:cNvPicPr>
          <p:nvPr/>
        </p:nvPicPr>
        <p:blipFill>
          <a:blip r:embed="rId3"/>
          <a:stretch>
            <a:fillRect/>
          </a:stretch>
        </p:blipFill>
        <p:spPr>
          <a:xfrm>
            <a:off x="5490058" y="1933042"/>
            <a:ext cx="175565" cy="175565"/>
          </a:xfrm>
          <a:prstGeom prst="rect">
            <a:avLst/>
          </a:prstGeom>
        </p:spPr>
      </p:pic>
      <p:sp>
        <p:nvSpPr>
          <p:cNvPr id="14" name="Text 10"/>
          <p:cNvSpPr txBox="1"/>
          <p:nvPr/>
        </p:nvSpPr>
        <p:spPr>
          <a:xfrm>
            <a:off x="5897880" y="1737360"/>
            <a:ext cx="2697480" cy="56692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Free vs. Pro vs. Pro+ price</a:t>
            </a:r>
            <a:endParaRPr lang="en-US" sz="1350" dirty="0"/>
          </a:p>
        </p:txBody>
      </p:sp>
      <p:sp>
        <p:nvSpPr>
          <p:cNvPr id="15" name="Shape 11"/>
          <p:cNvSpPr/>
          <p:nvPr/>
        </p:nvSpPr>
        <p:spPr>
          <a:xfrm>
            <a:off x="5257800" y="2395728"/>
            <a:ext cx="3429000" cy="566928"/>
          </a:xfrm>
          <a:prstGeom prst="roundRect">
            <a:avLst>
              <a:gd name="adj" fmla="val 19355"/>
            </a:avLst>
          </a:prstGeom>
          <a:solidFill>
            <a:srgbClr val="F8FAFC"/>
          </a:solidFill>
          <a:ln w="12700">
            <a:solidFill>
              <a:srgbClr val="E2E8F0"/>
            </a:solidFill>
            <a:prstDash val="solid"/>
          </a:ln>
        </p:spPr>
      </p:sp>
      <p:sp>
        <p:nvSpPr>
          <p:cNvPr id="16" name="Shape 12"/>
          <p:cNvSpPr/>
          <p:nvPr/>
        </p:nvSpPr>
        <p:spPr>
          <a:xfrm>
            <a:off x="5394960" y="2496312"/>
            <a:ext cx="365760" cy="365760"/>
          </a:xfrm>
          <a:prstGeom prst="ellipse">
            <a:avLst/>
          </a:prstGeom>
          <a:solidFill>
            <a:srgbClr val="D1FAE5"/>
          </a:solidFill>
          <a:ln w="12700">
            <a:solidFill>
              <a:srgbClr val="D1FAE5"/>
            </a:solidFill>
            <a:prstDash val="solid"/>
          </a:ln>
        </p:spPr>
      </p:sp>
      <p:pic>
        <p:nvPicPr>
          <p:cNvPr id="17" name="Image 2" descr="preencoded.png">    </p:cNvPr>
          <p:cNvPicPr>
            <a:picLocks noChangeAspect="1"/>
          </p:cNvPicPr>
          <p:nvPr/>
        </p:nvPicPr>
        <p:blipFill>
          <a:blip r:embed="rId4"/>
          <a:stretch>
            <a:fillRect/>
          </a:stretch>
        </p:blipFill>
        <p:spPr>
          <a:xfrm>
            <a:off x="5490058" y="2591410"/>
            <a:ext cx="175565" cy="175565"/>
          </a:xfrm>
          <a:prstGeom prst="rect">
            <a:avLst/>
          </a:prstGeom>
        </p:spPr>
      </p:pic>
      <p:sp>
        <p:nvSpPr>
          <p:cNvPr id="18" name="Text 13"/>
          <p:cNvSpPr txBox="1"/>
          <p:nvPr/>
        </p:nvSpPr>
        <p:spPr>
          <a:xfrm>
            <a:off x="5897880" y="2395728"/>
            <a:ext cx="2697480" cy="56692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Compute units per month</a:t>
            </a:r>
            <a:endParaRPr lang="en-US" sz="1350" dirty="0"/>
          </a:p>
        </p:txBody>
      </p:sp>
      <p:sp>
        <p:nvSpPr>
          <p:cNvPr id="19" name="Shape 14"/>
          <p:cNvSpPr/>
          <p:nvPr/>
        </p:nvSpPr>
        <p:spPr>
          <a:xfrm>
            <a:off x="5257800" y="3054096"/>
            <a:ext cx="3429000" cy="566928"/>
          </a:xfrm>
          <a:prstGeom prst="roundRect">
            <a:avLst>
              <a:gd name="adj" fmla="val 19355"/>
            </a:avLst>
          </a:prstGeom>
          <a:solidFill>
            <a:srgbClr val="F8FAFC"/>
          </a:solidFill>
          <a:ln w="12700">
            <a:solidFill>
              <a:srgbClr val="E2E8F0"/>
            </a:solidFill>
            <a:prstDash val="solid"/>
          </a:ln>
        </p:spPr>
      </p:sp>
      <p:sp>
        <p:nvSpPr>
          <p:cNvPr id="20" name="Shape 15"/>
          <p:cNvSpPr/>
          <p:nvPr/>
        </p:nvSpPr>
        <p:spPr>
          <a:xfrm>
            <a:off x="5394960" y="3154680"/>
            <a:ext cx="365760" cy="365760"/>
          </a:xfrm>
          <a:prstGeom prst="ellipse">
            <a:avLst/>
          </a:prstGeom>
          <a:solidFill>
            <a:srgbClr val="D1FAE5"/>
          </a:solidFill>
          <a:ln w="12700">
            <a:solidFill>
              <a:srgbClr val="D1FAE5"/>
            </a:solidFill>
            <a:prstDash val="solid"/>
          </a:ln>
        </p:spPr>
      </p:sp>
      <p:pic>
        <p:nvPicPr>
          <p:cNvPr id="21" name="Image 3" descr="preencoded.png">    </p:cNvPr>
          <p:cNvPicPr>
            <a:picLocks noChangeAspect="1"/>
          </p:cNvPicPr>
          <p:nvPr/>
        </p:nvPicPr>
        <p:blipFill>
          <a:blip r:embed="rId5"/>
          <a:stretch>
            <a:fillRect/>
          </a:stretch>
        </p:blipFill>
        <p:spPr>
          <a:xfrm>
            <a:off x="5490058" y="3249778"/>
            <a:ext cx="175565" cy="175565"/>
          </a:xfrm>
          <a:prstGeom prst="rect">
            <a:avLst/>
          </a:prstGeom>
        </p:spPr>
      </p:pic>
      <p:sp>
        <p:nvSpPr>
          <p:cNvPr id="22" name="Text 16"/>
          <p:cNvSpPr txBox="1"/>
          <p:nvPr/>
        </p:nvSpPr>
        <p:spPr>
          <a:xfrm>
            <a:off x="5897880" y="3054096"/>
            <a:ext cx="2697480" cy="56692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Idle and max-session timeouts</a:t>
            </a:r>
            <a:endParaRPr lang="en-US" sz="1350" dirty="0"/>
          </a:p>
        </p:txBody>
      </p:sp>
      <p:sp>
        <p:nvSpPr>
          <p:cNvPr id="23" name="Shape 17"/>
          <p:cNvSpPr/>
          <p:nvPr/>
        </p:nvSpPr>
        <p:spPr>
          <a:xfrm>
            <a:off x="5257800" y="3712464"/>
            <a:ext cx="3429000" cy="566928"/>
          </a:xfrm>
          <a:prstGeom prst="roundRect">
            <a:avLst>
              <a:gd name="adj" fmla="val 19355"/>
            </a:avLst>
          </a:prstGeom>
          <a:solidFill>
            <a:srgbClr val="F8FAFC"/>
          </a:solidFill>
          <a:ln w="12700">
            <a:solidFill>
              <a:srgbClr val="E2E8F0"/>
            </a:solidFill>
            <a:prstDash val="solid"/>
          </a:ln>
        </p:spPr>
      </p:sp>
      <p:sp>
        <p:nvSpPr>
          <p:cNvPr id="24" name="Shape 18"/>
          <p:cNvSpPr/>
          <p:nvPr/>
        </p:nvSpPr>
        <p:spPr>
          <a:xfrm>
            <a:off x="5394960" y="3813048"/>
            <a:ext cx="365760" cy="365760"/>
          </a:xfrm>
          <a:prstGeom prst="ellipse">
            <a:avLst/>
          </a:prstGeom>
          <a:solidFill>
            <a:srgbClr val="D1FAE5"/>
          </a:solidFill>
          <a:ln w="12700">
            <a:solidFill>
              <a:srgbClr val="D1FAE5"/>
            </a:solidFill>
            <a:prstDash val="solid"/>
          </a:ln>
        </p:spPr>
      </p:sp>
      <p:pic>
        <p:nvPicPr>
          <p:cNvPr id="25" name="Image 4" descr="preencoded.png">    </p:cNvPr>
          <p:cNvPicPr>
            <a:picLocks noChangeAspect="1"/>
          </p:cNvPicPr>
          <p:nvPr/>
        </p:nvPicPr>
        <p:blipFill>
          <a:blip r:embed="rId6"/>
          <a:stretch>
            <a:fillRect/>
          </a:stretch>
        </p:blipFill>
        <p:spPr>
          <a:xfrm>
            <a:off x="5490058" y="3908146"/>
            <a:ext cx="175565" cy="175565"/>
          </a:xfrm>
          <a:prstGeom prst="rect">
            <a:avLst/>
          </a:prstGeom>
        </p:spPr>
      </p:pic>
      <p:sp>
        <p:nvSpPr>
          <p:cNvPr id="26" name="Text 19"/>
          <p:cNvSpPr txBox="1"/>
          <p:nvPr/>
        </p:nvSpPr>
        <p:spPr>
          <a:xfrm>
            <a:off x="5897880" y="3712464"/>
            <a:ext cx="2697480" cy="566928"/>
          </a:xfrm>
          <a:prstGeom prst="rect">
            <a:avLst/>
          </a:prstGeom>
          <a:noFill/>
          <a:ln/>
        </p:spPr>
        <p:txBody>
          <a:bodyPr wrap="square" lIns="0" tIns="0" rIns="0" bIns="0" rtlCol="0" anchor="ctr"/>
          <a:lstStyle/>
          <a:p>
            <a:pPr indent="0" marL="0">
              <a:buNone/>
            </a:pPr>
            <a:r>
              <a:rPr lang="en-US" sz="1350" b="1" dirty="0">
                <a:solidFill>
                  <a:srgbClr val="0F172A"/>
                </a:solidFill>
                <a:latin typeface="Calibri" pitchFamily="34" charset="0"/>
                <a:ea typeface="Calibri" pitchFamily="34" charset="-122"/>
                <a:cs typeface="Calibri" pitchFamily="34" charset="-120"/>
              </a:rPr>
              <a:t>Background execution limits</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200" kern="0" dirty="0">
                <a:solidFill>
                  <a:srgbClr val="059669"/>
                </a:solidFill>
                <a:latin typeface="Calibri" pitchFamily="34" charset="0"/>
                <a:ea typeface="Calibri" pitchFamily="34" charset="-122"/>
                <a:cs typeface="Calibri" pitchFamily="34" charset="-120"/>
              </a:rPr>
              <a:t>DECISION MATRIX (29:00 – 29:30)</a:t>
            </a:r>
            <a:endParaRPr lang="en-US" sz="1100" dirty="0"/>
          </a:p>
        </p:txBody>
      </p:sp>
      <p:sp>
        <p:nvSpPr>
          <p:cNvPr id="3" name="Text 1"/>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Pick the tool by the job, not the hype</a:t>
            </a:r>
            <a:endParaRPr lang="en-US" sz="2800" dirty="0"/>
          </a:p>
        </p:txBody>
      </p:sp>
      <p:sp>
        <p:nvSpPr>
          <p:cNvPr id="4" name="Shape 2"/>
          <p:cNvSpPr/>
          <p:nvPr/>
        </p:nvSpPr>
        <p:spPr>
          <a:xfrm>
            <a:off x="457200" y="1325880"/>
            <a:ext cx="2560320" cy="2880360"/>
          </a:xfrm>
          <a:prstGeom prst="roundRect">
            <a:avLst>
              <a:gd name="adj" fmla="val 4286"/>
            </a:avLst>
          </a:prstGeom>
          <a:solidFill>
            <a:srgbClr val="F8FAFC"/>
          </a:solidFill>
          <a:ln w="12700">
            <a:solidFill>
              <a:srgbClr val="E2E8F0"/>
            </a:solidFill>
            <a:prstDash val="solid"/>
          </a:ln>
        </p:spPr>
      </p:sp>
      <p:sp>
        <p:nvSpPr>
          <p:cNvPr id="5" name="Shape 3"/>
          <p:cNvSpPr/>
          <p:nvPr/>
        </p:nvSpPr>
        <p:spPr>
          <a:xfrm>
            <a:off x="640080" y="1481328"/>
            <a:ext cx="502920" cy="502920"/>
          </a:xfrm>
          <a:prstGeom prst="ellipse">
            <a:avLst/>
          </a:prstGeom>
          <a:solidFill>
            <a:srgbClr val="DBEAFE"/>
          </a:solidFill>
          <a:ln w="12700">
            <a:solidFill>
              <a:srgbClr val="DBEAFE"/>
            </a:solidFill>
            <a:prstDash val="solid"/>
          </a:ln>
        </p:spPr>
      </p:sp>
      <p:pic>
        <p:nvPicPr>
          <p:cNvPr id="6" name="Image 0" descr="preencoded.png">    </p:cNvPr>
          <p:cNvPicPr>
            <a:picLocks noChangeAspect="1"/>
          </p:cNvPicPr>
          <p:nvPr/>
        </p:nvPicPr>
        <p:blipFill>
          <a:blip r:embed="rId1"/>
          <a:stretch>
            <a:fillRect/>
          </a:stretch>
        </p:blipFill>
        <p:spPr>
          <a:xfrm>
            <a:off x="770839" y="1612087"/>
            <a:ext cx="241402" cy="241402"/>
          </a:xfrm>
          <a:prstGeom prst="rect">
            <a:avLst/>
          </a:prstGeom>
        </p:spPr>
      </p:pic>
      <p:sp>
        <p:nvSpPr>
          <p:cNvPr id="7" name="Text 4"/>
          <p:cNvSpPr txBox="1"/>
          <p:nvPr/>
        </p:nvSpPr>
        <p:spPr>
          <a:xfrm>
            <a:off x="640080" y="2103120"/>
            <a:ext cx="2194560" cy="32004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Gemini Notebook</a:t>
            </a:r>
            <a:endParaRPr lang="en-US" sz="1550" dirty="0"/>
          </a:p>
        </p:txBody>
      </p:sp>
      <p:sp>
        <p:nvSpPr>
          <p:cNvPr id="8" name="Text 5"/>
          <p:cNvSpPr txBox="1"/>
          <p:nvPr/>
        </p:nvSpPr>
        <p:spPr>
          <a:xfrm>
            <a:off x="640080" y="2450592"/>
            <a:ext cx="2194560" cy="201168"/>
          </a:xfrm>
          <a:prstGeom prst="rect">
            <a:avLst/>
          </a:prstGeom>
          <a:noFill/>
          <a:ln/>
        </p:spPr>
        <p:txBody>
          <a:bodyPr wrap="square" lIns="0" tIns="0" rIns="0" bIns="0" rtlCol="0" anchor="ctr"/>
          <a:lstStyle/>
          <a:p>
            <a:pPr indent="0" marL="0">
              <a:buNone/>
            </a:pPr>
            <a:r>
              <a:rPr lang="en-US" sz="950" b="1" spc="100" kern="0" dirty="0">
                <a:solidFill>
                  <a:srgbClr val="2563EB"/>
                </a:solidFill>
                <a:latin typeface="Calibri" pitchFamily="34" charset="0"/>
                <a:ea typeface="Calibri" pitchFamily="34" charset="-122"/>
                <a:cs typeface="Calibri" pitchFamily="34" charset="-120"/>
              </a:rPr>
              <a:t>GROUNDED SYNTHESIS</a:t>
            </a:r>
            <a:endParaRPr lang="en-US" sz="950" dirty="0"/>
          </a:p>
        </p:txBody>
      </p:sp>
      <p:sp>
        <p:nvSpPr>
          <p:cNvPr id="9" name="Text 6"/>
          <p:cNvSpPr txBox="1"/>
          <p:nvPr/>
        </p:nvSpPr>
        <p:spPr>
          <a:xfrm>
            <a:off x="640080" y="2688336"/>
            <a:ext cx="2194560" cy="141732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Answers from your own documents, every claim citable back to a source.</a:t>
            </a:r>
            <a:endParaRPr lang="en-US" sz="1200" dirty="0"/>
          </a:p>
        </p:txBody>
      </p:sp>
      <p:sp>
        <p:nvSpPr>
          <p:cNvPr id="10" name="Shape 7"/>
          <p:cNvSpPr/>
          <p:nvPr/>
        </p:nvSpPr>
        <p:spPr>
          <a:xfrm>
            <a:off x="3291840" y="1325880"/>
            <a:ext cx="2560320" cy="2880360"/>
          </a:xfrm>
          <a:prstGeom prst="roundRect">
            <a:avLst>
              <a:gd name="adj" fmla="val 4286"/>
            </a:avLst>
          </a:prstGeom>
          <a:solidFill>
            <a:srgbClr val="F8FAFC"/>
          </a:solidFill>
          <a:ln w="12700">
            <a:solidFill>
              <a:srgbClr val="E2E8F0"/>
            </a:solidFill>
            <a:prstDash val="solid"/>
          </a:ln>
        </p:spPr>
      </p:sp>
      <p:sp>
        <p:nvSpPr>
          <p:cNvPr id="11" name="Shape 8"/>
          <p:cNvSpPr/>
          <p:nvPr/>
        </p:nvSpPr>
        <p:spPr>
          <a:xfrm>
            <a:off x="3474720" y="1481328"/>
            <a:ext cx="502920" cy="502920"/>
          </a:xfrm>
          <a:prstGeom prst="ellipse">
            <a:avLst/>
          </a:prstGeom>
          <a:solidFill>
            <a:srgbClr val="D1FAE5"/>
          </a:solidFill>
          <a:ln w="12700">
            <a:solidFill>
              <a:srgbClr val="D1FAE5"/>
            </a:solidFill>
            <a:prstDash val="solid"/>
          </a:ln>
        </p:spPr>
      </p:sp>
      <p:pic>
        <p:nvPicPr>
          <p:cNvPr id="12" name="Image 1" descr="preencoded.png">    </p:cNvPr>
          <p:cNvPicPr>
            <a:picLocks noChangeAspect="1"/>
          </p:cNvPicPr>
          <p:nvPr/>
        </p:nvPicPr>
        <p:blipFill>
          <a:blip r:embed="rId2"/>
          <a:stretch>
            <a:fillRect/>
          </a:stretch>
        </p:blipFill>
        <p:spPr>
          <a:xfrm>
            <a:off x="3605479" y="1612087"/>
            <a:ext cx="241402" cy="241402"/>
          </a:xfrm>
          <a:prstGeom prst="rect">
            <a:avLst/>
          </a:prstGeom>
        </p:spPr>
      </p:pic>
      <p:sp>
        <p:nvSpPr>
          <p:cNvPr id="13" name="Text 9"/>
          <p:cNvSpPr txBox="1"/>
          <p:nvPr/>
        </p:nvSpPr>
        <p:spPr>
          <a:xfrm>
            <a:off x="3474720" y="2103120"/>
            <a:ext cx="2194560" cy="32004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Google Colab</a:t>
            </a:r>
            <a:endParaRPr lang="en-US" sz="1550" dirty="0"/>
          </a:p>
        </p:txBody>
      </p:sp>
      <p:sp>
        <p:nvSpPr>
          <p:cNvPr id="14" name="Text 10"/>
          <p:cNvSpPr txBox="1"/>
          <p:nvPr/>
        </p:nvSpPr>
        <p:spPr>
          <a:xfrm>
            <a:off x="3474720" y="2450592"/>
            <a:ext cx="2194560" cy="201168"/>
          </a:xfrm>
          <a:prstGeom prst="rect">
            <a:avLst/>
          </a:prstGeom>
          <a:noFill/>
          <a:ln/>
        </p:spPr>
        <p:txBody>
          <a:bodyPr wrap="square" lIns="0" tIns="0" rIns="0" bIns="0" rtlCol="0" anchor="ctr"/>
          <a:lstStyle/>
          <a:p>
            <a:pPr indent="0" marL="0">
              <a:buNone/>
            </a:pPr>
            <a:r>
              <a:rPr lang="en-US" sz="950" b="1" spc="100" kern="0" dirty="0">
                <a:solidFill>
                  <a:srgbClr val="059669"/>
                </a:solidFill>
                <a:latin typeface="Calibri" pitchFamily="34" charset="0"/>
                <a:ea typeface="Calibri" pitchFamily="34" charset="-122"/>
                <a:cs typeface="Calibri" pitchFamily="34" charset="-120"/>
              </a:rPr>
              <a:t>COMPUTE AND CODE</a:t>
            </a:r>
            <a:endParaRPr lang="en-US" sz="950" dirty="0"/>
          </a:p>
        </p:txBody>
      </p:sp>
      <p:sp>
        <p:nvSpPr>
          <p:cNvPr id="15" name="Text 11"/>
          <p:cNvSpPr txBox="1"/>
          <p:nvPr/>
        </p:nvSpPr>
        <p:spPr>
          <a:xfrm>
            <a:off x="3474720" y="2688336"/>
            <a:ext cx="2194560" cy="141732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Running, plotting and iterating on code, with a free GPU when you need one.</a:t>
            </a:r>
            <a:endParaRPr lang="en-US" sz="1200" dirty="0"/>
          </a:p>
        </p:txBody>
      </p:sp>
      <p:sp>
        <p:nvSpPr>
          <p:cNvPr id="16" name="Shape 12"/>
          <p:cNvSpPr/>
          <p:nvPr/>
        </p:nvSpPr>
        <p:spPr>
          <a:xfrm>
            <a:off x="6126480" y="1325880"/>
            <a:ext cx="2560320" cy="2880360"/>
          </a:xfrm>
          <a:prstGeom prst="roundRect">
            <a:avLst>
              <a:gd name="adj" fmla="val 4286"/>
            </a:avLst>
          </a:prstGeom>
          <a:solidFill>
            <a:srgbClr val="F8FAFC"/>
          </a:solidFill>
          <a:ln w="12700">
            <a:solidFill>
              <a:srgbClr val="E2E8F0"/>
            </a:solidFill>
            <a:prstDash val="solid"/>
          </a:ln>
        </p:spPr>
      </p:sp>
      <p:sp>
        <p:nvSpPr>
          <p:cNvPr id="17" name="Shape 13"/>
          <p:cNvSpPr/>
          <p:nvPr/>
        </p:nvSpPr>
        <p:spPr>
          <a:xfrm>
            <a:off x="6309360" y="1481328"/>
            <a:ext cx="502920" cy="502920"/>
          </a:xfrm>
          <a:prstGeom prst="ellipse">
            <a:avLst/>
          </a:prstGeom>
          <a:solidFill>
            <a:srgbClr val="FEF3C7"/>
          </a:solidFill>
          <a:ln w="12700">
            <a:solidFill>
              <a:srgbClr val="FEF3C7"/>
            </a:solidFill>
            <a:prstDash val="solid"/>
          </a:ln>
        </p:spPr>
      </p:sp>
      <p:pic>
        <p:nvPicPr>
          <p:cNvPr id="18" name="Image 2" descr="preencoded.png">    </p:cNvPr>
          <p:cNvPicPr>
            <a:picLocks noChangeAspect="1"/>
          </p:cNvPicPr>
          <p:nvPr/>
        </p:nvPicPr>
        <p:blipFill>
          <a:blip r:embed="rId3"/>
          <a:stretch>
            <a:fillRect/>
          </a:stretch>
        </p:blipFill>
        <p:spPr>
          <a:xfrm>
            <a:off x="6440119" y="1612087"/>
            <a:ext cx="241402" cy="241402"/>
          </a:xfrm>
          <a:prstGeom prst="rect">
            <a:avLst/>
          </a:prstGeom>
        </p:spPr>
      </p:pic>
      <p:sp>
        <p:nvSpPr>
          <p:cNvPr id="19" name="Text 14"/>
          <p:cNvSpPr txBox="1"/>
          <p:nvPr/>
        </p:nvSpPr>
        <p:spPr>
          <a:xfrm>
            <a:off x="6309360" y="2103120"/>
            <a:ext cx="2194560" cy="320040"/>
          </a:xfrm>
          <a:prstGeom prst="rect">
            <a:avLst/>
          </a:prstGeom>
          <a:noFill/>
          <a:ln/>
        </p:spPr>
        <p:txBody>
          <a:bodyPr wrap="square" lIns="0" tIns="0" rIns="0" bIns="0" rtlCol="0" anchor="ctr"/>
          <a:lstStyle/>
          <a:p>
            <a:pPr indent="0" marL="0">
              <a:buNone/>
            </a:pPr>
            <a:r>
              <a:rPr lang="en-US" sz="1550" b="1" dirty="0">
                <a:solidFill>
                  <a:srgbClr val="0F172A"/>
                </a:solidFill>
                <a:latin typeface="Calibri" pitchFamily="34" charset="0"/>
                <a:ea typeface="Calibri" pitchFamily="34" charset="-122"/>
                <a:cs typeface="Calibri" pitchFamily="34" charset="-120"/>
              </a:rPr>
              <a:t>General chatbots</a:t>
            </a:r>
            <a:endParaRPr lang="en-US" sz="1550" dirty="0"/>
          </a:p>
        </p:txBody>
      </p:sp>
      <p:sp>
        <p:nvSpPr>
          <p:cNvPr id="20" name="Text 15"/>
          <p:cNvSpPr txBox="1"/>
          <p:nvPr/>
        </p:nvSpPr>
        <p:spPr>
          <a:xfrm>
            <a:off x="6309360" y="2450592"/>
            <a:ext cx="2194560" cy="201168"/>
          </a:xfrm>
          <a:prstGeom prst="rect">
            <a:avLst/>
          </a:prstGeom>
          <a:noFill/>
          <a:ln/>
        </p:spPr>
        <p:txBody>
          <a:bodyPr wrap="square" lIns="0" tIns="0" rIns="0" bIns="0" rtlCol="0" anchor="ctr"/>
          <a:lstStyle/>
          <a:p>
            <a:pPr indent="0" marL="0">
              <a:buNone/>
            </a:pPr>
            <a:r>
              <a:rPr lang="en-US" sz="950" b="1" spc="100" kern="0" dirty="0">
                <a:solidFill>
                  <a:srgbClr val="D97706"/>
                </a:solidFill>
                <a:latin typeface="Calibri" pitchFamily="34" charset="0"/>
                <a:ea typeface="Calibri" pitchFamily="34" charset="-122"/>
                <a:cs typeface="Calibri" pitchFamily="34" charset="-120"/>
              </a:rPr>
              <a:t>OPEN-ENDED HELP</a:t>
            </a:r>
            <a:endParaRPr lang="en-US" sz="950" dirty="0"/>
          </a:p>
        </p:txBody>
      </p:sp>
      <p:sp>
        <p:nvSpPr>
          <p:cNvPr id="21" name="Text 16"/>
          <p:cNvSpPr txBox="1"/>
          <p:nvPr/>
        </p:nvSpPr>
        <p:spPr>
          <a:xfrm>
            <a:off x="6309360" y="2688336"/>
            <a:ext cx="2194560" cy="1417320"/>
          </a:xfrm>
          <a:prstGeom prst="rect">
            <a:avLst/>
          </a:prstGeom>
          <a:noFill/>
          <a:ln/>
        </p:spPr>
        <p:txBody>
          <a:bodyPr wrap="square" lIns="0" tIns="0" rIns="0" bIns="0" rtlCol="0" anchor="t"/>
          <a:lstStyle/>
          <a:p>
            <a:pPr indent="0" marL="0">
              <a:buNone/>
            </a:pPr>
            <a:r>
              <a:rPr lang="en-US" sz="1200" dirty="0">
                <a:solidFill>
                  <a:srgbClr val="475569"/>
                </a:solidFill>
                <a:latin typeface="Calibri" pitchFamily="34" charset="0"/>
                <a:ea typeface="Calibri" pitchFamily="34" charset="-122"/>
                <a:cs typeface="Calibri" pitchFamily="34" charset="-120"/>
              </a:rPr>
              <a:t>Useful and often honest about their limits, as we saw. But no access to your private sources.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2" name="Text 0"/>
          <p:cNvSpPr txBox="1"/>
          <p:nvPr/>
        </p:nvSpPr>
        <p:spPr>
          <a:xfrm>
            <a:off x="457200" y="365760"/>
            <a:ext cx="8229600" cy="274320"/>
          </a:xfrm>
          <a:prstGeom prst="rect">
            <a:avLst/>
          </a:prstGeom>
          <a:noFill/>
          <a:ln/>
        </p:spPr>
        <p:txBody>
          <a:bodyPr wrap="square" lIns="0" tIns="0" rIns="0" bIns="0" rtlCol="0" anchor="ctr"/>
          <a:lstStyle/>
          <a:p>
            <a:pPr indent="0" marL="0">
              <a:buNone/>
            </a:pPr>
            <a:r>
              <a:rPr lang="en-US" sz="1200" b="1" spc="300" kern="0" dirty="0">
                <a:solidFill>
                  <a:srgbClr val="6EE7B7"/>
                </a:solidFill>
                <a:latin typeface="Calibri" pitchFamily="34" charset="0"/>
                <a:ea typeface="Calibri" pitchFamily="34" charset="-122"/>
                <a:cs typeface="Calibri" pitchFamily="34" charset="-120"/>
              </a:rPr>
              <a:t>TAKEAWAYS AND Q&amp;A (29:30 – 30:00)</a:t>
            </a:r>
            <a:endParaRPr lang="en-US" sz="1200" dirty="0"/>
          </a:p>
        </p:txBody>
      </p:sp>
      <p:sp>
        <p:nvSpPr>
          <p:cNvPr id="3" name="Text 1"/>
          <p:cNvSpPr txBox="1"/>
          <p:nvPr/>
        </p:nvSpPr>
        <p:spPr>
          <a:xfrm>
            <a:off x="457200" y="731520"/>
            <a:ext cx="8229600" cy="731520"/>
          </a:xfrm>
          <a:prstGeom prst="rect">
            <a:avLst/>
          </a:prstGeom>
          <a:noFill/>
          <a:ln/>
        </p:spPr>
        <p:txBody>
          <a:bodyPr wrap="square" lIns="0" tIns="0" rIns="0" bIns="0"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Three habits to take with you</a:t>
            </a:r>
            <a:endParaRPr lang="en-US" sz="3600" dirty="0"/>
          </a:p>
        </p:txBody>
      </p:sp>
      <p:sp>
        <p:nvSpPr>
          <p:cNvPr id="4" name="Shape 2"/>
          <p:cNvSpPr/>
          <p:nvPr/>
        </p:nvSpPr>
        <p:spPr>
          <a:xfrm>
            <a:off x="457200" y="1783080"/>
            <a:ext cx="8229600" cy="731520"/>
          </a:xfrm>
          <a:prstGeom prst="roundRect">
            <a:avLst>
              <a:gd name="adj" fmla="val 15000"/>
            </a:avLst>
          </a:prstGeom>
          <a:solidFill>
            <a:srgbClr val="1E293B"/>
          </a:solidFill>
          <a:ln w="12700">
            <a:solidFill>
              <a:srgbClr val="1E293B"/>
            </a:solidFill>
            <a:prstDash val="solid"/>
          </a:ln>
        </p:spPr>
      </p:sp>
      <p:sp>
        <p:nvSpPr>
          <p:cNvPr id="5" name="Shape 3"/>
          <p:cNvSpPr/>
          <p:nvPr/>
        </p:nvSpPr>
        <p:spPr>
          <a:xfrm>
            <a:off x="658368" y="1920240"/>
            <a:ext cx="457200" cy="457200"/>
          </a:xfrm>
          <a:prstGeom prst="ellipse">
            <a:avLst/>
          </a:prstGeom>
          <a:solidFill>
            <a:srgbClr val="38BDF8"/>
          </a:solidFill>
          <a:ln w="12700">
            <a:solidFill>
              <a:srgbClr val="38BDF8"/>
            </a:solidFill>
            <a:prstDash val="solid"/>
          </a:ln>
        </p:spPr>
      </p:sp>
      <p:sp>
        <p:nvSpPr>
          <p:cNvPr id="6" name="Text 4"/>
          <p:cNvSpPr txBox="1"/>
          <p:nvPr/>
        </p:nvSpPr>
        <p:spPr>
          <a:xfrm>
            <a:off x="658368" y="1920240"/>
            <a:ext cx="45720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1</a:t>
            </a:r>
            <a:endParaRPr lang="en-US" sz="1800" dirty="0"/>
          </a:p>
        </p:txBody>
      </p:sp>
      <p:sp>
        <p:nvSpPr>
          <p:cNvPr id="7" name="Text 5"/>
          <p:cNvSpPr txBox="1"/>
          <p:nvPr/>
        </p:nvSpPr>
        <p:spPr>
          <a:xfrm>
            <a:off x="1371600" y="1783080"/>
            <a:ext cx="7132320" cy="73152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Connect the runtime before you need it.</a:t>
            </a:r>
            <a:endParaRPr lang="en-US" sz="1900" dirty="0"/>
          </a:p>
        </p:txBody>
      </p:sp>
      <p:sp>
        <p:nvSpPr>
          <p:cNvPr id="8" name="Shape 6"/>
          <p:cNvSpPr/>
          <p:nvPr/>
        </p:nvSpPr>
        <p:spPr>
          <a:xfrm>
            <a:off x="457200" y="2679192"/>
            <a:ext cx="8229600" cy="731520"/>
          </a:xfrm>
          <a:prstGeom prst="roundRect">
            <a:avLst>
              <a:gd name="adj" fmla="val 15000"/>
            </a:avLst>
          </a:prstGeom>
          <a:solidFill>
            <a:srgbClr val="1E293B"/>
          </a:solidFill>
          <a:ln w="12700">
            <a:solidFill>
              <a:srgbClr val="1E293B"/>
            </a:solidFill>
            <a:prstDash val="solid"/>
          </a:ln>
        </p:spPr>
      </p:sp>
      <p:sp>
        <p:nvSpPr>
          <p:cNvPr id="9" name="Shape 7"/>
          <p:cNvSpPr/>
          <p:nvPr/>
        </p:nvSpPr>
        <p:spPr>
          <a:xfrm>
            <a:off x="658368" y="2816352"/>
            <a:ext cx="457200" cy="457200"/>
          </a:xfrm>
          <a:prstGeom prst="ellipse">
            <a:avLst/>
          </a:prstGeom>
          <a:solidFill>
            <a:srgbClr val="34D399"/>
          </a:solidFill>
          <a:ln w="12700">
            <a:solidFill>
              <a:srgbClr val="34D399"/>
            </a:solidFill>
            <a:prstDash val="solid"/>
          </a:ln>
        </p:spPr>
      </p:sp>
      <p:sp>
        <p:nvSpPr>
          <p:cNvPr id="10" name="Text 8"/>
          <p:cNvSpPr txBox="1"/>
          <p:nvPr/>
        </p:nvSpPr>
        <p:spPr>
          <a:xfrm>
            <a:off x="658368" y="2816352"/>
            <a:ext cx="45720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2</a:t>
            </a:r>
            <a:endParaRPr lang="en-US" sz="1800" dirty="0"/>
          </a:p>
        </p:txBody>
      </p:sp>
      <p:sp>
        <p:nvSpPr>
          <p:cNvPr id="11" name="Text 9"/>
          <p:cNvSpPr txBox="1"/>
          <p:nvPr/>
        </p:nvSpPr>
        <p:spPr>
          <a:xfrm>
            <a:off x="1371600" y="2679192"/>
            <a:ext cx="7132320" cy="73152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Check what generated code actually does before you trust it.</a:t>
            </a:r>
            <a:endParaRPr lang="en-US" sz="1900" dirty="0"/>
          </a:p>
        </p:txBody>
      </p:sp>
      <p:sp>
        <p:nvSpPr>
          <p:cNvPr id="12" name="Shape 10"/>
          <p:cNvSpPr/>
          <p:nvPr/>
        </p:nvSpPr>
        <p:spPr>
          <a:xfrm>
            <a:off x="457200" y="3575304"/>
            <a:ext cx="8229600" cy="731520"/>
          </a:xfrm>
          <a:prstGeom prst="roundRect">
            <a:avLst>
              <a:gd name="adj" fmla="val 15000"/>
            </a:avLst>
          </a:prstGeom>
          <a:solidFill>
            <a:srgbClr val="1E293B"/>
          </a:solidFill>
          <a:ln w="12700">
            <a:solidFill>
              <a:srgbClr val="1E293B"/>
            </a:solidFill>
            <a:prstDash val="solid"/>
          </a:ln>
        </p:spPr>
      </p:sp>
      <p:sp>
        <p:nvSpPr>
          <p:cNvPr id="13" name="Shape 11"/>
          <p:cNvSpPr/>
          <p:nvPr/>
        </p:nvSpPr>
        <p:spPr>
          <a:xfrm>
            <a:off x="658368" y="3712464"/>
            <a:ext cx="457200" cy="457200"/>
          </a:xfrm>
          <a:prstGeom prst="ellipse">
            <a:avLst/>
          </a:prstGeom>
          <a:solidFill>
            <a:srgbClr val="FBBF24"/>
          </a:solidFill>
          <a:ln w="12700">
            <a:solidFill>
              <a:srgbClr val="FBBF24"/>
            </a:solidFill>
            <a:prstDash val="solid"/>
          </a:ln>
        </p:spPr>
      </p:sp>
      <p:sp>
        <p:nvSpPr>
          <p:cNvPr id="14" name="Text 12"/>
          <p:cNvSpPr txBox="1"/>
          <p:nvPr/>
        </p:nvSpPr>
        <p:spPr>
          <a:xfrm>
            <a:off x="658368" y="3712464"/>
            <a:ext cx="457200" cy="457200"/>
          </a:xfrm>
          <a:prstGeom prst="rect">
            <a:avLst/>
          </a:prstGeom>
          <a:noFill/>
          <a:ln/>
        </p:spPr>
        <p:txBody>
          <a:bodyPr wrap="square" lIns="0" tIns="0" rIns="0" bIns="0" rtlCol="0" anchor="ctr"/>
          <a:lstStyle/>
          <a:p>
            <a:pPr algn="ctr" indent="0" marL="0">
              <a:buNone/>
            </a:pPr>
            <a:r>
              <a:rPr lang="en-US" sz="1800" b="1" dirty="0">
                <a:solidFill>
                  <a:srgbClr val="0F172A"/>
                </a:solidFill>
                <a:latin typeface="Calibri" pitchFamily="34" charset="0"/>
                <a:ea typeface="Calibri" pitchFamily="34" charset="-122"/>
                <a:cs typeface="Calibri" pitchFamily="34" charset="-120"/>
              </a:rPr>
              <a:t>3</a:t>
            </a:r>
            <a:endParaRPr lang="en-US" sz="1800" dirty="0"/>
          </a:p>
        </p:txBody>
      </p:sp>
      <p:sp>
        <p:nvSpPr>
          <p:cNvPr id="15" name="Text 13"/>
          <p:cNvSpPr txBox="1"/>
          <p:nvPr/>
        </p:nvSpPr>
        <p:spPr>
          <a:xfrm>
            <a:off x="1371600" y="3575304"/>
            <a:ext cx="7132320" cy="73152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Verify a chart's axis; it can hide or exaggerate a gap.</a:t>
            </a:r>
            <a:endParaRPr lang="en-US" sz="1900" dirty="0"/>
          </a:p>
        </p:txBody>
      </p:sp>
      <p:sp>
        <p:nvSpPr>
          <p:cNvPr id="16" name="Text 14"/>
          <p:cNvSpPr txBox="1"/>
          <p:nvPr/>
        </p:nvSpPr>
        <p:spPr>
          <a:xfrm>
            <a:off x="457200" y="4526280"/>
            <a:ext cx="3657600" cy="320040"/>
          </a:xfrm>
          <a:prstGeom prst="rect">
            <a:avLst/>
          </a:prstGeom>
          <a:noFill/>
          <a:ln/>
        </p:spPr>
        <p:txBody>
          <a:bodyPr wrap="square" lIns="0" tIns="0" rIns="0" bIns="0" rtlCol="0" anchor="ctr"/>
          <a:lstStyle/>
          <a:p>
            <a:pPr indent="0" marL="0">
              <a:buNone/>
            </a:pPr>
            <a:r>
              <a:rPr lang="en-US" sz="1300" dirty="0">
                <a:solidFill>
                  <a:srgbClr val="94A3B8"/>
                </a:solidFill>
                <a:latin typeface="Calibri" pitchFamily="34" charset="0"/>
                <a:ea typeface="Calibri" pitchFamily="34" charset="-122"/>
                <a:cs typeface="Calibri" pitchFamily="34" charset="-120"/>
              </a:rPr>
              <a:t>Ready for questions</a:t>
            </a:r>
            <a:endParaRPr lang="en-US" sz="1300" dirty="0"/>
          </a:p>
        </p:txBody>
      </p:sp>
      <p:sp>
        <p:nvSpPr>
          <p:cNvPr id="17" name="Text 15"/>
          <p:cNvSpPr txBox="1"/>
          <p:nvPr/>
        </p:nvSpPr>
        <p:spPr>
          <a:xfrm>
            <a:off x="3657600" y="4526280"/>
            <a:ext cx="5029200" cy="320040"/>
          </a:xfrm>
          <a:prstGeom prst="rect">
            <a:avLst/>
          </a:prstGeom>
          <a:noFill/>
          <a:ln/>
        </p:spPr>
        <p:txBody>
          <a:bodyPr wrap="square" lIns="0" tIns="0" rIns="0" bIns="0" rtlCol="0" anchor="ctr"/>
          <a:lstStyle/>
          <a:p>
            <a:pPr algn="r" indent="0" marL="0">
              <a:buNone/>
            </a:pPr>
            <a:r>
              <a:rPr lang="en-US" sz="1300" b="1" dirty="0">
                <a:solidFill>
                  <a:srgbClr val="38BDF8"/>
                </a:solidFill>
                <a:latin typeface="Calibri" pitchFamily="34" charset="0"/>
                <a:ea typeface="Calibri" pitchFamily="34" charset="-122"/>
                <a:cs typeface="Calibri" pitchFamily="34" charset="-120"/>
              </a:rPr>
              <a:t>notebook.google.com  •  colab.research.google.com</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274320"/>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BACKUP</a:t>
            </a:r>
            <a:endParaRPr lang="en-US" sz="1100" dirty="0"/>
          </a:p>
        </p:txBody>
      </p:sp>
      <p:sp>
        <p:nvSpPr>
          <p:cNvPr id="3" name="Text 1"/>
          <p:cNvSpPr txBox="1"/>
          <p:nvPr/>
        </p:nvSpPr>
        <p:spPr>
          <a:xfrm>
            <a:off x="457200" y="566928"/>
            <a:ext cx="8229600" cy="594360"/>
          </a:xfrm>
          <a:prstGeom prst="rect">
            <a:avLst/>
          </a:prstGeom>
          <a:noFill/>
          <a:ln/>
        </p:spPr>
        <p:txBody>
          <a:bodyPr wrap="square" lIns="0" tIns="0" rIns="0" bIns="0" rtlCol="0" anchor="ctr"/>
          <a:lstStyle/>
          <a:p>
            <a:pPr indent="0" marL="0">
              <a:buNone/>
            </a:pPr>
            <a:r>
              <a:rPr lang="en-US" sz="2800" b="1" dirty="0">
                <a:solidFill>
                  <a:srgbClr val="0F172A"/>
                </a:solidFill>
                <a:latin typeface="Calibri" pitchFamily="34" charset="0"/>
                <a:ea typeface="Calibri" pitchFamily="34" charset="-122"/>
                <a:cs typeface="Calibri" pitchFamily="34" charset="-120"/>
              </a:rPr>
              <a:t>Presenter cheat sheet</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3291840"/>
                <a:gridCol w="4937760"/>
              </a:tblGrid>
              <a:tr h="301752">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a:t>
                      </a:r>
                      <a:endParaRPr lang="en-US" sz="11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How</a:t>
                      </a:r>
                      <a:endParaRPr lang="en-US" sz="110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0F172A"/>
                    </a:solidFill>
                  </a:tcPr>
                </a:tc>
              </a:tr>
              <a:tr h="301752">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Save the notebook file</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File → Save a copy in Drive</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Confirm where it saved</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File → Locate in Drive</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01752">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Local backup copy</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File → Download → Download .ipynb</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Generate code from a prompt</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Click empty cell → click “generate” → type prompt → Enter</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01752">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Switch to T4 GPU</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Runtime → Change runtime type → T4 GPU</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Fix a broken cell</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Run it, let it fail, click Explain Error</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r h="301752">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CSV source for the chart</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Figure 2.5.1, AI Index 2026, p. 101</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GPU test result (this run)</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c>
                  <a:txBody>
                    <a:bodyPr/>
                    <a:lstStyle/>
                    <a:p>
                      <a:pPr indent="0" marL="0">
                        <a:buNone/>
                      </a:pPr>
                      <a:r>
                        <a:rPr lang="en-US" sz="1050" dirty="0">
                          <a:solidFill>
                            <a:srgbClr val="0F172A"/>
                          </a:solidFill>
                          <a:latin typeface="Calibri" pitchFamily="34" charset="0"/>
                          <a:ea typeface="Calibri" pitchFamily="34" charset="-122"/>
                          <a:cs typeface="Calibri" pitchFamily="34" charset="-120"/>
                        </a:rPr>
                        <a:t>CPU 2.5324s → GPU 0.0394s → 64.2x, Tesla T4</a:t>
                      </a:r>
                      <a:endParaRPr lang="en-US" sz="1050" dirty="0">
                        <a:latin typeface="Calibri" charset="0"/>
                        <a:ea typeface="Calibri" charset="0"/>
                        <a:cs typeface="Calibri" charset="0"/>
                      </a:endParaRPr>
                    </a:p>
                  </a:txBody>
                  <a:tcPr marL="91440" marR="91440"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8FAFC"/>
                    </a:solidFill>
                  </a:tcPr>
                </a:tc>
              </a:tr>
            </a:tbl>
          </a:graphicData>
        </a:graphic>
      </p:graphicFrame>
      <p:sp>
        <p:nvSpPr>
          <p:cNvPr id="5" name="Text 2"/>
          <p:cNvSpPr txBox="1"/>
          <p:nvPr/>
        </p:nvSpPr>
        <p:spPr>
          <a:xfrm>
            <a:off x="457200" y="4315968"/>
            <a:ext cx="8229600" cy="457200"/>
          </a:xfrm>
          <a:prstGeom prst="rect">
            <a:avLst/>
          </a:prstGeom>
          <a:noFill/>
          <a:ln/>
        </p:spPr>
        <p:txBody>
          <a:bodyPr wrap="square" lIns="0" tIns="0" rIns="0" bIns="0" rtlCol="0" anchor="t"/>
          <a:lstStyle/>
          <a:p>
            <a:pPr indent="0" marL="0">
              <a:buNone/>
            </a:pPr>
            <a:r>
              <a:rPr lang="en-US" sz="1100" i="1" dirty="0">
                <a:solidFill>
                  <a:srgbClr val="64748B"/>
                </a:solidFill>
                <a:latin typeface="Calibri" pitchFamily="34" charset="0"/>
                <a:ea typeface="Calibri" pitchFamily="34" charset="-122"/>
                <a:cs typeface="Calibri" pitchFamily="34" charset="-120"/>
              </a:rPr>
              <a:t>Fallback plot cell (if a generated chart looks wrong): see the matplotlib version saved alongside the demo notebook.</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Google Colab: Live Demo</dc:title>
  <dc:subject>PptxGenJS Presentation</dc:subject>
  <dc:creator>PptxGenJS</dc:creator>
  <cp:lastModifiedBy>PptxGenJS</cp:lastModifiedBy>
  <cp:revision>1</cp:revision>
  <dcterms:created xsi:type="dcterms:W3CDTF">2026-09-22T00:48:43Z</dcterms:created>
  <dcterms:modified xsi:type="dcterms:W3CDTF">2026-09-22T00:48:43Z</dcterms:modified>
</cp:coreProperties>
</file>