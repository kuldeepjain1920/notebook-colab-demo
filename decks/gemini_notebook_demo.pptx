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 (about 30 seconds)
SAY: We all use AI for research, but there is a trust problem: how do you know an answer is real? For the next 15 minutes I will show a tool built around that question. It is Gemini Notebook. You may know it as NotebookLM; Google renamed it in July.
SETUP CHECK: Notebook tab open with all sources loaded and the saved notes visible. Chatbot baseline screenshot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0:30 to 3:00
LIVE: (1) Show the ChatGPT screenshot. (2) Switch to the notebook and show the saved note 'Payment Code Compliance'. (3) Click the citation chip so the Doc opens at Section 2.
SAY (left): To its credit, the chatbot does not make up our policy. It says it can't state our reviewer count and gives a range from public guidance. Useful in general, but I still don't have OUR rule.
SAY (right): Same question, grounded in our playbook: three reviewers, one from QA, plus a 48-hour staging soak. And every claim points to a passage I can check.
CAUTION: Say 'reduces', never 'eliminates'. Do not repeat the chatbot's '3/3 sign-offs' as fact; it came from a third-party web page.
BACKUP: If the notebook is slow, show the saved note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3:00 to 6:00
LIVE: Show the two pre-loaded sources (PDF, Drive Doc). Then ADD THE YOUTUBE LINK LIVE in the scratch notebook and open its auto-summary. If the import is slow, switch to the fully loaded notebook's video summary.
SAY: Three very different formats: a Google Doc that syncs from Drive, a YouTube video whose transcript gets indexed, and a 425-page PDF. The playbook is a sample I wrote for this demo, with a few deliberate flaws.
CAUTION: Auto-captions contain errors ('Sonar Cube', 'C-pilot', 'Codeex'). Don't read caption text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6:00 to 8:30
LIVE: Open the saved note 'Refactoring and Benchmarks' (do NOT re-run the prompt). Click ONE chip per source: playbook, then the video (transcript at 3:23, the 'heavy lifters' chapter), then point out the report is 'not addressed'.
SAY: The playbook and the video agree on terminal agents for multi-file work. The AI Index says nothing about specific tools, and the notebook says so instead of guessing.
SAY (transparency): I ran this earlier so we don't wait.
CAUTION: Rehearse the exact chip clicks. Video chips sometimes don't scroll; if so, open the YouTube transcript at 3:23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8:30 to 10:00
LIVE: Show the saved notes 'Where Sources Disagree' and 'Boundary Test'. Don't re-run.
SAY (benchmarks): Our playbook says pick by leaderboard rank. The AI Index says benchmark scores don't always reflect real-world use, and the top ten SWE-bench Verified models are within about 6 points of each other.
SAY (tools): The playbook says one tool; the video cites a 2026 survey of about two.
SAY (gates): The video cites Sonar's own survey research; users reported 44% fewer AI-related outages. That's vendor research and a correlation.
SAY (boundary): The staging soak is in the sources, but the cloud provider isn't, so it says so.
CAUTION: The 42% invalid-question figure (p. 72) is from a MATH benchmark (GSM8K), not a coding benchmark. Say 'raises serious doubts', not 'gameable'. Say 'reported 44% fewer', not 'reduces outages by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10:00 to 11:00
LIVE: Open the Studio panel. Play the pre-generated Audio Overview from your cued 30-second start point. Then show ONE quiz question (the payments question is the cleanest) and click its citation.
SAY: Same sources, different outputs. This audio is great for orientation, but it has no clickable citations, so I wouldn't quote it. The cited notes are where I verify.
SETUP CHECK: Listen to the whole clip beforehand. Any number the hosts state must match a source; skip clips with claims stronger than the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11:00 to 13:00
LIVE: Open notebook.google/plans in a browser tab (open it beforehand). Point at the four things to compare: sources per notebook, notebooks per account, daily Audio Overviews, and code execution and team features.
SAY: Limits and prices change often, so I'd rather read them live than put stale numbers on a slide. Free is enough to try everything I showed today.
SETUP CHECK: The plans page loads (confirmed it exists), but I could not read the limits from it. Look at the page yourself and note the free-tier and Plus/Pro numbers you'll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13:00 to 14:30
SAY: It shines when the answer lives in your own documents: audits, literature reviews, briefing a team. It's not a substitute for checking. Grounding reduces the risk of made-up answers, but it can still stretch a source, and in my own testing it did.
OPTIONAL STORY: Early in my testing, one answer credited the video with a view on benchmarks that it never expressed. Prompting it to say 'not addressed' when a source is silent fixed that.
TRANSITION: Now the other half: what if the answer needs code and compute? That's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14:30 to 15:00, then hand over to Colab.
SAY: Three habits: ground the answer in your own sources, click the citation before you trust it, and tell it to say 'not addressed' when the sources are silent.
TRANSITION: Next, what happens when the answer needs code and compute: Google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CHEAT SHEET (not for the audience).
Page numbers refer to the ai_index_report_2026.pdf you uploaded (PDF page = printed page).
Video timestamps: 3:23 heavy-lifters chapter; 3:30 Sonar 44% line; about 9:39 two-tools survey. Confirm the exact seconds in YouTube's transcript before presenting.
Wording: the 44% is Sonar's own survey research, reported and correlational; the 42% is a math benchmark (GSM8K).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notebook.google/plans" TargetMode="External"/><Relationship Id="rId1"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200" b="1" spc="300" kern="0" dirty="0">
                <a:solidFill>
                  <a:srgbClr val="38BDF8"/>
                </a:solidFill>
                <a:latin typeface="Calibri" pitchFamily="34" charset="0"/>
                <a:ea typeface="Calibri" pitchFamily="34" charset="-122"/>
                <a:cs typeface="Calibri" pitchFamily="34" charset="-120"/>
              </a:rPr>
              <a:t>GEMINI NOTEBOOK LIVE DEMO  •  15 MINUTES</a:t>
            </a:r>
            <a:endParaRPr lang="en-US" sz="1200" dirty="0"/>
          </a:p>
        </p:txBody>
      </p:sp>
      <p:sp>
        <p:nvSpPr>
          <p:cNvPr id="3" name="Shape 1"/>
          <p:cNvSpPr/>
          <p:nvPr/>
        </p:nvSpPr>
        <p:spPr>
          <a:xfrm>
            <a:off x="457200" y="1234440"/>
            <a:ext cx="2331720" cy="566928"/>
          </a:xfrm>
          <a:prstGeom prst="roundRect">
            <a:avLst>
              <a:gd name="adj" fmla="val 22581"/>
            </a:avLst>
          </a:prstGeom>
          <a:solidFill>
            <a:srgbClr val="FFFFFF"/>
          </a:solidFill>
          <a:ln w="12700">
            <a:solidFill>
              <a:srgbClr val="FFFFFF"/>
            </a:solidFill>
            <a:prstDash val="solid"/>
          </a:ln>
        </p:spPr>
      </p:sp>
      <p:pic>
        <p:nvPicPr>
          <p:cNvPr id="4" name="Image 0" descr="/home/claude/deck/img/gemini_notebook_logo.png">    </p:cNvPr>
          <p:cNvPicPr>
            <a:picLocks noChangeAspect="1"/>
          </p:cNvPicPr>
          <p:nvPr/>
        </p:nvPicPr>
        <p:blipFill>
          <a:blip r:embed="rId1"/>
          <a:stretch>
            <a:fillRect/>
          </a:stretch>
        </p:blipFill>
        <p:spPr>
          <a:xfrm>
            <a:off x="621792" y="1344168"/>
            <a:ext cx="2011680" cy="365760"/>
          </a:xfrm>
          <a:prstGeom prst="rect">
            <a:avLst/>
          </a:prstGeom>
        </p:spPr>
      </p:pic>
      <p:sp>
        <p:nvSpPr>
          <p:cNvPr id="5" name="Text 2"/>
          <p:cNvSpPr txBox="1"/>
          <p:nvPr/>
        </p:nvSpPr>
        <p:spPr>
          <a:xfrm>
            <a:off x="2971800" y="1234440"/>
            <a:ext cx="3657600" cy="566928"/>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formerly NotebookLM</a:t>
            </a:r>
            <a:endParaRPr lang="en-US" sz="1600" dirty="0"/>
          </a:p>
        </p:txBody>
      </p:sp>
      <p:sp>
        <p:nvSpPr>
          <p:cNvPr id="6" name="Text 3"/>
          <p:cNvSpPr txBox="1"/>
          <p:nvPr/>
        </p:nvSpPr>
        <p:spPr>
          <a:xfrm>
            <a:off x="457200" y="2011680"/>
            <a:ext cx="822960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Answers you can check</a:t>
            </a:r>
            <a:endParaRPr lang="en-US" sz="4800" dirty="0"/>
          </a:p>
        </p:txBody>
      </p:sp>
      <p:sp>
        <p:nvSpPr>
          <p:cNvPr id="7" name="Text 4"/>
          <p:cNvSpPr txBox="1"/>
          <p:nvPr/>
        </p:nvSpPr>
        <p:spPr>
          <a:xfrm>
            <a:off x="457200" y="2971800"/>
            <a:ext cx="8229600" cy="457200"/>
          </a:xfrm>
          <a:prstGeom prst="rect">
            <a:avLst/>
          </a:prstGeom>
          <a:noFill/>
          <a:ln/>
        </p:spPr>
        <p:txBody>
          <a:bodyPr wrap="square" lIns="0" tIns="0" rIns="0" bIns="0" rtlCol="0" anchor="ctr"/>
          <a:lstStyle/>
          <a:p>
            <a:pPr indent="0" marL="0">
              <a:buNone/>
            </a:pPr>
            <a:r>
              <a:rPr lang="en-US" sz="2200" dirty="0">
                <a:solidFill>
                  <a:srgbClr val="CBD5E1"/>
                </a:solidFill>
                <a:latin typeface="Calibri" pitchFamily="34" charset="0"/>
                <a:ea typeface="Calibri" pitchFamily="34" charset="-122"/>
                <a:cs typeface="Calibri" pitchFamily="34" charset="-120"/>
              </a:rPr>
              <a:t>Choosing AI coding tools from your own sources</a:t>
            </a:r>
            <a:endParaRPr lang="en-US" sz="2200" dirty="0"/>
          </a:p>
        </p:txBody>
      </p:sp>
      <p:sp>
        <p:nvSpPr>
          <p:cNvPr id="8" name="Text 5"/>
          <p:cNvSpPr txBox="1"/>
          <p:nvPr/>
        </p:nvSpPr>
        <p:spPr>
          <a:xfrm>
            <a:off x="457200" y="4023360"/>
            <a:ext cx="3840480" cy="6400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Session 1 (0:00 – 15:00)</a:t>
            </a:r>
            <a:endParaRPr lang="en-US" sz="1200" dirty="0"/>
          </a:p>
          <a:p>
            <a:pPr indent="0" marL="0">
              <a:buNone/>
            </a:pPr>
            <a:r>
              <a:rPr lang="en-US" sz="1700" b="1" dirty="0">
                <a:solidFill>
                  <a:srgbClr val="FFFFFF"/>
                </a:solidFill>
                <a:latin typeface="Calibri" pitchFamily="34" charset="0"/>
                <a:ea typeface="Calibri" pitchFamily="34" charset="-122"/>
                <a:cs typeface="Calibri" pitchFamily="34" charset="-120"/>
              </a:rPr>
              <a:t>Grounded synthesis with citations</a:t>
            </a:r>
            <a:endParaRPr lang="en-US" sz="1200" dirty="0"/>
          </a:p>
        </p:txBody>
      </p:sp>
      <p:sp>
        <p:nvSpPr>
          <p:cNvPr id="9" name="Text 6"/>
          <p:cNvSpPr txBox="1"/>
          <p:nvPr/>
        </p:nvSpPr>
        <p:spPr>
          <a:xfrm>
            <a:off x="4572000" y="4023360"/>
            <a:ext cx="4114800" cy="6400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Three sources</a:t>
            </a:r>
            <a:endParaRPr lang="en-US" sz="1200" dirty="0"/>
          </a:p>
          <a:p>
            <a:pPr indent="0" marL="0">
              <a:buNone/>
            </a:pPr>
            <a:r>
              <a:rPr lang="en-US" sz="1700" b="1" dirty="0">
                <a:solidFill>
                  <a:srgbClr val="FFFFFF"/>
                </a:solidFill>
                <a:latin typeface="Calibri" pitchFamily="34" charset="0"/>
                <a:ea typeface="Calibri" pitchFamily="34" charset="-122"/>
                <a:cs typeface="Calibri" pitchFamily="34" charset="-120"/>
              </a:rPr>
              <a:t>Playbook  •  Tool video  •  AI Index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SESSION 1: WHY GROUNDING (0:00 – 3:00)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Same question, two very different answers</a:t>
            </a:r>
            <a:endParaRPr lang="en-US" sz="3000" dirty="0"/>
          </a:p>
        </p:txBody>
      </p:sp>
      <p:sp>
        <p:nvSpPr>
          <p:cNvPr id="4" name="Shape 2"/>
          <p:cNvSpPr/>
          <p:nvPr/>
        </p:nvSpPr>
        <p:spPr>
          <a:xfrm>
            <a:off x="457200" y="1325880"/>
            <a:ext cx="4023360" cy="3017520"/>
          </a:xfrm>
          <a:prstGeom prst="roundRect">
            <a:avLst>
              <a:gd name="adj" fmla="val 3636"/>
            </a:avLst>
          </a:prstGeom>
          <a:solidFill>
            <a:srgbClr val="FEF2F2"/>
          </a:solidFill>
          <a:ln w="12700">
            <a:solidFill>
              <a:srgbClr val="FECACA"/>
            </a:solidFill>
            <a:prstDash val="solid"/>
          </a:ln>
        </p:spPr>
      </p:sp>
      <p:sp>
        <p:nvSpPr>
          <p:cNvPr id="5" name="Shape 3"/>
          <p:cNvSpPr/>
          <p:nvPr/>
        </p:nvSpPr>
        <p:spPr>
          <a:xfrm>
            <a:off x="640080" y="1444752"/>
            <a:ext cx="384048" cy="384048"/>
          </a:xfrm>
          <a:prstGeom prst="ellipse">
            <a:avLst/>
          </a:prstGeom>
          <a:solidFill>
            <a:srgbClr val="FEE2E2"/>
          </a:solidFill>
          <a:ln w="12700">
            <a:solidFill>
              <a:srgbClr val="FEE2E2"/>
            </a:solidFill>
            <a:prstDash val="solid"/>
          </a:ln>
        </p:spPr>
      </p:sp>
      <p:pic>
        <p:nvPicPr>
          <p:cNvPr id="6" name="Image 0" descr="preencoded.png">    </p:cNvPr>
          <p:cNvPicPr>
            <a:picLocks noChangeAspect="1"/>
          </p:cNvPicPr>
          <p:nvPr/>
        </p:nvPicPr>
        <p:blipFill>
          <a:blip r:embed="rId1"/>
          <a:stretch>
            <a:fillRect/>
          </a:stretch>
        </p:blipFill>
        <p:spPr>
          <a:xfrm>
            <a:off x="739932" y="1544604"/>
            <a:ext cx="184343" cy="184343"/>
          </a:xfrm>
          <a:prstGeom prst="rect">
            <a:avLst/>
          </a:prstGeom>
        </p:spPr>
      </p:pic>
      <p:sp>
        <p:nvSpPr>
          <p:cNvPr id="7" name="Text 4"/>
          <p:cNvSpPr txBox="1"/>
          <p:nvPr/>
        </p:nvSpPr>
        <p:spPr>
          <a:xfrm>
            <a:off x="1115568" y="1444752"/>
            <a:ext cx="3200400" cy="384048"/>
          </a:xfrm>
          <a:prstGeom prst="rect">
            <a:avLst/>
          </a:prstGeom>
          <a:noFill/>
          <a:ln/>
        </p:spPr>
        <p:txBody>
          <a:bodyPr wrap="square" lIns="0" tIns="0" rIns="0" bIns="0" rtlCol="0" anchor="ctr"/>
          <a:lstStyle/>
          <a:p>
            <a:pPr indent="0" marL="0">
              <a:buNone/>
            </a:pPr>
            <a:r>
              <a:rPr lang="en-US" sz="1700" b="1" dirty="0">
                <a:solidFill>
                  <a:srgbClr val="991B1B"/>
                </a:solidFill>
                <a:latin typeface="Calibri" pitchFamily="34" charset="0"/>
                <a:ea typeface="Calibri" pitchFamily="34" charset="-122"/>
                <a:cs typeface="Calibri" pitchFamily="34" charset="-120"/>
              </a:rPr>
              <a:t>General chatbot</a:t>
            </a:r>
            <a:endParaRPr lang="en-US" sz="1700" dirty="0"/>
          </a:p>
        </p:txBody>
      </p:sp>
      <p:pic>
        <p:nvPicPr>
          <p:cNvPr id="8" name="Image 1" descr="/home/claude/deck/img/chatgpt_baseline.png">    </p:cNvPr>
          <p:cNvPicPr>
            <a:picLocks noChangeAspect="1"/>
          </p:cNvPicPr>
          <p:nvPr/>
        </p:nvPicPr>
        <p:blipFill>
          <a:blip r:embed="rId2"/>
          <a:stretch>
            <a:fillRect/>
          </a:stretch>
        </p:blipFill>
        <p:spPr>
          <a:xfrm>
            <a:off x="640080" y="1965960"/>
            <a:ext cx="3520440" cy="1985162"/>
          </a:xfrm>
          <a:prstGeom prst="rect">
            <a:avLst/>
          </a:prstGeom>
        </p:spPr>
      </p:pic>
      <p:sp>
        <p:nvSpPr>
          <p:cNvPr id="9" name="Text 5"/>
          <p:cNvSpPr txBox="1"/>
          <p:nvPr/>
        </p:nvSpPr>
        <p:spPr>
          <a:xfrm>
            <a:off x="640080" y="4023360"/>
            <a:ext cx="3657600" cy="246888"/>
          </a:xfrm>
          <a:prstGeom prst="rect">
            <a:avLst/>
          </a:prstGeom>
          <a:noFill/>
          <a:ln/>
        </p:spPr>
        <p:txBody>
          <a:bodyPr wrap="square" lIns="0" tIns="0" rIns="0" bIns="0" rtlCol="0" anchor="ctr"/>
          <a:lstStyle/>
          <a:p>
            <a:pPr indent="0" marL="0">
              <a:buNone/>
            </a:pPr>
            <a:r>
              <a:rPr lang="en-US" sz="1050" dirty="0">
                <a:solidFill>
                  <a:srgbClr val="7F1D1D"/>
                </a:solidFill>
                <a:latin typeface="Calibri" pitchFamily="34" charset="0"/>
                <a:ea typeface="Calibri" pitchFamily="34" charset="-122"/>
                <a:cs typeface="Calibri" pitchFamily="34" charset="-120"/>
              </a:rPr>
              <a:t>Honest but generic: it can't see our playbook.</a:t>
            </a:r>
            <a:endParaRPr lang="en-US" sz="1050" dirty="0"/>
          </a:p>
        </p:txBody>
      </p:sp>
      <p:sp>
        <p:nvSpPr>
          <p:cNvPr id="10" name="Shape 6"/>
          <p:cNvSpPr/>
          <p:nvPr/>
        </p:nvSpPr>
        <p:spPr>
          <a:xfrm>
            <a:off x="4663440" y="1325880"/>
            <a:ext cx="4023360" cy="3017520"/>
          </a:xfrm>
          <a:prstGeom prst="roundRect">
            <a:avLst>
              <a:gd name="adj" fmla="val 3636"/>
            </a:avLst>
          </a:prstGeom>
          <a:solidFill>
            <a:srgbClr val="ECFDF5"/>
          </a:solidFill>
          <a:ln w="12700">
            <a:solidFill>
              <a:srgbClr val="A7F3D0"/>
            </a:solidFill>
            <a:prstDash val="solid"/>
          </a:ln>
        </p:spPr>
      </p:sp>
      <p:sp>
        <p:nvSpPr>
          <p:cNvPr id="11" name="Shape 7"/>
          <p:cNvSpPr/>
          <p:nvPr/>
        </p:nvSpPr>
        <p:spPr>
          <a:xfrm>
            <a:off x="4846320" y="1444752"/>
            <a:ext cx="384048" cy="384048"/>
          </a:xfrm>
          <a:prstGeom prst="ellipse">
            <a:avLst/>
          </a:prstGeom>
          <a:solidFill>
            <a:srgbClr val="D1FAE5"/>
          </a:solidFill>
          <a:ln w="12700">
            <a:solidFill>
              <a:srgbClr val="D1FAE5"/>
            </a:solidFill>
            <a:prstDash val="solid"/>
          </a:ln>
        </p:spPr>
      </p:sp>
      <p:pic>
        <p:nvPicPr>
          <p:cNvPr id="12" name="Image 2" descr="preencoded.png">    </p:cNvPr>
          <p:cNvPicPr>
            <a:picLocks noChangeAspect="1"/>
          </p:cNvPicPr>
          <p:nvPr/>
        </p:nvPicPr>
        <p:blipFill>
          <a:blip r:embed="rId3"/>
          <a:stretch>
            <a:fillRect/>
          </a:stretch>
        </p:blipFill>
        <p:spPr>
          <a:xfrm>
            <a:off x="4946172" y="1544604"/>
            <a:ext cx="184343" cy="184343"/>
          </a:xfrm>
          <a:prstGeom prst="rect">
            <a:avLst/>
          </a:prstGeom>
        </p:spPr>
      </p:pic>
      <p:sp>
        <p:nvSpPr>
          <p:cNvPr id="13" name="Text 8"/>
          <p:cNvSpPr txBox="1"/>
          <p:nvPr/>
        </p:nvSpPr>
        <p:spPr>
          <a:xfrm>
            <a:off x="5321808" y="1444752"/>
            <a:ext cx="3200400" cy="384048"/>
          </a:xfrm>
          <a:prstGeom prst="rect">
            <a:avLst/>
          </a:prstGeom>
          <a:noFill/>
          <a:ln/>
        </p:spPr>
        <p:txBody>
          <a:bodyPr wrap="square" lIns="0" tIns="0" rIns="0" bIns="0" rtlCol="0" anchor="ctr"/>
          <a:lstStyle/>
          <a:p>
            <a:pPr indent="0" marL="0">
              <a:buNone/>
            </a:pPr>
            <a:r>
              <a:rPr lang="en-US" sz="1700" b="1" dirty="0">
                <a:solidFill>
                  <a:srgbClr val="166534"/>
                </a:solidFill>
                <a:latin typeface="Calibri" pitchFamily="34" charset="0"/>
                <a:ea typeface="Calibri" pitchFamily="34" charset="-122"/>
                <a:cs typeface="Calibri" pitchFamily="34" charset="-120"/>
              </a:rPr>
              <a:t>Gemini Notebook</a:t>
            </a:r>
            <a:endParaRPr lang="en-US" sz="1700" dirty="0"/>
          </a:p>
        </p:txBody>
      </p:sp>
      <p:pic>
        <p:nvPicPr>
          <p:cNvPr id="14" name="Image 3" descr="/home/claude/deck/img/note_prompt1.png">    </p:cNvPr>
          <p:cNvPicPr>
            <a:picLocks noChangeAspect="1"/>
          </p:cNvPicPr>
          <p:nvPr/>
        </p:nvPicPr>
        <p:blipFill>
          <a:blip r:embed="rId4"/>
          <a:stretch>
            <a:fillRect/>
          </a:stretch>
        </p:blipFill>
        <p:spPr>
          <a:xfrm>
            <a:off x="4846320" y="1965960"/>
            <a:ext cx="3520440" cy="1175004"/>
          </a:xfrm>
          <a:prstGeom prst="rect">
            <a:avLst/>
          </a:prstGeom>
        </p:spPr>
      </p:pic>
      <p:sp>
        <p:nvSpPr>
          <p:cNvPr id="15" name="Text 9"/>
          <p:cNvSpPr txBox="1"/>
          <p:nvPr/>
        </p:nvSpPr>
        <p:spPr>
          <a:xfrm>
            <a:off x="4846320" y="3337560"/>
            <a:ext cx="3657600" cy="777240"/>
          </a:xfrm>
          <a:prstGeom prst="rect">
            <a:avLst/>
          </a:prstGeom>
          <a:noFill/>
          <a:ln/>
        </p:spPr>
        <p:txBody>
          <a:bodyPr wrap="square" lIns="0" tIns="0" rIns="0" bIns="0" rtlCol="0" anchor="t"/>
          <a:lstStyle/>
          <a:p>
            <a:pPr indent="0" marL="0">
              <a:buNone/>
            </a:pPr>
            <a:r>
              <a:rPr lang="en-US" sz="1250" b="1" dirty="0">
                <a:solidFill>
                  <a:srgbClr val="14532D"/>
                </a:solidFill>
                <a:latin typeface="Calibri" pitchFamily="34" charset="0"/>
                <a:ea typeface="Calibri" pitchFamily="34" charset="-122"/>
                <a:cs typeface="Calibri" pitchFamily="34" charset="-120"/>
              </a:rPr>
              <a:t>Our rule, with a citation.</a:t>
            </a:r>
            <a:endParaRPr lang="en-US" sz="1250" dirty="0"/>
          </a:p>
          <a:p>
            <a:pPr indent="0" marL="0">
              <a:buNone/>
            </a:pPr>
            <a:r>
              <a:rPr lang="en-US" sz="1250" dirty="0">
                <a:solidFill>
                  <a:srgbClr val="14532D"/>
                </a:solidFill>
                <a:latin typeface="Calibri" pitchFamily="34" charset="0"/>
                <a:ea typeface="Calibri" pitchFamily="34" charset="-122"/>
                <a:cs typeface="Calibri" pitchFamily="34" charset="-120"/>
              </a:rPr>
              <a:t>Click the chip and the Doc opens at the exact line.</a:t>
            </a:r>
            <a:endParaRPr lang="en-US" sz="1250" dirty="0"/>
          </a:p>
        </p:txBody>
      </p:sp>
      <p:sp>
        <p:nvSpPr>
          <p:cNvPr id="16" name="Text 10"/>
          <p:cNvSpPr txBox="1"/>
          <p:nvPr/>
        </p:nvSpPr>
        <p:spPr>
          <a:xfrm>
            <a:off x="457200" y="4498848"/>
            <a:ext cx="82296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Grounding reduces made-up answers and lets you check every claim.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SESSION 1: INGESTION (3:00 – 6:00)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Three source types, one notebook</a:t>
            </a:r>
            <a:endParaRPr lang="en-US" sz="3000" dirty="0"/>
          </a:p>
        </p:txBody>
      </p:sp>
      <p:sp>
        <p:nvSpPr>
          <p:cNvPr id="4" name="Shape 2"/>
          <p:cNvSpPr/>
          <p:nvPr/>
        </p:nvSpPr>
        <p:spPr>
          <a:xfrm>
            <a:off x="457200" y="1371600"/>
            <a:ext cx="2560320" cy="3017520"/>
          </a:xfrm>
          <a:prstGeom prst="roundRect">
            <a:avLst>
              <a:gd name="adj" fmla="val 4286"/>
            </a:avLst>
          </a:prstGeom>
          <a:solidFill>
            <a:srgbClr val="F8FAFC"/>
          </a:solidFill>
          <a:ln w="12700">
            <a:solidFill>
              <a:srgbClr val="E2E8F0"/>
            </a:solidFill>
            <a:prstDash val="solid"/>
          </a:ln>
        </p:spPr>
      </p:sp>
      <p:sp>
        <p:nvSpPr>
          <p:cNvPr id="5" name="Shape 3"/>
          <p:cNvSpPr/>
          <p:nvPr/>
        </p:nvSpPr>
        <p:spPr>
          <a:xfrm>
            <a:off x="640080" y="1554480"/>
            <a:ext cx="548640" cy="548640"/>
          </a:xfrm>
          <a:prstGeom prst="ellipse">
            <a:avLst/>
          </a:prstGeom>
          <a:solidFill>
            <a:srgbClr val="DBEAFE"/>
          </a:solidFill>
          <a:ln w="12700">
            <a:solidFill>
              <a:srgbClr val="DBEAFE"/>
            </a:solidFill>
            <a:prstDash val="solid"/>
          </a:ln>
        </p:spPr>
      </p:sp>
      <p:pic>
        <p:nvPicPr>
          <p:cNvPr id="6" name="Image 0" descr="preencoded.png">    </p:cNvPr>
          <p:cNvPicPr>
            <a:picLocks noChangeAspect="1"/>
          </p:cNvPicPr>
          <p:nvPr/>
        </p:nvPicPr>
        <p:blipFill>
          <a:blip r:embed="rId1"/>
          <a:stretch>
            <a:fillRect/>
          </a:stretch>
        </p:blipFill>
        <p:spPr>
          <a:xfrm>
            <a:off x="782726" y="1697126"/>
            <a:ext cx="263347" cy="263347"/>
          </a:xfrm>
          <a:prstGeom prst="rect">
            <a:avLst/>
          </a:prstGeom>
        </p:spPr>
      </p:pic>
      <p:sp>
        <p:nvSpPr>
          <p:cNvPr id="7" name="Text 4"/>
          <p:cNvSpPr txBox="1"/>
          <p:nvPr/>
        </p:nvSpPr>
        <p:spPr>
          <a:xfrm>
            <a:off x="640080" y="2212848"/>
            <a:ext cx="2194560" cy="32004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Team playbook</a:t>
            </a:r>
            <a:endParaRPr lang="en-US" sz="1700" dirty="0"/>
          </a:p>
        </p:txBody>
      </p:sp>
      <p:sp>
        <p:nvSpPr>
          <p:cNvPr id="8" name="Text 5"/>
          <p:cNvSpPr txBox="1"/>
          <p:nvPr/>
        </p:nvSpPr>
        <p:spPr>
          <a:xfrm>
            <a:off x="640080" y="2560320"/>
            <a:ext cx="2194560" cy="50292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Google Doc, synced from Drive</a:t>
            </a:r>
            <a:endParaRPr lang="en-US" sz="1150" dirty="0"/>
          </a:p>
        </p:txBody>
      </p:sp>
      <p:sp>
        <p:nvSpPr>
          <p:cNvPr id="9" name="Text 6"/>
          <p:cNvSpPr txBox="1"/>
          <p:nvPr/>
        </p:nvSpPr>
        <p:spPr>
          <a:xfrm>
            <a:off x="640080" y="3108960"/>
            <a:ext cx="2194560" cy="77724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A sample policy for this demo, with review rules and a planted benchmark rule.</a:t>
            </a:r>
            <a:endParaRPr lang="en-US" sz="1200" dirty="0"/>
          </a:p>
        </p:txBody>
      </p:sp>
      <p:sp>
        <p:nvSpPr>
          <p:cNvPr id="10" name="Shape 7"/>
          <p:cNvSpPr/>
          <p:nvPr/>
        </p:nvSpPr>
        <p:spPr>
          <a:xfrm>
            <a:off x="640080" y="3950208"/>
            <a:ext cx="1234440" cy="274320"/>
          </a:xfrm>
          <a:prstGeom prst="roundRect">
            <a:avLst>
              <a:gd name="adj" fmla="val 50000"/>
            </a:avLst>
          </a:prstGeom>
          <a:solidFill>
            <a:srgbClr val="DBEAFE"/>
          </a:solidFill>
          <a:ln w="12700">
            <a:solidFill>
              <a:srgbClr val="DBEAFE"/>
            </a:solidFill>
            <a:prstDash val="solid"/>
          </a:ln>
        </p:spPr>
      </p:sp>
      <p:sp>
        <p:nvSpPr>
          <p:cNvPr id="11" name="Text 8"/>
          <p:cNvSpPr txBox="1"/>
          <p:nvPr/>
        </p:nvSpPr>
        <p:spPr>
          <a:xfrm>
            <a:off x="640080" y="3950208"/>
            <a:ext cx="1234440" cy="274320"/>
          </a:xfrm>
          <a:prstGeom prst="rect">
            <a:avLst/>
          </a:prstGeom>
          <a:noFill/>
          <a:ln/>
        </p:spPr>
        <p:txBody>
          <a:bodyPr wrap="square" lIns="0" tIns="0" rIns="0" bIns="0" rtlCol="0" anchor="ctr"/>
          <a:lstStyle/>
          <a:p>
            <a:pPr algn="ctr" indent="0" marL="0">
              <a:buNone/>
            </a:pPr>
            <a:r>
              <a:rPr lang="en-US" sz="1100" b="1" dirty="0">
                <a:solidFill>
                  <a:srgbClr val="1D4ED8"/>
                </a:solidFill>
                <a:latin typeface="Calibri" pitchFamily="34" charset="0"/>
                <a:ea typeface="Calibri" pitchFamily="34" charset="-122"/>
                <a:cs typeface="Calibri" pitchFamily="34" charset="-120"/>
              </a:rPr>
              <a:t>Drive-synced</a:t>
            </a:r>
            <a:endParaRPr lang="en-US" sz="1100" dirty="0"/>
          </a:p>
        </p:txBody>
      </p:sp>
      <p:sp>
        <p:nvSpPr>
          <p:cNvPr id="12" name="Shape 9"/>
          <p:cNvSpPr/>
          <p:nvPr/>
        </p:nvSpPr>
        <p:spPr>
          <a:xfrm>
            <a:off x="3291840" y="1371600"/>
            <a:ext cx="2560320" cy="3017520"/>
          </a:xfrm>
          <a:prstGeom prst="roundRect">
            <a:avLst>
              <a:gd name="adj" fmla="val 4286"/>
            </a:avLst>
          </a:prstGeom>
          <a:solidFill>
            <a:srgbClr val="F8FAFC"/>
          </a:solidFill>
          <a:ln w="12700">
            <a:solidFill>
              <a:srgbClr val="E2E8F0"/>
            </a:solidFill>
            <a:prstDash val="solid"/>
          </a:ln>
        </p:spPr>
      </p:sp>
      <p:sp>
        <p:nvSpPr>
          <p:cNvPr id="13" name="Shape 10"/>
          <p:cNvSpPr/>
          <p:nvPr/>
        </p:nvSpPr>
        <p:spPr>
          <a:xfrm>
            <a:off x="3474720" y="1554480"/>
            <a:ext cx="548640" cy="548640"/>
          </a:xfrm>
          <a:prstGeom prst="ellipse">
            <a:avLst/>
          </a:prstGeom>
          <a:solidFill>
            <a:srgbClr val="FEE2E2"/>
          </a:solidFill>
          <a:ln w="12700">
            <a:solidFill>
              <a:srgbClr val="FEE2E2"/>
            </a:solidFill>
            <a:prstDash val="solid"/>
          </a:ln>
        </p:spPr>
      </p:sp>
      <p:pic>
        <p:nvPicPr>
          <p:cNvPr id="14" name="Image 1" descr="preencoded.png">    </p:cNvPr>
          <p:cNvPicPr>
            <a:picLocks noChangeAspect="1"/>
          </p:cNvPicPr>
          <p:nvPr/>
        </p:nvPicPr>
        <p:blipFill>
          <a:blip r:embed="rId2"/>
          <a:stretch>
            <a:fillRect/>
          </a:stretch>
        </p:blipFill>
        <p:spPr>
          <a:xfrm>
            <a:off x="3617366" y="1697126"/>
            <a:ext cx="263347" cy="263347"/>
          </a:xfrm>
          <a:prstGeom prst="rect">
            <a:avLst/>
          </a:prstGeom>
        </p:spPr>
      </p:pic>
      <p:sp>
        <p:nvSpPr>
          <p:cNvPr id="15" name="Text 11"/>
          <p:cNvSpPr txBox="1"/>
          <p:nvPr/>
        </p:nvSpPr>
        <p:spPr>
          <a:xfrm>
            <a:off x="3474720" y="2212848"/>
            <a:ext cx="2194560" cy="32004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Tool comparison video</a:t>
            </a:r>
            <a:endParaRPr lang="en-US" sz="1700" dirty="0"/>
          </a:p>
        </p:txBody>
      </p:sp>
      <p:sp>
        <p:nvSpPr>
          <p:cNvPr id="16" name="Text 12"/>
          <p:cNvSpPr txBox="1"/>
          <p:nvPr/>
        </p:nvSpPr>
        <p:spPr>
          <a:xfrm>
            <a:off x="3474720" y="2560320"/>
            <a:ext cx="2194560" cy="50292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Claude Code vs. Codex vs. Cursor vs. Local Models (2026)</a:t>
            </a:r>
            <a:endParaRPr lang="en-US" sz="1150" dirty="0"/>
          </a:p>
        </p:txBody>
      </p:sp>
      <p:sp>
        <p:nvSpPr>
          <p:cNvPr id="17" name="Text 13"/>
          <p:cNvSpPr txBox="1"/>
          <p:nvPr/>
        </p:nvSpPr>
        <p:spPr>
          <a:xfrm>
            <a:off x="3474720" y="3108960"/>
            <a:ext cx="2194560" cy="77724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The notebook indexes the spoken transcript, so you can cite a moment in the video.</a:t>
            </a:r>
            <a:endParaRPr lang="en-US" sz="1200" dirty="0"/>
          </a:p>
        </p:txBody>
      </p:sp>
      <p:sp>
        <p:nvSpPr>
          <p:cNvPr id="18" name="Shape 14"/>
          <p:cNvSpPr/>
          <p:nvPr/>
        </p:nvSpPr>
        <p:spPr>
          <a:xfrm>
            <a:off x="3474720" y="3950208"/>
            <a:ext cx="1234440" cy="274320"/>
          </a:xfrm>
          <a:prstGeom prst="roundRect">
            <a:avLst>
              <a:gd name="adj" fmla="val 50000"/>
            </a:avLst>
          </a:prstGeom>
          <a:solidFill>
            <a:srgbClr val="FEE2E2"/>
          </a:solidFill>
          <a:ln w="12700">
            <a:solidFill>
              <a:srgbClr val="FEE2E2"/>
            </a:solidFill>
            <a:prstDash val="solid"/>
          </a:ln>
        </p:spPr>
      </p:sp>
      <p:sp>
        <p:nvSpPr>
          <p:cNvPr id="19" name="Text 15"/>
          <p:cNvSpPr txBox="1"/>
          <p:nvPr/>
        </p:nvSpPr>
        <p:spPr>
          <a:xfrm>
            <a:off x="3474720" y="3950208"/>
            <a:ext cx="1234440" cy="274320"/>
          </a:xfrm>
          <a:prstGeom prst="rect">
            <a:avLst/>
          </a:prstGeom>
          <a:noFill/>
          <a:ln/>
        </p:spPr>
        <p:txBody>
          <a:bodyPr wrap="square" lIns="0" tIns="0" rIns="0" bIns="0" rtlCol="0" anchor="ctr"/>
          <a:lstStyle/>
          <a:p>
            <a:pPr algn="ctr" indent="0" marL="0">
              <a:buNone/>
            </a:pPr>
            <a:r>
              <a:rPr lang="en-US" sz="1100" b="1" dirty="0">
                <a:solidFill>
                  <a:srgbClr val="B91C1C"/>
                </a:solidFill>
                <a:latin typeface="Calibri" pitchFamily="34" charset="0"/>
                <a:ea typeface="Calibri" pitchFamily="34" charset="-122"/>
                <a:cs typeface="Calibri" pitchFamily="34" charset="-120"/>
              </a:rPr>
              <a:t>Added live</a:t>
            </a:r>
            <a:endParaRPr lang="en-US" sz="1100" dirty="0"/>
          </a:p>
        </p:txBody>
      </p:sp>
      <p:sp>
        <p:nvSpPr>
          <p:cNvPr id="20" name="Shape 16"/>
          <p:cNvSpPr/>
          <p:nvPr/>
        </p:nvSpPr>
        <p:spPr>
          <a:xfrm>
            <a:off x="6126480" y="1371600"/>
            <a:ext cx="2560320" cy="3017520"/>
          </a:xfrm>
          <a:prstGeom prst="roundRect">
            <a:avLst>
              <a:gd name="adj" fmla="val 4286"/>
            </a:avLst>
          </a:prstGeom>
          <a:solidFill>
            <a:srgbClr val="F8FAFC"/>
          </a:solidFill>
          <a:ln w="12700">
            <a:solidFill>
              <a:srgbClr val="E2E8F0"/>
            </a:solidFill>
            <a:prstDash val="solid"/>
          </a:ln>
        </p:spPr>
      </p:sp>
      <p:sp>
        <p:nvSpPr>
          <p:cNvPr id="21" name="Shape 17"/>
          <p:cNvSpPr/>
          <p:nvPr/>
        </p:nvSpPr>
        <p:spPr>
          <a:xfrm>
            <a:off x="6309360" y="1554480"/>
            <a:ext cx="548640" cy="548640"/>
          </a:xfrm>
          <a:prstGeom prst="ellipse">
            <a:avLst/>
          </a:prstGeom>
          <a:solidFill>
            <a:srgbClr val="FEF3C7"/>
          </a:solidFill>
          <a:ln w="12700">
            <a:solidFill>
              <a:srgbClr val="FEF3C7"/>
            </a:solidFill>
            <a:prstDash val="solid"/>
          </a:ln>
        </p:spPr>
      </p:sp>
      <p:pic>
        <p:nvPicPr>
          <p:cNvPr id="22" name="Image 2" descr="preencoded.png">    </p:cNvPr>
          <p:cNvPicPr>
            <a:picLocks noChangeAspect="1"/>
          </p:cNvPicPr>
          <p:nvPr/>
        </p:nvPicPr>
        <p:blipFill>
          <a:blip r:embed="rId3"/>
          <a:stretch>
            <a:fillRect/>
          </a:stretch>
        </p:blipFill>
        <p:spPr>
          <a:xfrm>
            <a:off x="6452006" y="1697126"/>
            <a:ext cx="263347" cy="263347"/>
          </a:xfrm>
          <a:prstGeom prst="rect">
            <a:avLst/>
          </a:prstGeom>
        </p:spPr>
      </p:pic>
      <p:sp>
        <p:nvSpPr>
          <p:cNvPr id="23" name="Text 18"/>
          <p:cNvSpPr txBox="1"/>
          <p:nvPr/>
        </p:nvSpPr>
        <p:spPr>
          <a:xfrm>
            <a:off x="6309360" y="2212848"/>
            <a:ext cx="2194560" cy="32004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AI Index Report 2026</a:t>
            </a:r>
            <a:endParaRPr lang="en-US" sz="1700" dirty="0"/>
          </a:p>
        </p:txBody>
      </p:sp>
      <p:sp>
        <p:nvSpPr>
          <p:cNvPr id="24" name="Text 19"/>
          <p:cNvSpPr txBox="1"/>
          <p:nvPr/>
        </p:nvSpPr>
        <p:spPr>
          <a:xfrm>
            <a:off x="6309360" y="2560320"/>
            <a:ext cx="2194560" cy="50292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Stanford HAI, 425 pages</a:t>
            </a:r>
            <a:endParaRPr lang="en-US" sz="1150" dirty="0"/>
          </a:p>
        </p:txBody>
      </p:sp>
      <p:sp>
        <p:nvSpPr>
          <p:cNvPr id="25" name="Text 20"/>
          <p:cNvSpPr txBox="1"/>
          <p:nvPr/>
        </p:nvSpPr>
        <p:spPr>
          <a:xfrm>
            <a:off x="6309360" y="3108960"/>
            <a:ext cx="2194560" cy="77724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About 149,000 words of dense benchmark tables and charts.</a:t>
            </a:r>
            <a:endParaRPr lang="en-US" sz="1200" dirty="0"/>
          </a:p>
        </p:txBody>
      </p:sp>
      <p:sp>
        <p:nvSpPr>
          <p:cNvPr id="26" name="Shape 21"/>
          <p:cNvSpPr/>
          <p:nvPr/>
        </p:nvSpPr>
        <p:spPr>
          <a:xfrm>
            <a:off x="6309360" y="3950208"/>
            <a:ext cx="1234440" cy="274320"/>
          </a:xfrm>
          <a:prstGeom prst="roundRect">
            <a:avLst>
              <a:gd name="adj" fmla="val 50000"/>
            </a:avLst>
          </a:prstGeom>
          <a:solidFill>
            <a:srgbClr val="FEF3C7"/>
          </a:solidFill>
          <a:ln w="12700">
            <a:solidFill>
              <a:srgbClr val="FEF3C7"/>
            </a:solidFill>
            <a:prstDash val="solid"/>
          </a:ln>
        </p:spPr>
      </p:sp>
      <p:sp>
        <p:nvSpPr>
          <p:cNvPr id="27" name="Text 22"/>
          <p:cNvSpPr txBox="1"/>
          <p:nvPr/>
        </p:nvSpPr>
        <p:spPr>
          <a:xfrm>
            <a:off x="6309360" y="3950208"/>
            <a:ext cx="1234440" cy="274320"/>
          </a:xfrm>
          <a:prstGeom prst="rect">
            <a:avLst/>
          </a:prstGeom>
          <a:noFill/>
          <a:ln/>
        </p:spPr>
        <p:txBody>
          <a:bodyPr wrap="square" lIns="0" tIns="0" rIns="0" bIns="0" rtlCol="0" anchor="ctr"/>
          <a:lstStyle/>
          <a:p>
            <a:pPr algn="ctr" indent="0" marL="0">
              <a:buNone/>
            </a:pPr>
            <a:r>
              <a:rPr lang="en-US" sz="1100" b="1" dirty="0">
                <a:solidFill>
                  <a:srgbClr val="B45309"/>
                </a:solidFill>
                <a:latin typeface="Calibri" pitchFamily="34" charset="0"/>
                <a:ea typeface="Calibri" pitchFamily="34" charset="-122"/>
                <a:cs typeface="Calibri" pitchFamily="34" charset="-120"/>
              </a:rPr>
              <a:t>Uploaded PDF</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SESSION 1: LIVE SYNTHESIS (6:00 – 8:30)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One question, three sources, every claim cited</a:t>
            </a:r>
            <a:endParaRPr lang="en-US" sz="3000" dirty="0"/>
          </a:p>
        </p:txBody>
      </p:sp>
      <p:sp>
        <p:nvSpPr>
          <p:cNvPr id="4" name="Shape 2"/>
          <p:cNvSpPr/>
          <p:nvPr/>
        </p:nvSpPr>
        <p:spPr>
          <a:xfrm>
            <a:off x="457200" y="1280160"/>
            <a:ext cx="8229600" cy="1005840"/>
          </a:xfrm>
          <a:prstGeom prst="roundRect">
            <a:avLst>
              <a:gd name="adj" fmla="val 10909"/>
            </a:avLst>
          </a:prstGeom>
          <a:solidFill>
            <a:srgbClr val="F1F5F9"/>
          </a:solidFill>
          <a:ln w="12700">
            <a:solidFill>
              <a:srgbClr val="E2E8F0"/>
            </a:solidFill>
            <a:prstDash val="solid"/>
          </a:ln>
        </p:spPr>
      </p:sp>
      <p:sp>
        <p:nvSpPr>
          <p:cNvPr id="5" name="Text 3"/>
          <p:cNvSpPr txBox="1"/>
          <p:nvPr/>
        </p:nvSpPr>
        <p:spPr>
          <a:xfrm>
            <a:off x="640080" y="1344168"/>
            <a:ext cx="7863840" cy="201168"/>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THE PROMPT (ABRIDGED)</a:t>
            </a:r>
            <a:endParaRPr lang="en-US" sz="1000" dirty="0"/>
          </a:p>
        </p:txBody>
      </p:sp>
      <p:sp>
        <p:nvSpPr>
          <p:cNvPr id="6" name="Text 4"/>
          <p:cNvSpPr txBox="1"/>
          <p:nvPr/>
        </p:nvSpPr>
        <p:spPr>
          <a:xfrm>
            <a:off x="640080" y="1572768"/>
            <a:ext cx="7863840" cy="640080"/>
          </a:xfrm>
          <a:prstGeom prst="rect">
            <a:avLst/>
          </a:prstGeom>
          <a:noFill/>
          <a:ln/>
        </p:spPr>
        <p:txBody>
          <a:bodyPr wrap="square" lIns="0" tIns="0" rIns="0" bIns="0" rtlCol="0" anchor="t"/>
          <a:lstStyle/>
          <a:p>
            <a:pPr indent="0" marL="0">
              <a:buNone/>
            </a:pPr>
            <a:r>
              <a:rPr lang="en-US" sz="1100" dirty="0">
                <a:solidFill>
                  <a:srgbClr val="0F172A"/>
                </a:solidFill>
                <a:latin typeface="Courier New" pitchFamily="34" charset="0"/>
                <a:ea typeface="Courier New" pitchFamily="34" charset="-122"/>
                <a:cs typeface="Courier New" pitchFamily="34" charset="-120"/>
              </a:rPr>
              <a:t>(1) What tool should our team use for multi-file refactoring? (2) What does each source say about how much weight public benchmark scores deserve? Include a source only if it directly addresses the question.</a:t>
            </a:r>
            <a:endParaRPr lang="en-US" sz="1100" dirty="0"/>
          </a:p>
        </p:txBody>
      </p:sp>
      <p:pic>
        <p:nvPicPr>
          <p:cNvPr id="7" name="Image 0" descr="/home/claude/deck/img/note_prompt2_q1.png">    </p:cNvPr>
          <p:cNvPicPr>
            <a:picLocks noChangeAspect="1"/>
          </p:cNvPicPr>
          <p:nvPr/>
        </p:nvPicPr>
        <p:blipFill>
          <a:blip r:embed="rId1"/>
          <a:stretch>
            <a:fillRect/>
          </a:stretch>
        </p:blipFill>
        <p:spPr>
          <a:xfrm>
            <a:off x="457200" y="2468880"/>
            <a:ext cx="4937760" cy="2059229"/>
          </a:xfrm>
          <a:prstGeom prst="rect">
            <a:avLst/>
          </a:prstGeom>
        </p:spPr>
      </p:pic>
      <p:sp>
        <p:nvSpPr>
          <p:cNvPr id="8" name="Shape 5"/>
          <p:cNvSpPr/>
          <p:nvPr/>
        </p:nvSpPr>
        <p:spPr>
          <a:xfrm>
            <a:off x="457200" y="2468880"/>
            <a:ext cx="4937760" cy="2059229"/>
          </a:xfrm>
          <a:prstGeom prst="rect">
            <a:avLst/>
          </a:prstGeom>
          <a:ln w="12700">
            <a:solidFill>
              <a:srgbClr val="E2E8F0"/>
            </a:solidFill>
            <a:prstDash val="solid"/>
          </a:ln>
        </p:spPr>
      </p:sp>
      <p:sp>
        <p:nvSpPr>
          <p:cNvPr id="9" name="Shape 6"/>
          <p:cNvSpPr/>
          <p:nvPr/>
        </p:nvSpPr>
        <p:spPr>
          <a:xfrm>
            <a:off x="5623560" y="2468880"/>
            <a:ext cx="3063240" cy="640080"/>
          </a:xfrm>
          <a:prstGeom prst="roundRect">
            <a:avLst>
              <a:gd name="adj" fmla="val 17143"/>
            </a:avLst>
          </a:prstGeom>
          <a:solidFill>
            <a:srgbClr val="F8FAFC"/>
          </a:solidFill>
          <a:ln w="12700">
            <a:solidFill>
              <a:srgbClr val="E2E8F0"/>
            </a:solidFill>
            <a:prstDash val="solid"/>
          </a:ln>
        </p:spPr>
      </p:sp>
      <p:sp>
        <p:nvSpPr>
          <p:cNvPr id="10" name="Shape 7"/>
          <p:cNvSpPr/>
          <p:nvPr/>
        </p:nvSpPr>
        <p:spPr>
          <a:xfrm>
            <a:off x="5733288" y="2587752"/>
            <a:ext cx="402336" cy="402336"/>
          </a:xfrm>
          <a:prstGeom prst="ellipse">
            <a:avLst/>
          </a:prstGeom>
          <a:solidFill>
            <a:srgbClr val="DBEAFE"/>
          </a:solidFill>
          <a:ln w="12700">
            <a:solidFill>
              <a:srgbClr val="DBEAFE"/>
            </a:solidFill>
            <a:prstDash val="solid"/>
          </a:ln>
        </p:spPr>
      </p:sp>
      <p:pic>
        <p:nvPicPr>
          <p:cNvPr id="11" name="Image 1" descr="preencoded.png">    </p:cNvPr>
          <p:cNvPicPr>
            <a:picLocks noChangeAspect="1"/>
          </p:cNvPicPr>
          <p:nvPr/>
        </p:nvPicPr>
        <p:blipFill>
          <a:blip r:embed="rId2"/>
          <a:stretch>
            <a:fillRect/>
          </a:stretch>
        </p:blipFill>
        <p:spPr>
          <a:xfrm>
            <a:off x="5837895" y="2692359"/>
            <a:ext cx="193121" cy="193121"/>
          </a:xfrm>
          <a:prstGeom prst="rect">
            <a:avLst/>
          </a:prstGeom>
        </p:spPr>
      </p:pic>
      <p:sp>
        <p:nvSpPr>
          <p:cNvPr id="12" name="Text 8"/>
          <p:cNvSpPr txBox="1"/>
          <p:nvPr/>
        </p:nvSpPr>
        <p:spPr>
          <a:xfrm>
            <a:off x="6236208" y="2505456"/>
            <a:ext cx="2395728" cy="566928"/>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Playbook</a:t>
            </a:r>
            <a:endParaRPr lang="en-US" sz="1250" dirty="0"/>
          </a:p>
          <a:p>
            <a:pPr indent="0" marL="0">
              <a:buNone/>
            </a:pPr>
            <a:r>
              <a:rPr lang="en-US" sz="1050" dirty="0">
                <a:solidFill>
                  <a:srgbClr val="475569"/>
                </a:solidFill>
                <a:latin typeface="Calibri" pitchFamily="34" charset="0"/>
                <a:ea typeface="Calibri" pitchFamily="34" charset="-122"/>
                <a:cs typeface="Calibri" pitchFamily="34" charset="-120"/>
              </a:rPr>
              <a:t>Section 3: a terminal agent for multi-file refactors.</a:t>
            </a:r>
            <a:endParaRPr lang="en-US" sz="1250" dirty="0"/>
          </a:p>
        </p:txBody>
      </p:sp>
      <p:sp>
        <p:nvSpPr>
          <p:cNvPr id="13" name="Shape 9"/>
          <p:cNvSpPr/>
          <p:nvPr/>
        </p:nvSpPr>
        <p:spPr>
          <a:xfrm>
            <a:off x="5623560" y="3218688"/>
            <a:ext cx="3063240" cy="640080"/>
          </a:xfrm>
          <a:prstGeom prst="roundRect">
            <a:avLst>
              <a:gd name="adj" fmla="val 17143"/>
            </a:avLst>
          </a:prstGeom>
          <a:solidFill>
            <a:srgbClr val="F8FAFC"/>
          </a:solidFill>
          <a:ln w="12700">
            <a:solidFill>
              <a:srgbClr val="E2E8F0"/>
            </a:solidFill>
            <a:prstDash val="solid"/>
          </a:ln>
        </p:spPr>
      </p:sp>
      <p:sp>
        <p:nvSpPr>
          <p:cNvPr id="14" name="Shape 10"/>
          <p:cNvSpPr/>
          <p:nvPr/>
        </p:nvSpPr>
        <p:spPr>
          <a:xfrm>
            <a:off x="5733288" y="3337560"/>
            <a:ext cx="402336" cy="402336"/>
          </a:xfrm>
          <a:prstGeom prst="ellipse">
            <a:avLst/>
          </a:prstGeom>
          <a:solidFill>
            <a:srgbClr val="FEE2E2"/>
          </a:solidFill>
          <a:ln w="12700">
            <a:solidFill>
              <a:srgbClr val="FEE2E2"/>
            </a:solidFill>
            <a:prstDash val="solid"/>
          </a:ln>
        </p:spPr>
      </p:sp>
      <p:pic>
        <p:nvPicPr>
          <p:cNvPr id="15" name="Image 2" descr="preencoded.png">    </p:cNvPr>
          <p:cNvPicPr>
            <a:picLocks noChangeAspect="1"/>
          </p:cNvPicPr>
          <p:nvPr/>
        </p:nvPicPr>
        <p:blipFill>
          <a:blip r:embed="rId3"/>
          <a:stretch>
            <a:fillRect/>
          </a:stretch>
        </p:blipFill>
        <p:spPr>
          <a:xfrm>
            <a:off x="5837895" y="3442167"/>
            <a:ext cx="193121" cy="193121"/>
          </a:xfrm>
          <a:prstGeom prst="rect">
            <a:avLst/>
          </a:prstGeom>
        </p:spPr>
      </p:pic>
      <p:sp>
        <p:nvSpPr>
          <p:cNvPr id="16" name="Text 11"/>
          <p:cNvSpPr txBox="1"/>
          <p:nvPr/>
        </p:nvSpPr>
        <p:spPr>
          <a:xfrm>
            <a:off x="6236208" y="3255264"/>
            <a:ext cx="2395728" cy="566928"/>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Video, 3:23</a:t>
            </a:r>
            <a:endParaRPr lang="en-US" sz="1250" dirty="0"/>
          </a:p>
          <a:p>
            <a:pPr indent="0" marL="0">
              <a:buNone/>
            </a:pPr>
            <a:r>
              <a:rPr lang="en-US" sz="1050" dirty="0">
                <a:solidFill>
                  <a:srgbClr val="475569"/>
                </a:solidFill>
                <a:latin typeface="Calibri" pitchFamily="34" charset="0"/>
                <a:ea typeface="Calibri" pitchFamily="34" charset="-122"/>
                <a:cs typeface="Calibri" pitchFamily="34" charset="-120"/>
              </a:rPr>
              <a:t>The 'heavy lifters' chapter: Claude Code and Codex.</a:t>
            </a:r>
            <a:endParaRPr lang="en-US" sz="1250" dirty="0"/>
          </a:p>
        </p:txBody>
      </p:sp>
      <p:sp>
        <p:nvSpPr>
          <p:cNvPr id="17" name="Shape 12"/>
          <p:cNvSpPr/>
          <p:nvPr/>
        </p:nvSpPr>
        <p:spPr>
          <a:xfrm>
            <a:off x="5623560" y="3968496"/>
            <a:ext cx="3063240" cy="640080"/>
          </a:xfrm>
          <a:prstGeom prst="roundRect">
            <a:avLst>
              <a:gd name="adj" fmla="val 17143"/>
            </a:avLst>
          </a:prstGeom>
          <a:solidFill>
            <a:srgbClr val="F8FAFC"/>
          </a:solidFill>
          <a:ln w="12700">
            <a:solidFill>
              <a:srgbClr val="E2E8F0"/>
            </a:solidFill>
            <a:prstDash val="solid"/>
          </a:ln>
        </p:spPr>
      </p:sp>
      <p:sp>
        <p:nvSpPr>
          <p:cNvPr id="18" name="Shape 13"/>
          <p:cNvSpPr/>
          <p:nvPr/>
        </p:nvSpPr>
        <p:spPr>
          <a:xfrm>
            <a:off x="5733288" y="4087368"/>
            <a:ext cx="402336" cy="402336"/>
          </a:xfrm>
          <a:prstGeom prst="ellipse">
            <a:avLst/>
          </a:prstGeom>
          <a:solidFill>
            <a:srgbClr val="FEF3C7"/>
          </a:solidFill>
          <a:ln w="12700">
            <a:solidFill>
              <a:srgbClr val="FEF3C7"/>
            </a:solidFill>
            <a:prstDash val="solid"/>
          </a:ln>
        </p:spPr>
      </p:sp>
      <p:pic>
        <p:nvPicPr>
          <p:cNvPr id="19" name="Image 3" descr="preencoded.png">    </p:cNvPr>
          <p:cNvPicPr>
            <a:picLocks noChangeAspect="1"/>
          </p:cNvPicPr>
          <p:nvPr/>
        </p:nvPicPr>
        <p:blipFill>
          <a:blip r:embed="rId4"/>
          <a:stretch>
            <a:fillRect/>
          </a:stretch>
        </p:blipFill>
        <p:spPr>
          <a:xfrm>
            <a:off x="5837895" y="4191975"/>
            <a:ext cx="193121" cy="193121"/>
          </a:xfrm>
          <a:prstGeom prst="rect">
            <a:avLst/>
          </a:prstGeom>
        </p:spPr>
      </p:pic>
      <p:sp>
        <p:nvSpPr>
          <p:cNvPr id="20" name="Text 14"/>
          <p:cNvSpPr txBox="1"/>
          <p:nvPr/>
        </p:nvSpPr>
        <p:spPr>
          <a:xfrm>
            <a:off x="6236208" y="4005072"/>
            <a:ext cx="2395728" cy="566928"/>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AI Index report</a:t>
            </a:r>
            <a:endParaRPr lang="en-US" sz="1250" dirty="0"/>
          </a:p>
          <a:p>
            <a:pPr indent="0" marL="0">
              <a:buNone/>
            </a:pPr>
            <a:r>
              <a:rPr lang="en-US" sz="1050" dirty="0">
                <a:solidFill>
                  <a:srgbClr val="475569"/>
                </a:solidFill>
                <a:latin typeface="Calibri" pitchFamily="34" charset="0"/>
                <a:ea typeface="Calibri" pitchFamily="34" charset="-122"/>
                <a:cs typeface="Calibri" pitchFamily="34" charset="-120"/>
              </a:rPr>
              <a:t>Not addressed. It stays silent instead of guessing.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SESSION 1: TRUST TESTS (8:30 – 10:00)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Where do the sources disagree?</a:t>
            </a:r>
            <a:endParaRPr lang="en-US" sz="3000" dirty="0"/>
          </a:p>
        </p:txBody>
      </p:sp>
      <p:sp>
        <p:nvSpPr>
          <p:cNvPr id="4" name="Shape 2"/>
          <p:cNvSpPr/>
          <p:nvPr/>
        </p:nvSpPr>
        <p:spPr>
          <a:xfrm>
            <a:off x="457200" y="1280160"/>
            <a:ext cx="2560320" cy="2697480"/>
          </a:xfrm>
          <a:prstGeom prst="roundRect">
            <a:avLst>
              <a:gd name="adj" fmla="val 4286"/>
            </a:avLst>
          </a:prstGeom>
          <a:solidFill>
            <a:srgbClr val="F8FAFC"/>
          </a:solidFill>
          <a:ln w="12700">
            <a:solidFill>
              <a:srgbClr val="E2E8F0"/>
            </a:solidFill>
            <a:prstDash val="solid"/>
          </a:ln>
        </p:spPr>
      </p:sp>
      <p:sp>
        <p:nvSpPr>
          <p:cNvPr id="5" name="Text 3"/>
          <p:cNvSpPr txBox="1"/>
          <p:nvPr/>
        </p:nvSpPr>
        <p:spPr>
          <a:xfrm>
            <a:off x="621792" y="1371600"/>
            <a:ext cx="2240280" cy="3200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Benchmark rule</a:t>
            </a:r>
            <a:endParaRPr lang="en-US" sz="1600" dirty="0"/>
          </a:p>
        </p:txBody>
      </p:sp>
      <p:sp>
        <p:nvSpPr>
          <p:cNvPr id="6" name="Text 4"/>
          <p:cNvSpPr txBox="1"/>
          <p:nvPr/>
        </p:nvSpPr>
        <p:spPr>
          <a:xfrm>
            <a:off x="621792" y="1764792"/>
            <a:ext cx="2240280" cy="182880"/>
          </a:xfrm>
          <a:prstGeom prst="rect">
            <a:avLst/>
          </a:prstGeom>
          <a:noFill/>
          <a:ln/>
        </p:spPr>
        <p:txBody>
          <a:bodyPr wrap="square" lIns="0" tIns="0" rIns="0" bIns="0" rtlCol="0" anchor="ctr"/>
          <a:lstStyle/>
          <a:p>
            <a:pPr indent="0" marL="0">
              <a:buNone/>
            </a:pPr>
            <a:r>
              <a:rPr lang="en-US" sz="1000" b="1" spc="100" kern="0" dirty="0">
                <a:solidFill>
                  <a:srgbClr val="2563EB"/>
                </a:solidFill>
                <a:latin typeface="Calibri" pitchFamily="34" charset="0"/>
                <a:ea typeface="Calibri" pitchFamily="34" charset="-122"/>
                <a:cs typeface="Calibri" pitchFamily="34" charset="-120"/>
              </a:rPr>
              <a:t>PLAYBOOK</a:t>
            </a:r>
            <a:endParaRPr lang="en-US" sz="1000" dirty="0"/>
          </a:p>
        </p:txBody>
      </p:sp>
      <p:sp>
        <p:nvSpPr>
          <p:cNvPr id="7" name="Text 5"/>
          <p:cNvSpPr txBox="1"/>
          <p:nvPr/>
        </p:nvSpPr>
        <p:spPr>
          <a:xfrm>
            <a:off x="621792" y="1965960"/>
            <a:ext cx="2240280" cy="54864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Rule 4: pick the tool with the top public benchmark score.</a:t>
            </a:r>
            <a:endParaRPr lang="en-US" sz="1150" dirty="0"/>
          </a:p>
        </p:txBody>
      </p:sp>
      <p:sp>
        <p:nvSpPr>
          <p:cNvPr id="8" name="Text 6"/>
          <p:cNvSpPr txBox="1"/>
          <p:nvPr/>
        </p:nvSpPr>
        <p:spPr>
          <a:xfrm>
            <a:off x="621792" y="2560320"/>
            <a:ext cx="2240280" cy="182880"/>
          </a:xfrm>
          <a:prstGeom prst="rect">
            <a:avLst/>
          </a:prstGeom>
          <a:noFill/>
          <a:ln/>
        </p:spPr>
        <p:txBody>
          <a:bodyPr wrap="square" lIns="0" tIns="0" rIns="0" bIns="0" rtlCol="0" anchor="ctr"/>
          <a:lstStyle/>
          <a:p>
            <a:pPr indent="0" marL="0">
              <a:buNone/>
            </a:pPr>
            <a:r>
              <a:rPr lang="en-US" sz="1000" b="1" spc="100" kern="0" dirty="0">
                <a:solidFill>
                  <a:srgbClr val="D97706"/>
                </a:solidFill>
                <a:latin typeface="Calibri" pitchFamily="34" charset="0"/>
                <a:ea typeface="Calibri" pitchFamily="34" charset="-122"/>
                <a:cs typeface="Calibri" pitchFamily="34" charset="-120"/>
              </a:rPr>
              <a:t>AI INDEX</a:t>
            </a:r>
            <a:endParaRPr lang="en-US" sz="1000" dirty="0"/>
          </a:p>
        </p:txBody>
      </p:sp>
      <p:sp>
        <p:nvSpPr>
          <p:cNvPr id="9" name="Text 7"/>
          <p:cNvSpPr txBox="1"/>
          <p:nvPr/>
        </p:nvSpPr>
        <p:spPr>
          <a:xfrm>
            <a:off x="621792" y="2761488"/>
            <a:ext cx="2240280" cy="114300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Scores don't always reflect real-world use (p. 79). The top ten on SWE-bench Verified sit within about 6 points (p. 100–101).</a:t>
            </a:r>
            <a:endParaRPr lang="en-US" sz="1150" dirty="0"/>
          </a:p>
        </p:txBody>
      </p:sp>
      <p:sp>
        <p:nvSpPr>
          <p:cNvPr id="10" name="Shape 8"/>
          <p:cNvSpPr/>
          <p:nvPr/>
        </p:nvSpPr>
        <p:spPr>
          <a:xfrm>
            <a:off x="3291840" y="1280160"/>
            <a:ext cx="2560320" cy="2697480"/>
          </a:xfrm>
          <a:prstGeom prst="roundRect">
            <a:avLst>
              <a:gd name="adj" fmla="val 4286"/>
            </a:avLst>
          </a:prstGeom>
          <a:solidFill>
            <a:srgbClr val="F8FAFC"/>
          </a:solidFill>
          <a:ln w="12700">
            <a:solidFill>
              <a:srgbClr val="E2E8F0"/>
            </a:solidFill>
            <a:prstDash val="solid"/>
          </a:ln>
        </p:spPr>
      </p:sp>
      <p:sp>
        <p:nvSpPr>
          <p:cNvPr id="11" name="Text 9"/>
          <p:cNvSpPr txBox="1"/>
          <p:nvPr/>
        </p:nvSpPr>
        <p:spPr>
          <a:xfrm>
            <a:off x="3456432" y="1371600"/>
            <a:ext cx="2240280" cy="3200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Number of tools</a:t>
            </a:r>
            <a:endParaRPr lang="en-US" sz="1600" dirty="0"/>
          </a:p>
        </p:txBody>
      </p:sp>
      <p:sp>
        <p:nvSpPr>
          <p:cNvPr id="12" name="Text 10"/>
          <p:cNvSpPr txBox="1"/>
          <p:nvPr/>
        </p:nvSpPr>
        <p:spPr>
          <a:xfrm>
            <a:off x="3456432" y="1764792"/>
            <a:ext cx="2240280" cy="182880"/>
          </a:xfrm>
          <a:prstGeom prst="rect">
            <a:avLst/>
          </a:prstGeom>
          <a:noFill/>
          <a:ln/>
        </p:spPr>
        <p:txBody>
          <a:bodyPr wrap="square" lIns="0" tIns="0" rIns="0" bIns="0" rtlCol="0" anchor="ctr"/>
          <a:lstStyle/>
          <a:p>
            <a:pPr indent="0" marL="0">
              <a:buNone/>
            </a:pPr>
            <a:r>
              <a:rPr lang="en-US" sz="1000" b="1" spc="100" kern="0" dirty="0">
                <a:solidFill>
                  <a:srgbClr val="2563EB"/>
                </a:solidFill>
                <a:latin typeface="Calibri" pitchFamily="34" charset="0"/>
                <a:ea typeface="Calibri" pitchFamily="34" charset="-122"/>
                <a:cs typeface="Calibri" pitchFamily="34" charset="-120"/>
              </a:rPr>
              <a:t>PLAYBOOK</a:t>
            </a:r>
            <a:endParaRPr lang="en-US" sz="1000" dirty="0"/>
          </a:p>
        </p:txBody>
      </p:sp>
      <p:sp>
        <p:nvSpPr>
          <p:cNvPr id="13" name="Text 11"/>
          <p:cNvSpPr txBox="1"/>
          <p:nvPr/>
        </p:nvSpPr>
        <p:spPr>
          <a:xfrm>
            <a:off x="3456432" y="1965960"/>
            <a:ext cx="2240280" cy="54864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Standardize on one tool per team.</a:t>
            </a:r>
            <a:endParaRPr lang="en-US" sz="1150" dirty="0"/>
          </a:p>
        </p:txBody>
      </p:sp>
      <p:sp>
        <p:nvSpPr>
          <p:cNvPr id="14" name="Text 12"/>
          <p:cNvSpPr txBox="1"/>
          <p:nvPr/>
        </p:nvSpPr>
        <p:spPr>
          <a:xfrm>
            <a:off x="3456432" y="2560320"/>
            <a:ext cx="2240280" cy="182880"/>
          </a:xfrm>
          <a:prstGeom prst="rect">
            <a:avLst/>
          </a:prstGeom>
          <a:noFill/>
          <a:ln/>
        </p:spPr>
        <p:txBody>
          <a:bodyPr wrap="square" lIns="0" tIns="0" rIns="0" bIns="0" rtlCol="0" anchor="ctr"/>
          <a:lstStyle/>
          <a:p>
            <a:pPr indent="0" marL="0">
              <a:buNone/>
            </a:pPr>
            <a:r>
              <a:rPr lang="en-US" sz="1000" b="1" spc="100" kern="0" dirty="0">
                <a:solidFill>
                  <a:srgbClr val="DC2626"/>
                </a:solidFill>
                <a:latin typeface="Calibri" pitchFamily="34" charset="0"/>
                <a:ea typeface="Calibri" pitchFamily="34" charset="-122"/>
                <a:cs typeface="Calibri" pitchFamily="34" charset="-120"/>
              </a:rPr>
              <a:t>VIDEO</a:t>
            </a:r>
            <a:endParaRPr lang="en-US" sz="1000" dirty="0"/>
          </a:p>
        </p:txBody>
      </p:sp>
      <p:sp>
        <p:nvSpPr>
          <p:cNvPr id="15" name="Text 13"/>
          <p:cNvSpPr txBox="1"/>
          <p:nvPr/>
        </p:nvSpPr>
        <p:spPr>
          <a:xfrm>
            <a:off x="3456432" y="2761488"/>
            <a:ext cx="2240280" cy="114300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 2026 survey it cites says experienced developers use about two (about 9:39).</a:t>
            </a:r>
            <a:endParaRPr lang="en-US" sz="1150" dirty="0"/>
          </a:p>
        </p:txBody>
      </p:sp>
      <p:sp>
        <p:nvSpPr>
          <p:cNvPr id="16" name="Shape 14"/>
          <p:cNvSpPr/>
          <p:nvPr/>
        </p:nvSpPr>
        <p:spPr>
          <a:xfrm>
            <a:off x="6126480" y="1280160"/>
            <a:ext cx="2560320" cy="2697480"/>
          </a:xfrm>
          <a:prstGeom prst="roundRect">
            <a:avLst>
              <a:gd name="adj" fmla="val 4286"/>
            </a:avLst>
          </a:prstGeom>
          <a:solidFill>
            <a:srgbClr val="F8FAFC"/>
          </a:solidFill>
          <a:ln w="12700">
            <a:solidFill>
              <a:srgbClr val="E2E8F0"/>
            </a:solidFill>
            <a:prstDash val="solid"/>
          </a:ln>
        </p:spPr>
      </p:sp>
      <p:sp>
        <p:nvSpPr>
          <p:cNvPr id="17" name="Text 15"/>
          <p:cNvSpPr txBox="1"/>
          <p:nvPr/>
        </p:nvSpPr>
        <p:spPr>
          <a:xfrm>
            <a:off x="6291072" y="1371600"/>
            <a:ext cx="2240280" cy="3200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Quality gates</a:t>
            </a:r>
            <a:endParaRPr lang="en-US" sz="1600" dirty="0"/>
          </a:p>
        </p:txBody>
      </p:sp>
      <p:sp>
        <p:nvSpPr>
          <p:cNvPr id="18" name="Text 16"/>
          <p:cNvSpPr txBox="1"/>
          <p:nvPr/>
        </p:nvSpPr>
        <p:spPr>
          <a:xfrm>
            <a:off x="6291072" y="1764792"/>
            <a:ext cx="2240280" cy="182880"/>
          </a:xfrm>
          <a:prstGeom prst="rect">
            <a:avLst/>
          </a:prstGeom>
          <a:noFill/>
          <a:ln/>
        </p:spPr>
        <p:txBody>
          <a:bodyPr wrap="square" lIns="0" tIns="0" rIns="0" bIns="0" rtlCol="0" anchor="ctr"/>
          <a:lstStyle/>
          <a:p>
            <a:pPr indent="0" marL="0">
              <a:buNone/>
            </a:pPr>
            <a:r>
              <a:rPr lang="en-US" sz="1000" b="1" spc="100" kern="0" dirty="0">
                <a:solidFill>
                  <a:srgbClr val="2563EB"/>
                </a:solidFill>
                <a:latin typeface="Calibri" pitchFamily="34" charset="0"/>
                <a:ea typeface="Calibri" pitchFamily="34" charset="-122"/>
                <a:cs typeface="Calibri" pitchFamily="34" charset="-120"/>
              </a:rPr>
              <a:t>PLAYBOOK</a:t>
            </a:r>
            <a:endParaRPr lang="en-US" sz="1000" dirty="0"/>
          </a:p>
        </p:txBody>
      </p:sp>
      <p:sp>
        <p:nvSpPr>
          <p:cNvPr id="19" name="Text 17"/>
          <p:cNvSpPr txBox="1"/>
          <p:nvPr/>
        </p:nvSpPr>
        <p:spPr>
          <a:xfrm>
            <a:off x="6291072" y="1965960"/>
            <a:ext cx="2240280" cy="54864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No automated gates beyond normal code review.</a:t>
            </a:r>
            <a:endParaRPr lang="en-US" sz="1150" dirty="0"/>
          </a:p>
        </p:txBody>
      </p:sp>
      <p:sp>
        <p:nvSpPr>
          <p:cNvPr id="20" name="Text 18"/>
          <p:cNvSpPr txBox="1"/>
          <p:nvPr/>
        </p:nvSpPr>
        <p:spPr>
          <a:xfrm>
            <a:off x="6291072" y="2560320"/>
            <a:ext cx="2240280" cy="182880"/>
          </a:xfrm>
          <a:prstGeom prst="rect">
            <a:avLst/>
          </a:prstGeom>
          <a:noFill/>
          <a:ln/>
        </p:spPr>
        <p:txBody>
          <a:bodyPr wrap="square" lIns="0" tIns="0" rIns="0" bIns="0" rtlCol="0" anchor="ctr"/>
          <a:lstStyle/>
          <a:p>
            <a:pPr indent="0" marL="0">
              <a:buNone/>
            </a:pPr>
            <a:r>
              <a:rPr lang="en-US" sz="1000" b="1" spc="100" kern="0" dirty="0">
                <a:solidFill>
                  <a:srgbClr val="DC2626"/>
                </a:solidFill>
                <a:latin typeface="Calibri" pitchFamily="34" charset="0"/>
                <a:ea typeface="Calibri" pitchFamily="34" charset="-122"/>
                <a:cs typeface="Calibri" pitchFamily="34" charset="-120"/>
              </a:rPr>
              <a:t>VIDEO</a:t>
            </a:r>
            <a:endParaRPr lang="en-US" sz="1000" dirty="0"/>
          </a:p>
        </p:txBody>
      </p:sp>
      <p:sp>
        <p:nvSpPr>
          <p:cNvPr id="21" name="Text 19"/>
          <p:cNvSpPr txBox="1"/>
          <p:nvPr/>
        </p:nvSpPr>
        <p:spPr>
          <a:xfrm>
            <a:off x="6291072" y="2761488"/>
            <a:ext cx="2240280" cy="114300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Sonar's own survey research: SonarQube users reported 44% fewer AI-related outages (3:30). Vendor research, not proof of cause.</a:t>
            </a:r>
            <a:endParaRPr lang="en-US" sz="1150" dirty="0"/>
          </a:p>
        </p:txBody>
      </p:sp>
      <p:sp>
        <p:nvSpPr>
          <p:cNvPr id="22" name="Shape 20"/>
          <p:cNvSpPr/>
          <p:nvPr/>
        </p:nvSpPr>
        <p:spPr>
          <a:xfrm>
            <a:off x="457200" y="4114800"/>
            <a:ext cx="8229600" cy="640080"/>
          </a:xfrm>
          <a:prstGeom prst="roundRect">
            <a:avLst>
              <a:gd name="adj" fmla="val 17143"/>
            </a:avLst>
          </a:prstGeom>
          <a:solidFill>
            <a:srgbClr val="0F172A"/>
          </a:solidFill>
          <a:ln w="12700">
            <a:solidFill>
              <a:srgbClr val="0F172A"/>
            </a:solidFill>
            <a:prstDash val="solid"/>
          </a:ln>
        </p:spPr>
      </p:sp>
      <p:sp>
        <p:nvSpPr>
          <p:cNvPr id="23" name="Text 21"/>
          <p:cNvSpPr txBox="1"/>
          <p:nvPr/>
        </p:nvSpPr>
        <p:spPr>
          <a:xfrm>
            <a:off x="640080" y="4114800"/>
            <a:ext cx="7863840" cy="640080"/>
          </a:xfrm>
          <a:prstGeom prst="rect">
            <a:avLst/>
          </a:prstGeom>
          <a:noFill/>
          <a:ln/>
        </p:spPr>
        <p:txBody>
          <a:bodyPr wrap="square" lIns="0" tIns="0" rIns="0" bIns="0"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BOUNDARY TEST   </a:t>
            </a:r>
            <a:pPr indent="0" marL="0">
              <a:buNone/>
            </a:pPr>
            <a:r>
              <a:rPr lang="en-US" sz="1300" dirty="0">
                <a:solidFill>
                  <a:srgbClr val="FFFFFF"/>
                </a:solidFill>
                <a:latin typeface="Calibri" pitchFamily="34" charset="0"/>
                <a:ea typeface="Calibri" pitchFamily="34" charset="-122"/>
                <a:cs typeface="Calibri" pitchFamily="34" charset="-120"/>
              </a:rPr>
              <a:t>“Which cloud provider hosts our staging environment?”</a:t>
            </a:r>
            <a:pPr indent="0" marL="0">
              <a:buNone/>
            </a:pPr>
            <a:r>
              <a:rPr lang="en-US" sz="1300" b="1" dirty="0">
                <a:solidFill>
                  <a:srgbClr val="A7F3D0"/>
                </a:solidFill>
                <a:latin typeface="Calibri" pitchFamily="34" charset="0"/>
                <a:ea typeface="Calibri" pitchFamily="34" charset="-122"/>
                <a:cs typeface="Calibri" pitchFamily="34" charset="-120"/>
              </a:rPr>
              <a:t>   →   Not in the sources, so it says so.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SESSION 1: STUDIO (10:00 – 11:00)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Studio: turn sources into shareable outputs</a:t>
            </a:r>
            <a:endParaRPr lang="en-US" sz="3000" dirty="0"/>
          </a:p>
        </p:txBody>
      </p:sp>
      <p:sp>
        <p:nvSpPr>
          <p:cNvPr id="4" name="Shape 2"/>
          <p:cNvSpPr/>
          <p:nvPr/>
        </p:nvSpPr>
        <p:spPr>
          <a:xfrm>
            <a:off x="457200" y="1325880"/>
            <a:ext cx="2560320" cy="2377440"/>
          </a:xfrm>
          <a:prstGeom prst="roundRect">
            <a:avLst>
              <a:gd name="adj" fmla="val 4615"/>
            </a:avLst>
          </a:prstGeom>
          <a:solidFill>
            <a:srgbClr val="F8FAFC"/>
          </a:solidFill>
          <a:ln w="12700">
            <a:solidFill>
              <a:srgbClr val="E2E8F0"/>
            </a:solidFill>
            <a:prstDash val="solid"/>
          </a:ln>
        </p:spPr>
      </p:sp>
      <p:sp>
        <p:nvSpPr>
          <p:cNvPr id="5" name="Shape 3"/>
          <p:cNvSpPr/>
          <p:nvPr/>
        </p:nvSpPr>
        <p:spPr>
          <a:xfrm>
            <a:off x="640080" y="1508760"/>
            <a:ext cx="548640" cy="548640"/>
          </a:xfrm>
          <a:prstGeom prst="ellipse">
            <a:avLst/>
          </a:prstGeom>
          <a:solidFill>
            <a:srgbClr val="DBEAFE"/>
          </a:solidFill>
          <a:ln w="12700">
            <a:solidFill>
              <a:srgbClr val="DBEAFE"/>
            </a:solidFill>
            <a:prstDash val="solid"/>
          </a:ln>
        </p:spPr>
      </p:sp>
      <p:pic>
        <p:nvPicPr>
          <p:cNvPr id="6" name="Image 0" descr="preencoded.png">    </p:cNvPr>
          <p:cNvPicPr>
            <a:picLocks noChangeAspect="1"/>
          </p:cNvPicPr>
          <p:nvPr/>
        </p:nvPicPr>
        <p:blipFill>
          <a:blip r:embed="rId1"/>
          <a:stretch>
            <a:fillRect/>
          </a:stretch>
        </p:blipFill>
        <p:spPr>
          <a:xfrm>
            <a:off x="782726" y="1651406"/>
            <a:ext cx="263347" cy="263347"/>
          </a:xfrm>
          <a:prstGeom prst="rect">
            <a:avLst/>
          </a:prstGeom>
        </p:spPr>
      </p:pic>
      <p:sp>
        <p:nvSpPr>
          <p:cNvPr id="7" name="Text 4"/>
          <p:cNvSpPr txBox="1"/>
          <p:nvPr/>
        </p:nvSpPr>
        <p:spPr>
          <a:xfrm>
            <a:off x="640080" y="2194560"/>
            <a:ext cx="2194560" cy="32004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Audio Overview</a:t>
            </a:r>
            <a:endParaRPr lang="en-US" sz="1800" dirty="0"/>
          </a:p>
        </p:txBody>
      </p:sp>
      <p:sp>
        <p:nvSpPr>
          <p:cNvPr id="8" name="Text 5"/>
          <p:cNvSpPr txBox="1"/>
          <p:nvPr/>
        </p:nvSpPr>
        <p:spPr>
          <a:xfrm>
            <a:off x="640080" y="2560320"/>
            <a:ext cx="2194560" cy="548640"/>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A two-host conversation about your sources.</a:t>
            </a:r>
            <a:endParaRPr lang="en-US" sz="1250" dirty="0"/>
          </a:p>
        </p:txBody>
      </p:sp>
      <p:sp>
        <p:nvSpPr>
          <p:cNvPr id="9" name="Text 6"/>
          <p:cNvSpPr txBox="1"/>
          <p:nvPr/>
        </p:nvSpPr>
        <p:spPr>
          <a:xfrm>
            <a:off x="640080" y="3108960"/>
            <a:ext cx="2194560" cy="502920"/>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Example: “Why Your AI Playbook Is Broken”</a:t>
            </a:r>
            <a:endParaRPr lang="en-US" sz="1100" dirty="0"/>
          </a:p>
        </p:txBody>
      </p:sp>
      <p:sp>
        <p:nvSpPr>
          <p:cNvPr id="10" name="Shape 7"/>
          <p:cNvSpPr/>
          <p:nvPr/>
        </p:nvSpPr>
        <p:spPr>
          <a:xfrm>
            <a:off x="3291840" y="1325880"/>
            <a:ext cx="2560320" cy="2377440"/>
          </a:xfrm>
          <a:prstGeom prst="roundRect">
            <a:avLst>
              <a:gd name="adj" fmla="val 4615"/>
            </a:avLst>
          </a:prstGeom>
          <a:solidFill>
            <a:srgbClr val="F8FAFC"/>
          </a:solidFill>
          <a:ln w="12700">
            <a:solidFill>
              <a:srgbClr val="E2E8F0"/>
            </a:solidFill>
            <a:prstDash val="solid"/>
          </a:ln>
        </p:spPr>
      </p:sp>
      <p:sp>
        <p:nvSpPr>
          <p:cNvPr id="11" name="Shape 8"/>
          <p:cNvSpPr/>
          <p:nvPr/>
        </p:nvSpPr>
        <p:spPr>
          <a:xfrm>
            <a:off x="3474720" y="1508760"/>
            <a:ext cx="548640" cy="548640"/>
          </a:xfrm>
          <a:prstGeom prst="ellipse">
            <a:avLst/>
          </a:prstGeom>
          <a:solidFill>
            <a:srgbClr val="D1FAE5"/>
          </a:solidFill>
          <a:ln w="12700">
            <a:solidFill>
              <a:srgbClr val="D1FAE5"/>
            </a:solidFill>
            <a:prstDash val="solid"/>
          </a:ln>
        </p:spPr>
      </p:sp>
      <p:pic>
        <p:nvPicPr>
          <p:cNvPr id="12" name="Image 1" descr="preencoded.png">    </p:cNvPr>
          <p:cNvPicPr>
            <a:picLocks noChangeAspect="1"/>
          </p:cNvPicPr>
          <p:nvPr/>
        </p:nvPicPr>
        <p:blipFill>
          <a:blip r:embed="rId2"/>
          <a:stretch>
            <a:fillRect/>
          </a:stretch>
        </p:blipFill>
        <p:spPr>
          <a:xfrm>
            <a:off x="3617366" y="1651406"/>
            <a:ext cx="263347" cy="263347"/>
          </a:xfrm>
          <a:prstGeom prst="rect">
            <a:avLst/>
          </a:prstGeom>
        </p:spPr>
      </p:pic>
      <p:sp>
        <p:nvSpPr>
          <p:cNvPr id="13" name="Text 9"/>
          <p:cNvSpPr txBox="1"/>
          <p:nvPr/>
        </p:nvSpPr>
        <p:spPr>
          <a:xfrm>
            <a:off x="3474720" y="2194560"/>
            <a:ext cx="2194560" cy="32004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Quiz</a:t>
            </a:r>
            <a:endParaRPr lang="en-US" sz="1800" dirty="0"/>
          </a:p>
        </p:txBody>
      </p:sp>
      <p:sp>
        <p:nvSpPr>
          <p:cNvPr id="14" name="Text 10"/>
          <p:cNvSpPr txBox="1"/>
          <p:nvPr/>
        </p:nvSpPr>
        <p:spPr>
          <a:xfrm>
            <a:off x="3474720" y="2560320"/>
            <a:ext cx="2194560" cy="548640"/>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Source-based questions, each with a cited explanation.</a:t>
            </a:r>
            <a:endParaRPr lang="en-US" sz="1250" dirty="0"/>
          </a:p>
        </p:txBody>
      </p:sp>
      <p:sp>
        <p:nvSpPr>
          <p:cNvPr id="15" name="Text 11"/>
          <p:cNvSpPr txBox="1"/>
          <p:nvPr/>
        </p:nvSpPr>
        <p:spPr>
          <a:xfrm>
            <a:off x="3474720" y="3108960"/>
            <a:ext cx="2194560" cy="502920"/>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Example: what our playbook requires for payments code</a:t>
            </a:r>
            <a:endParaRPr lang="en-US" sz="1100" dirty="0"/>
          </a:p>
        </p:txBody>
      </p:sp>
      <p:sp>
        <p:nvSpPr>
          <p:cNvPr id="16" name="Shape 12"/>
          <p:cNvSpPr/>
          <p:nvPr/>
        </p:nvSpPr>
        <p:spPr>
          <a:xfrm>
            <a:off x="6126480" y="1325880"/>
            <a:ext cx="2560320" cy="2377440"/>
          </a:xfrm>
          <a:prstGeom prst="roundRect">
            <a:avLst>
              <a:gd name="adj" fmla="val 4615"/>
            </a:avLst>
          </a:prstGeom>
          <a:solidFill>
            <a:srgbClr val="F8FAFC"/>
          </a:solidFill>
          <a:ln w="12700">
            <a:solidFill>
              <a:srgbClr val="E2E8F0"/>
            </a:solidFill>
            <a:prstDash val="solid"/>
          </a:ln>
        </p:spPr>
      </p:sp>
      <p:sp>
        <p:nvSpPr>
          <p:cNvPr id="17" name="Shape 13"/>
          <p:cNvSpPr/>
          <p:nvPr/>
        </p:nvSpPr>
        <p:spPr>
          <a:xfrm>
            <a:off x="6309360" y="1508760"/>
            <a:ext cx="548640" cy="548640"/>
          </a:xfrm>
          <a:prstGeom prst="ellipse">
            <a:avLst/>
          </a:prstGeom>
          <a:solidFill>
            <a:srgbClr val="FEF3C7"/>
          </a:solidFill>
          <a:ln w="12700">
            <a:solidFill>
              <a:srgbClr val="FEF3C7"/>
            </a:solidFill>
            <a:prstDash val="solid"/>
          </a:ln>
        </p:spPr>
      </p:sp>
      <p:pic>
        <p:nvPicPr>
          <p:cNvPr id="18" name="Image 2" descr="preencoded.png">    </p:cNvPr>
          <p:cNvPicPr>
            <a:picLocks noChangeAspect="1"/>
          </p:cNvPicPr>
          <p:nvPr/>
        </p:nvPicPr>
        <p:blipFill>
          <a:blip r:embed="rId3"/>
          <a:stretch>
            <a:fillRect/>
          </a:stretch>
        </p:blipFill>
        <p:spPr>
          <a:xfrm>
            <a:off x="6452006" y="1651406"/>
            <a:ext cx="263347" cy="263347"/>
          </a:xfrm>
          <a:prstGeom prst="rect">
            <a:avLst/>
          </a:prstGeom>
        </p:spPr>
      </p:pic>
      <p:sp>
        <p:nvSpPr>
          <p:cNvPr id="19" name="Text 14"/>
          <p:cNvSpPr txBox="1"/>
          <p:nvPr/>
        </p:nvSpPr>
        <p:spPr>
          <a:xfrm>
            <a:off x="6309360" y="2194560"/>
            <a:ext cx="2194560" cy="32004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More formats</a:t>
            </a:r>
            <a:endParaRPr lang="en-US" sz="1800" dirty="0"/>
          </a:p>
        </p:txBody>
      </p:sp>
      <p:sp>
        <p:nvSpPr>
          <p:cNvPr id="20" name="Text 15"/>
          <p:cNvSpPr txBox="1"/>
          <p:nvPr/>
        </p:nvSpPr>
        <p:spPr>
          <a:xfrm>
            <a:off x="6309360" y="2560320"/>
            <a:ext cx="2194560" cy="548640"/>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Reports, flashcards, mind maps, slide decks and more.</a:t>
            </a:r>
            <a:endParaRPr lang="en-US" sz="1250" dirty="0"/>
          </a:p>
        </p:txBody>
      </p:sp>
      <p:sp>
        <p:nvSpPr>
          <p:cNvPr id="21" name="Text 16"/>
          <p:cNvSpPr txBox="1"/>
          <p:nvPr/>
        </p:nvSpPr>
        <p:spPr>
          <a:xfrm>
            <a:off x="6309360" y="3108960"/>
            <a:ext cx="2194560" cy="502920"/>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Same sources, different formats</a:t>
            </a:r>
            <a:endParaRPr lang="en-US" sz="1100" dirty="0"/>
          </a:p>
        </p:txBody>
      </p:sp>
      <p:sp>
        <p:nvSpPr>
          <p:cNvPr id="22" name="Shape 17"/>
          <p:cNvSpPr/>
          <p:nvPr/>
        </p:nvSpPr>
        <p:spPr>
          <a:xfrm>
            <a:off x="457200" y="3931920"/>
            <a:ext cx="8229600" cy="685800"/>
          </a:xfrm>
          <a:prstGeom prst="roundRect">
            <a:avLst>
              <a:gd name="adj" fmla="val 16000"/>
            </a:avLst>
          </a:prstGeom>
          <a:solidFill>
            <a:srgbClr val="FFFBEB"/>
          </a:solidFill>
          <a:ln w="12700">
            <a:solidFill>
              <a:srgbClr val="FDE68A"/>
            </a:solidFill>
            <a:prstDash val="solid"/>
          </a:ln>
        </p:spPr>
      </p:sp>
      <p:sp>
        <p:nvSpPr>
          <p:cNvPr id="23" name="Shape 18"/>
          <p:cNvSpPr/>
          <p:nvPr/>
        </p:nvSpPr>
        <p:spPr>
          <a:xfrm>
            <a:off x="621792" y="4069080"/>
            <a:ext cx="411480" cy="411480"/>
          </a:xfrm>
          <a:prstGeom prst="ellipse">
            <a:avLst/>
          </a:prstGeom>
          <a:solidFill>
            <a:srgbClr val="FEF3C7"/>
          </a:solidFill>
          <a:ln w="12700">
            <a:solidFill>
              <a:srgbClr val="FEF3C7"/>
            </a:solidFill>
            <a:prstDash val="solid"/>
          </a:ln>
        </p:spPr>
      </p:sp>
      <p:pic>
        <p:nvPicPr>
          <p:cNvPr id="24" name="Image 3" descr="preencoded.png">    </p:cNvPr>
          <p:cNvPicPr>
            <a:picLocks noChangeAspect="1"/>
          </p:cNvPicPr>
          <p:nvPr/>
        </p:nvPicPr>
        <p:blipFill>
          <a:blip r:embed="rId4"/>
          <a:stretch>
            <a:fillRect/>
          </a:stretch>
        </p:blipFill>
        <p:spPr>
          <a:xfrm>
            <a:off x="728777" y="4176065"/>
            <a:ext cx="197510" cy="197510"/>
          </a:xfrm>
          <a:prstGeom prst="rect">
            <a:avLst/>
          </a:prstGeom>
        </p:spPr>
      </p:pic>
      <p:sp>
        <p:nvSpPr>
          <p:cNvPr id="25" name="Text 19"/>
          <p:cNvSpPr txBox="1"/>
          <p:nvPr/>
        </p:nvSpPr>
        <p:spPr>
          <a:xfrm>
            <a:off x="1188720" y="3931920"/>
            <a:ext cx="7315200" cy="685800"/>
          </a:xfrm>
          <a:prstGeom prst="rect">
            <a:avLst/>
          </a:prstGeom>
          <a:noFill/>
          <a:ln/>
        </p:spPr>
        <p:txBody>
          <a:bodyPr wrap="square" lIns="0" tIns="0" rIns="0" bIns="0" rtlCol="0" anchor="ctr"/>
          <a:lstStyle/>
          <a:p>
            <a:pPr indent="0" marL="0">
              <a:buNone/>
            </a:pPr>
            <a:r>
              <a:rPr lang="en-US" sz="1400" b="1" dirty="0">
                <a:solidFill>
                  <a:srgbClr val="78350F"/>
                </a:solidFill>
                <a:latin typeface="Calibri" pitchFamily="34" charset="0"/>
                <a:ea typeface="Calibri" pitchFamily="34" charset="-122"/>
                <a:cs typeface="Calibri" pitchFamily="34" charset="-120"/>
              </a:rPr>
              <a:t>Audio has no clickable citations. </a:t>
            </a:r>
            <a:pPr indent="0" marL="0">
              <a:buNone/>
            </a:pPr>
            <a:r>
              <a:rPr lang="en-US" sz="1400" dirty="0">
                <a:solidFill>
                  <a:srgbClr val="78350F"/>
                </a:solidFill>
                <a:latin typeface="Calibri" pitchFamily="34" charset="0"/>
                <a:ea typeface="Calibri" pitchFamily="34" charset="-122"/>
                <a:cs typeface="Calibri" pitchFamily="34" charset="-120"/>
              </a:rPr>
              <a:t>Use it for orientation, then verify in the cited notes.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SESSION 1: PLANS (11:00 – 13:00)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Check the plans page for current limits</a:t>
            </a:r>
            <a:endParaRPr lang="en-US" sz="3000" dirty="0"/>
          </a:p>
        </p:txBody>
      </p:sp>
      <p:sp>
        <p:nvSpPr>
          <p:cNvPr id="4" name="Shape 2"/>
          <p:cNvSpPr/>
          <p:nvPr/>
        </p:nvSpPr>
        <p:spPr>
          <a:xfrm>
            <a:off x="457200" y="1371600"/>
            <a:ext cx="4480560" cy="3017520"/>
          </a:xfrm>
          <a:prstGeom prst="roundRect">
            <a:avLst>
              <a:gd name="adj" fmla="val 3636"/>
            </a:avLst>
          </a:prstGeom>
          <a:solidFill>
            <a:srgbClr val="EFF6FF"/>
          </a:solidFill>
          <a:ln w="12700">
            <a:solidFill>
              <a:srgbClr val="BFDBFE"/>
            </a:solidFill>
            <a:prstDash val="solid"/>
          </a:ln>
        </p:spPr>
      </p:sp>
      <p:sp>
        <p:nvSpPr>
          <p:cNvPr id="5" name="Shape 3"/>
          <p:cNvSpPr/>
          <p:nvPr/>
        </p:nvSpPr>
        <p:spPr>
          <a:xfrm>
            <a:off x="685800" y="1600200"/>
            <a:ext cx="548640" cy="548640"/>
          </a:xfrm>
          <a:prstGeom prst="ellipse">
            <a:avLst/>
          </a:prstGeom>
          <a:solidFill>
            <a:srgbClr val="DBEAFE"/>
          </a:solidFill>
          <a:ln w="12700">
            <a:solidFill>
              <a:srgbClr val="DBEAFE"/>
            </a:solidFill>
            <a:prstDash val="solid"/>
          </a:ln>
        </p:spPr>
      </p:sp>
      <p:pic>
        <p:nvPicPr>
          <p:cNvPr id="6" name="Image 0" descr="preencoded.png">    </p:cNvPr>
          <p:cNvPicPr>
            <a:picLocks noChangeAspect="1"/>
          </p:cNvPicPr>
          <p:nvPr/>
        </p:nvPicPr>
        <p:blipFill>
          <a:blip r:embed="rId1"/>
          <a:stretch>
            <a:fillRect/>
          </a:stretch>
        </p:blipFill>
        <p:spPr>
          <a:xfrm>
            <a:off x="828446" y="1742846"/>
            <a:ext cx="263347" cy="263347"/>
          </a:xfrm>
          <a:prstGeom prst="rect">
            <a:avLst/>
          </a:prstGeom>
        </p:spPr>
      </p:pic>
      <p:sp>
        <p:nvSpPr>
          <p:cNvPr id="7" name="Text 4">
            <a:hlinkClick r:id="rId2" tooltip=""/>
          </p:cNvPr>
          <p:cNvSpPr txBox="1"/>
          <p:nvPr/>
        </p:nvSpPr>
        <p:spPr>
          <a:xfrm>
            <a:off x="685800" y="2377440"/>
            <a:ext cx="4114800" cy="548640"/>
          </a:xfrm>
          <a:prstGeom prst="rect">
            <a:avLst/>
          </a:prstGeom>
          <a:noFill/>
          <a:ln/>
        </p:spPr>
        <p:txBody>
          <a:bodyPr wrap="square" lIns="0" tIns="0" rIns="0" bIns="0" rtlCol="0" anchor="ctr"/>
          <a:lstStyle/>
          <a:p>
            <a:pPr indent="0" marL="0">
              <a:buNone/>
            </a:pPr>
            <a:r>
              <a:rPr lang="en-US" sz="2800" b="1" u="sng" dirty="0">
                <a:solidFill>
                  <a:srgbClr val="2563E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notebook.google/plans</a:t>
            </a:r>
            <a:endParaRPr lang="en-US" sz="2800" dirty="0"/>
          </a:p>
        </p:txBody>
      </p:sp>
      <p:sp>
        <p:nvSpPr>
          <p:cNvPr id="8" name="Text 5"/>
          <p:cNvSpPr txBox="1"/>
          <p:nvPr/>
        </p:nvSpPr>
        <p:spPr>
          <a:xfrm>
            <a:off x="685800" y="3017520"/>
            <a:ext cx="4023360" cy="82296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Limits and prices change, so we read them live instead of freezing numbers on a slide.</a:t>
            </a:r>
            <a:endParaRPr lang="en-US" sz="1400" dirty="0"/>
          </a:p>
        </p:txBody>
      </p:sp>
      <p:sp>
        <p:nvSpPr>
          <p:cNvPr id="9" name="Text 6"/>
          <p:cNvSpPr txBox="1"/>
          <p:nvPr/>
        </p:nvSpPr>
        <p:spPr>
          <a:xfrm>
            <a:off x="685800" y="3840480"/>
            <a:ext cx="4023360" cy="411480"/>
          </a:xfrm>
          <a:prstGeom prst="rect">
            <a:avLst/>
          </a:prstGeom>
          <a:noFill/>
          <a:ln/>
        </p:spPr>
        <p:txBody>
          <a:bodyPr wrap="square" lIns="0" tIns="0" rIns="0" bIns="0" rtlCol="0" anchor="t"/>
          <a:lstStyle/>
          <a:p>
            <a:pPr indent="0" marL="0">
              <a:buNone/>
            </a:pPr>
            <a:r>
              <a:rPr lang="en-US" sz="1150" i="1" dirty="0">
                <a:solidFill>
                  <a:srgbClr val="64748B"/>
                </a:solidFill>
                <a:latin typeface="Calibri" pitchFamily="34" charset="0"/>
                <a:ea typeface="Calibri" pitchFamily="34" charset="-122"/>
                <a:cs typeface="Calibri" pitchFamily="34" charset="-120"/>
              </a:rPr>
              <a:t>Workspace accounts have their own limits and admin controls.</a:t>
            </a:r>
            <a:endParaRPr lang="en-US" sz="1150" dirty="0"/>
          </a:p>
        </p:txBody>
      </p:sp>
      <p:sp>
        <p:nvSpPr>
          <p:cNvPr id="10" name="Text 7"/>
          <p:cNvSpPr txBox="1"/>
          <p:nvPr/>
        </p:nvSpPr>
        <p:spPr>
          <a:xfrm>
            <a:off x="5257800" y="1371600"/>
            <a:ext cx="3429000" cy="228600"/>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TO COMPARE</a:t>
            </a:r>
            <a:endParaRPr lang="en-US" sz="1100" dirty="0"/>
          </a:p>
        </p:txBody>
      </p:sp>
      <p:sp>
        <p:nvSpPr>
          <p:cNvPr id="11" name="Shape 8"/>
          <p:cNvSpPr/>
          <p:nvPr/>
        </p:nvSpPr>
        <p:spPr>
          <a:xfrm>
            <a:off x="5257800" y="1737360"/>
            <a:ext cx="3429000" cy="566928"/>
          </a:xfrm>
          <a:prstGeom prst="roundRect">
            <a:avLst>
              <a:gd name="adj" fmla="val 19355"/>
            </a:avLst>
          </a:prstGeom>
          <a:solidFill>
            <a:srgbClr val="F8FAFC"/>
          </a:solidFill>
          <a:ln w="12700">
            <a:solidFill>
              <a:srgbClr val="E2E8F0"/>
            </a:solidFill>
            <a:prstDash val="solid"/>
          </a:ln>
        </p:spPr>
      </p:sp>
      <p:sp>
        <p:nvSpPr>
          <p:cNvPr id="12" name="Shape 9"/>
          <p:cNvSpPr/>
          <p:nvPr/>
        </p:nvSpPr>
        <p:spPr>
          <a:xfrm>
            <a:off x="5394960" y="1837944"/>
            <a:ext cx="365760" cy="365760"/>
          </a:xfrm>
          <a:prstGeom prst="ellipse">
            <a:avLst/>
          </a:prstGeom>
          <a:solidFill>
            <a:srgbClr val="D1FAE5"/>
          </a:solidFill>
          <a:ln w="12700">
            <a:solidFill>
              <a:srgbClr val="D1FAE5"/>
            </a:solidFill>
            <a:prstDash val="solid"/>
          </a:ln>
        </p:spPr>
      </p:sp>
      <p:pic>
        <p:nvPicPr>
          <p:cNvPr id="13" name="Image 1" descr="preencoded.png">    </p:cNvPr>
          <p:cNvPicPr>
            <a:picLocks noChangeAspect="1"/>
          </p:cNvPicPr>
          <p:nvPr/>
        </p:nvPicPr>
        <p:blipFill>
          <a:blip r:embed="rId3"/>
          <a:stretch>
            <a:fillRect/>
          </a:stretch>
        </p:blipFill>
        <p:spPr>
          <a:xfrm>
            <a:off x="5490058" y="1933042"/>
            <a:ext cx="175565" cy="175565"/>
          </a:xfrm>
          <a:prstGeom prst="rect">
            <a:avLst/>
          </a:prstGeom>
        </p:spPr>
      </p:pic>
      <p:sp>
        <p:nvSpPr>
          <p:cNvPr id="14" name="Text 10"/>
          <p:cNvSpPr txBox="1"/>
          <p:nvPr/>
        </p:nvSpPr>
        <p:spPr>
          <a:xfrm>
            <a:off x="5897880" y="1737360"/>
            <a:ext cx="2697480" cy="56692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Sources per notebook</a:t>
            </a:r>
            <a:endParaRPr lang="en-US" sz="1400" dirty="0"/>
          </a:p>
        </p:txBody>
      </p:sp>
      <p:sp>
        <p:nvSpPr>
          <p:cNvPr id="15" name="Shape 11"/>
          <p:cNvSpPr/>
          <p:nvPr/>
        </p:nvSpPr>
        <p:spPr>
          <a:xfrm>
            <a:off x="5257800" y="2395728"/>
            <a:ext cx="3429000" cy="566928"/>
          </a:xfrm>
          <a:prstGeom prst="roundRect">
            <a:avLst>
              <a:gd name="adj" fmla="val 19355"/>
            </a:avLst>
          </a:prstGeom>
          <a:solidFill>
            <a:srgbClr val="F8FAFC"/>
          </a:solidFill>
          <a:ln w="12700">
            <a:solidFill>
              <a:srgbClr val="E2E8F0"/>
            </a:solidFill>
            <a:prstDash val="solid"/>
          </a:ln>
        </p:spPr>
      </p:sp>
      <p:sp>
        <p:nvSpPr>
          <p:cNvPr id="16" name="Shape 12"/>
          <p:cNvSpPr/>
          <p:nvPr/>
        </p:nvSpPr>
        <p:spPr>
          <a:xfrm>
            <a:off x="5394960" y="2496312"/>
            <a:ext cx="365760" cy="365760"/>
          </a:xfrm>
          <a:prstGeom prst="ellipse">
            <a:avLst/>
          </a:prstGeom>
          <a:solidFill>
            <a:srgbClr val="D1FAE5"/>
          </a:solidFill>
          <a:ln w="12700">
            <a:solidFill>
              <a:srgbClr val="D1FAE5"/>
            </a:solidFill>
            <a:prstDash val="solid"/>
          </a:ln>
        </p:spPr>
      </p:sp>
      <p:pic>
        <p:nvPicPr>
          <p:cNvPr id="17" name="Image 2" descr="preencoded.png">    </p:cNvPr>
          <p:cNvPicPr>
            <a:picLocks noChangeAspect="1"/>
          </p:cNvPicPr>
          <p:nvPr/>
        </p:nvPicPr>
        <p:blipFill>
          <a:blip r:embed="rId4"/>
          <a:stretch>
            <a:fillRect/>
          </a:stretch>
        </p:blipFill>
        <p:spPr>
          <a:xfrm>
            <a:off x="5490058" y="2591410"/>
            <a:ext cx="175565" cy="175565"/>
          </a:xfrm>
          <a:prstGeom prst="rect">
            <a:avLst/>
          </a:prstGeom>
        </p:spPr>
      </p:pic>
      <p:sp>
        <p:nvSpPr>
          <p:cNvPr id="18" name="Text 13"/>
          <p:cNvSpPr txBox="1"/>
          <p:nvPr/>
        </p:nvSpPr>
        <p:spPr>
          <a:xfrm>
            <a:off x="5897880" y="2395728"/>
            <a:ext cx="2697480" cy="56692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Notebooks per account</a:t>
            </a:r>
            <a:endParaRPr lang="en-US" sz="1400" dirty="0"/>
          </a:p>
        </p:txBody>
      </p:sp>
      <p:sp>
        <p:nvSpPr>
          <p:cNvPr id="19" name="Shape 14"/>
          <p:cNvSpPr/>
          <p:nvPr/>
        </p:nvSpPr>
        <p:spPr>
          <a:xfrm>
            <a:off x="5257800" y="3054096"/>
            <a:ext cx="3429000" cy="566928"/>
          </a:xfrm>
          <a:prstGeom prst="roundRect">
            <a:avLst>
              <a:gd name="adj" fmla="val 19355"/>
            </a:avLst>
          </a:prstGeom>
          <a:solidFill>
            <a:srgbClr val="F8FAFC"/>
          </a:solidFill>
          <a:ln w="12700">
            <a:solidFill>
              <a:srgbClr val="E2E8F0"/>
            </a:solidFill>
            <a:prstDash val="solid"/>
          </a:ln>
        </p:spPr>
      </p:sp>
      <p:sp>
        <p:nvSpPr>
          <p:cNvPr id="20" name="Shape 15"/>
          <p:cNvSpPr/>
          <p:nvPr/>
        </p:nvSpPr>
        <p:spPr>
          <a:xfrm>
            <a:off x="5394960" y="3154680"/>
            <a:ext cx="365760" cy="365760"/>
          </a:xfrm>
          <a:prstGeom prst="ellipse">
            <a:avLst/>
          </a:prstGeom>
          <a:solidFill>
            <a:srgbClr val="D1FAE5"/>
          </a:solidFill>
          <a:ln w="12700">
            <a:solidFill>
              <a:srgbClr val="D1FAE5"/>
            </a:solidFill>
            <a:prstDash val="solid"/>
          </a:ln>
        </p:spPr>
      </p:sp>
      <p:pic>
        <p:nvPicPr>
          <p:cNvPr id="21" name="Image 3" descr="preencoded.png">    </p:cNvPr>
          <p:cNvPicPr>
            <a:picLocks noChangeAspect="1"/>
          </p:cNvPicPr>
          <p:nvPr/>
        </p:nvPicPr>
        <p:blipFill>
          <a:blip r:embed="rId5"/>
          <a:stretch>
            <a:fillRect/>
          </a:stretch>
        </p:blipFill>
        <p:spPr>
          <a:xfrm>
            <a:off x="5490058" y="3249778"/>
            <a:ext cx="175565" cy="175565"/>
          </a:xfrm>
          <a:prstGeom prst="rect">
            <a:avLst/>
          </a:prstGeom>
        </p:spPr>
      </p:pic>
      <p:sp>
        <p:nvSpPr>
          <p:cNvPr id="22" name="Text 16"/>
          <p:cNvSpPr txBox="1"/>
          <p:nvPr/>
        </p:nvSpPr>
        <p:spPr>
          <a:xfrm>
            <a:off x="5897880" y="3054096"/>
            <a:ext cx="2697480" cy="56692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Daily Audio Overviews</a:t>
            </a:r>
            <a:endParaRPr lang="en-US" sz="1400" dirty="0"/>
          </a:p>
        </p:txBody>
      </p:sp>
      <p:sp>
        <p:nvSpPr>
          <p:cNvPr id="23" name="Shape 17"/>
          <p:cNvSpPr/>
          <p:nvPr/>
        </p:nvSpPr>
        <p:spPr>
          <a:xfrm>
            <a:off x="5257800" y="3712464"/>
            <a:ext cx="3429000" cy="566928"/>
          </a:xfrm>
          <a:prstGeom prst="roundRect">
            <a:avLst>
              <a:gd name="adj" fmla="val 19355"/>
            </a:avLst>
          </a:prstGeom>
          <a:solidFill>
            <a:srgbClr val="F8FAFC"/>
          </a:solidFill>
          <a:ln w="12700">
            <a:solidFill>
              <a:srgbClr val="E2E8F0"/>
            </a:solidFill>
            <a:prstDash val="solid"/>
          </a:ln>
        </p:spPr>
      </p:sp>
      <p:sp>
        <p:nvSpPr>
          <p:cNvPr id="24" name="Shape 18"/>
          <p:cNvSpPr/>
          <p:nvPr/>
        </p:nvSpPr>
        <p:spPr>
          <a:xfrm>
            <a:off x="5394960" y="3813048"/>
            <a:ext cx="365760" cy="365760"/>
          </a:xfrm>
          <a:prstGeom prst="ellipse">
            <a:avLst/>
          </a:prstGeom>
          <a:solidFill>
            <a:srgbClr val="D1FAE5"/>
          </a:solidFill>
          <a:ln w="12700">
            <a:solidFill>
              <a:srgbClr val="D1FAE5"/>
            </a:solidFill>
            <a:prstDash val="solid"/>
          </a:ln>
        </p:spPr>
      </p:sp>
      <p:pic>
        <p:nvPicPr>
          <p:cNvPr id="25" name="Image 4" descr="preencoded.png">    </p:cNvPr>
          <p:cNvPicPr>
            <a:picLocks noChangeAspect="1"/>
          </p:cNvPicPr>
          <p:nvPr/>
        </p:nvPicPr>
        <p:blipFill>
          <a:blip r:embed="rId6"/>
          <a:stretch>
            <a:fillRect/>
          </a:stretch>
        </p:blipFill>
        <p:spPr>
          <a:xfrm>
            <a:off x="5490058" y="3908146"/>
            <a:ext cx="175565" cy="175565"/>
          </a:xfrm>
          <a:prstGeom prst="rect">
            <a:avLst/>
          </a:prstGeom>
        </p:spPr>
      </p:pic>
      <p:sp>
        <p:nvSpPr>
          <p:cNvPr id="26" name="Text 19"/>
          <p:cNvSpPr txBox="1"/>
          <p:nvPr/>
        </p:nvSpPr>
        <p:spPr>
          <a:xfrm>
            <a:off x="5897880" y="3712464"/>
            <a:ext cx="2697480" cy="56692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Code execution and team features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SESSION 1: BOUNDARIES (13:00 – 14:30)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Where it fits, and where it doesn't</a:t>
            </a:r>
            <a:endParaRPr lang="en-US" sz="3000" dirty="0"/>
          </a:p>
        </p:txBody>
      </p:sp>
      <p:sp>
        <p:nvSpPr>
          <p:cNvPr id="4" name="Shape 2"/>
          <p:cNvSpPr/>
          <p:nvPr/>
        </p:nvSpPr>
        <p:spPr>
          <a:xfrm>
            <a:off x="457200" y="1325880"/>
            <a:ext cx="4023360" cy="3017520"/>
          </a:xfrm>
          <a:prstGeom prst="roundRect">
            <a:avLst>
              <a:gd name="adj" fmla="val 3636"/>
            </a:avLst>
          </a:prstGeom>
          <a:solidFill>
            <a:srgbClr val="ECFDF5"/>
          </a:solidFill>
          <a:ln w="12700">
            <a:solidFill>
              <a:srgbClr val="A7F3D0"/>
            </a:solidFill>
            <a:prstDash val="solid"/>
          </a:ln>
        </p:spPr>
      </p:sp>
      <p:sp>
        <p:nvSpPr>
          <p:cNvPr id="5" name="Shape 3"/>
          <p:cNvSpPr/>
          <p:nvPr/>
        </p:nvSpPr>
        <p:spPr>
          <a:xfrm>
            <a:off x="640080" y="1463040"/>
            <a:ext cx="411480" cy="411480"/>
          </a:xfrm>
          <a:prstGeom prst="ellipse">
            <a:avLst/>
          </a:prstGeom>
          <a:solidFill>
            <a:srgbClr val="D1FAE5"/>
          </a:solidFill>
          <a:ln w="12700">
            <a:solidFill>
              <a:srgbClr val="D1FAE5"/>
            </a:solidFill>
            <a:prstDash val="solid"/>
          </a:ln>
        </p:spPr>
      </p:sp>
      <p:pic>
        <p:nvPicPr>
          <p:cNvPr id="6" name="Image 0" descr="preencoded.png">    </p:cNvPr>
          <p:cNvPicPr>
            <a:picLocks noChangeAspect="1"/>
          </p:cNvPicPr>
          <p:nvPr/>
        </p:nvPicPr>
        <p:blipFill>
          <a:blip r:embed="rId1"/>
          <a:stretch>
            <a:fillRect/>
          </a:stretch>
        </p:blipFill>
        <p:spPr>
          <a:xfrm>
            <a:off x="747065" y="1570025"/>
            <a:ext cx="197510" cy="197510"/>
          </a:xfrm>
          <a:prstGeom prst="rect">
            <a:avLst/>
          </a:prstGeom>
        </p:spPr>
      </p:pic>
      <p:sp>
        <p:nvSpPr>
          <p:cNvPr id="7" name="Text 4"/>
          <p:cNvSpPr txBox="1"/>
          <p:nvPr/>
        </p:nvSpPr>
        <p:spPr>
          <a:xfrm>
            <a:off x="1161288" y="1463040"/>
            <a:ext cx="3108960" cy="411480"/>
          </a:xfrm>
          <a:prstGeom prst="rect">
            <a:avLst/>
          </a:prstGeom>
          <a:noFill/>
          <a:ln/>
        </p:spPr>
        <p:txBody>
          <a:bodyPr wrap="square" lIns="0" tIns="0" rIns="0" bIns="0" rtlCol="0" anchor="ctr"/>
          <a:lstStyle/>
          <a:p>
            <a:pPr indent="0" marL="0">
              <a:buNone/>
            </a:pPr>
            <a:r>
              <a:rPr lang="en-US" sz="1900" b="1" dirty="0">
                <a:solidFill>
                  <a:srgbClr val="166534"/>
                </a:solidFill>
                <a:latin typeface="Calibri" pitchFamily="34" charset="0"/>
                <a:ea typeface="Calibri" pitchFamily="34" charset="-122"/>
                <a:cs typeface="Calibri" pitchFamily="34" charset="-120"/>
              </a:rPr>
              <a:t>Good fit</a:t>
            </a:r>
            <a:endParaRPr lang="en-US" sz="1900" dirty="0"/>
          </a:p>
        </p:txBody>
      </p:sp>
      <p:sp>
        <p:nvSpPr>
          <p:cNvPr id="8" name="Text 5"/>
          <p:cNvSpPr txBox="1"/>
          <p:nvPr/>
        </p:nvSpPr>
        <p:spPr>
          <a:xfrm>
            <a:off x="640080" y="2103120"/>
            <a:ext cx="3657600" cy="219456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14532D"/>
                </a:solidFill>
                <a:latin typeface="Calibri" pitchFamily="34" charset="0"/>
                <a:ea typeface="Calibri" pitchFamily="34" charset="-122"/>
                <a:cs typeface="Calibri" pitchFamily="34" charset="-120"/>
              </a:rPr>
              <a:t>Answers that live in your own documents</a:t>
            </a:r>
            <a:endParaRPr lang="en-US" sz="1600" dirty="0"/>
          </a:p>
          <a:p>
            <a:pPr marL="203200" indent="-203200">
              <a:spcAft>
                <a:spcPts val="1200"/>
              </a:spcAft>
              <a:buSzPct val="100000"/>
              <a:buChar char="•"/>
            </a:pPr>
            <a:r>
              <a:rPr lang="en-US" sz="1600" dirty="0">
                <a:solidFill>
                  <a:srgbClr val="14532D"/>
                </a:solidFill>
                <a:latin typeface="Calibri" pitchFamily="34" charset="0"/>
                <a:ea typeface="Calibri" pitchFamily="34" charset="-122"/>
                <a:cs typeface="Calibri" pitchFamily="34" charset="-120"/>
              </a:rPr>
              <a:t>Policy and standards audits, literature reviews</a:t>
            </a:r>
            <a:endParaRPr lang="en-US" sz="1600" dirty="0"/>
          </a:p>
          <a:p>
            <a:pPr marL="203200" indent="-203200">
              <a:spcAft>
                <a:spcPts val="1200"/>
              </a:spcAft>
              <a:buSzPct val="100000"/>
              <a:buChar char="•"/>
            </a:pPr>
            <a:r>
              <a:rPr lang="en-US" sz="1600" dirty="0">
                <a:solidFill>
                  <a:srgbClr val="14532D"/>
                </a:solidFill>
                <a:latin typeface="Calibri" pitchFamily="34" charset="0"/>
                <a:ea typeface="Calibri" pitchFamily="34" charset="-122"/>
                <a:cs typeface="Calibri" pitchFamily="34" charset="-120"/>
              </a:rPr>
              <a:t>Briefing a team from long PDFs, docs and videos</a:t>
            </a:r>
            <a:endParaRPr lang="en-US" sz="1600" dirty="0"/>
          </a:p>
        </p:txBody>
      </p:sp>
      <p:sp>
        <p:nvSpPr>
          <p:cNvPr id="9" name="Shape 6"/>
          <p:cNvSpPr/>
          <p:nvPr/>
        </p:nvSpPr>
        <p:spPr>
          <a:xfrm>
            <a:off x="4663440" y="1325880"/>
            <a:ext cx="4023360" cy="3017520"/>
          </a:xfrm>
          <a:prstGeom prst="roundRect">
            <a:avLst>
              <a:gd name="adj" fmla="val 3636"/>
            </a:avLst>
          </a:prstGeom>
          <a:solidFill>
            <a:srgbClr val="FEF2F2"/>
          </a:solidFill>
          <a:ln w="12700">
            <a:solidFill>
              <a:srgbClr val="FECACA"/>
            </a:solidFill>
            <a:prstDash val="solid"/>
          </a:ln>
        </p:spPr>
      </p:sp>
      <p:sp>
        <p:nvSpPr>
          <p:cNvPr id="10" name="Shape 7"/>
          <p:cNvSpPr/>
          <p:nvPr/>
        </p:nvSpPr>
        <p:spPr>
          <a:xfrm>
            <a:off x="4846320" y="1463040"/>
            <a:ext cx="411480" cy="411480"/>
          </a:xfrm>
          <a:prstGeom prst="ellipse">
            <a:avLst/>
          </a:prstGeom>
          <a:solidFill>
            <a:srgbClr val="FEE2E2"/>
          </a:solidFill>
          <a:ln w="12700">
            <a:solidFill>
              <a:srgbClr val="FEE2E2"/>
            </a:solidFill>
            <a:prstDash val="solid"/>
          </a:ln>
        </p:spPr>
      </p:sp>
      <p:pic>
        <p:nvPicPr>
          <p:cNvPr id="11" name="Image 1" descr="preencoded.png">    </p:cNvPr>
          <p:cNvPicPr>
            <a:picLocks noChangeAspect="1"/>
          </p:cNvPicPr>
          <p:nvPr/>
        </p:nvPicPr>
        <p:blipFill>
          <a:blip r:embed="rId2"/>
          <a:stretch>
            <a:fillRect/>
          </a:stretch>
        </p:blipFill>
        <p:spPr>
          <a:xfrm>
            <a:off x="4953305" y="1570025"/>
            <a:ext cx="197510" cy="197510"/>
          </a:xfrm>
          <a:prstGeom prst="rect">
            <a:avLst/>
          </a:prstGeom>
        </p:spPr>
      </p:pic>
      <p:sp>
        <p:nvSpPr>
          <p:cNvPr id="12" name="Text 8"/>
          <p:cNvSpPr txBox="1"/>
          <p:nvPr/>
        </p:nvSpPr>
        <p:spPr>
          <a:xfrm>
            <a:off x="5367528" y="1463040"/>
            <a:ext cx="3108960" cy="411480"/>
          </a:xfrm>
          <a:prstGeom prst="rect">
            <a:avLst/>
          </a:prstGeom>
          <a:noFill/>
          <a:ln/>
        </p:spPr>
        <p:txBody>
          <a:bodyPr wrap="square" lIns="0" tIns="0" rIns="0" bIns="0" rtlCol="0" anchor="ctr"/>
          <a:lstStyle/>
          <a:p>
            <a:pPr indent="0" marL="0">
              <a:buNone/>
            </a:pPr>
            <a:r>
              <a:rPr lang="en-US" sz="1900" b="1" dirty="0">
                <a:solidFill>
                  <a:srgbClr val="991B1B"/>
                </a:solidFill>
                <a:latin typeface="Calibri" pitchFamily="34" charset="0"/>
                <a:ea typeface="Calibri" pitchFamily="34" charset="-122"/>
                <a:cs typeface="Calibri" pitchFamily="34" charset="-120"/>
              </a:rPr>
              <a:t>Not a substitute for</a:t>
            </a:r>
            <a:endParaRPr lang="en-US" sz="1900" dirty="0"/>
          </a:p>
        </p:txBody>
      </p:sp>
      <p:sp>
        <p:nvSpPr>
          <p:cNvPr id="13" name="Text 9"/>
          <p:cNvSpPr txBox="1"/>
          <p:nvPr/>
        </p:nvSpPr>
        <p:spPr>
          <a:xfrm>
            <a:off x="4846320" y="2103120"/>
            <a:ext cx="3657600" cy="219456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7F1D1D"/>
                </a:solidFill>
                <a:latin typeface="Calibri" pitchFamily="34" charset="0"/>
                <a:ea typeface="Calibri" pitchFamily="34" charset="-122"/>
                <a:cs typeface="Calibri" pitchFamily="34" charset="-120"/>
              </a:rPr>
              <a:t>Checking the citation: grounding reduces errors, it doesn't remove them</a:t>
            </a:r>
            <a:endParaRPr lang="en-US" sz="1600" dirty="0"/>
          </a:p>
          <a:p>
            <a:pPr marL="203200" indent="-203200">
              <a:spcAft>
                <a:spcPts val="1200"/>
              </a:spcAft>
              <a:buSzPct val="100000"/>
              <a:buChar char="•"/>
            </a:pPr>
            <a:r>
              <a:rPr lang="en-US" sz="1600" dirty="0">
                <a:solidFill>
                  <a:srgbClr val="7F1D1D"/>
                </a:solidFill>
                <a:latin typeface="Calibri" pitchFamily="34" charset="0"/>
                <a:ea typeface="Calibri" pitchFamily="34" charset="-122"/>
                <a:cs typeface="Calibri" pitchFamily="34" charset="-120"/>
              </a:rPr>
              <a:t>Live data and breaking news your sources don't contain</a:t>
            </a:r>
            <a:endParaRPr lang="en-US" sz="1600" dirty="0"/>
          </a:p>
          <a:p>
            <a:pPr marL="203200" indent="-203200">
              <a:spcAft>
                <a:spcPts val="1200"/>
              </a:spcAft>
              <a:buSzPct val="100000"/>
              <a:buChar char="•"/>
            </a:pPr>
            <a:r>
              <a:rPr lang="en-US" sz="1600" dirty="0">
                <a:solidFill>
                  <a:srgbClr val="7F1D1D"/>
                </a:solidFill>
                <a:latin typeface="Calibri" pitchFamily="34" charset="0"/>
                <a:ea typeface="Calibri" pitchFamily="34" charset="-122"/>
                <a:cs typeface="Calibri" pitchFamily="34" charset="-120"/>
              </a:rPr>
              <a:t>Judgment: it summarizes what your sources say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200" b="1" spc="300" kern="0" dirty="0">
                <a:solidFill>
                  <a:srgbClr val="38BDF8"/>
                </a:solidFill>
                <a:latin typeface="Calibri" pitchFamily="34" charset="0"/>
                <a:ea typeface="Calibri" pitchFamily="34" charset="-122"/>
                <a:cs typeface="Calibri" pitchFamily="34" charset="-120"/>
              </a:rPr>
              <a:t>TAKEAWAYS AND Q&amp;A (14:30 – 15:00)</a:t>
            </a:r>
            <a:endParaRPr lang="en-US" sz="1200" dirty="0"/>
          </a:p>
        </p:txBody>
      </p:sp>
      <p:sp>
        <p:nvSpPr>
          <p:cNvPr id="3" name="Text 1"/>
          <p:cNvSpPr txBox="1"/>
          <p:nvPr/>
        </p:nvSpPr>
        <p:spPr>
          <a:xfrm>
            <a:off x="457200" y="731520"/>
            <a:ext cx="82296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Three habits to take with you</a:t>
            </a:r>
            <a:endParaRPr lang="en-US" sz="3600" dirty="0"/>
          </a:p>
        </p:txBody>
      </p:sp>
      <p:sp>
        <p:nvSpPr>
          <p:cNvPr id="4" name="Shape 2"/>
          <p:cNvSpPr/>
          <p:nvPr/>
        </p:nvSpPr>
        <p:spPr>
          <a:xfrm>
            <a:off x="457200" y="1783080"/>
            <a:ext cx="8229600" cy="731520"/>
          </a:xfrm>
          <a:prstGeom prst="roundRect">
            <a:avLst>
              <a:gd name="adj" fmla="val 15000"/>
            </a:avLst>
          </a:prstGeom>
          <a:solidFill>
            <a:srgbClr val="1E293B"/>
          </a:solidFill>
          <a:ln w="12700">
            <a:solidFill>
              <a:srgbClr val="1E293B"/>
            </a:solidFill>
            <a:prstDash val="solid"/>
          </a:ln>
        </p:spPr>
      </p:sp>
      <p:sp>
        <p:nvSpPr>
          <p:cNvPr id="5" name="Shape 3"/>
          <p:cNvSpPr/>
          <p:nvPr/>
        </p:nvSpPr>
        <p:spPr>
          <a:xfrm>
            <a:off x="658368" y="1920240"/>
            <a:ext cx="457200" cy="457200"/>
          </a:xfrm>
          <a:prstGeom prst="ellipse">
            <a:avLst/>
          </a:prstGeom>
          <a:solidFill>
            <a:srgbClr val="38BDF8"/>
          </a:solidFill>
          <a:ln w="12700">
            <a:solidFill>
              <a:srgbClr val="38BDF8"/>
            </a:solidFill>
            <a:prstDash val="solid"/>
          </a:ln>
        </p:spPr>
      </p:sp>
      <p:sp>
        <p:nvSpPr>
          <p:cNvPr id="6" name="Text 4"/>
          <p:cNvSpPr txBox="1"/>
          <p:nvPr/>
        </p:nvSpPr>
        <p:spPr>
          <a:xfrm>
            <a:off x="658368" y="1920240"/>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371600" y="1783080"/>
            <a:ext cx="7132320" cy="7315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Ground the answer in your own sources.</a:t>
            </a:r>
            <a:endParaRPr lang="en-US" sz="2000" dirty="0"/>
          </a:p>
        </p:txBody>
      </p:sp>
      <p:sp>
        <p:nvSpPr>
          <p:cNvPr id="8" name="Shape 6"/>
          <p:cNvSpPr/>
          <p:nvPr/>
        </p:nvSpPr>
        <p:spPr>
          <a:xfrm>
            <a:off x="457200" y="2679192"/>
            <a:ext cx="8229600" cy="731520"/>
          </a:xfrm>
          <a:prstGeom prst="roundRect">
            <a:avLst>
              <a:gd name="adj" fmla="val 15000"/>
            </a:avLst>
          </a:prstGeom>
          <a:solidFill>
            <a:srgbClr val="1E293B"/>
          </a:solidFill>
          <a:ln w="12700">
            <a:solidFill>
              <a:srgbClr val="1E293B"/>
            </a:solidFill>
            <a:prstDash val="solid"/>
          </a:ln>
        </p:spPr>
      </p:sp>
      <p:sp>
        <p:nvSpPr>
          <p:cNvPr id="9" name="Shape 7"/>
          <p:cNvSpPr/>
          <p:nvPr/>
        </p:nvSpPr>
        <p:spPr>
          <a:xfrm>
            <a:off x="658368" y="2816352"/>
            <a:ext cx="457200" cy="457200"/>
          </a:xfrm>
          <a:prstGeom prst="ellipse">
            <a:avLst/>
          </a:prstGeom>
          <a:solidFill>
            <a:srgbClr val="34D399"/>
          </a:solidFill>
          <a:ln w="12700">
            <a:solidFill>
              <a:srgbClr val="34D399"/>
            </a:solidFill>
            <a:prstDash val="solid"/>
          </a:ln>
        </p:spPr>
      </p:sp>
      <p:sp>
        <p:nvSpPr>
          <p:cNvPr id="10" name="Text 8"/>
          <p:cNvSpPr txBox="1"/>
          <p:nvPr/>
        </p:nvSpPr>
        <p:spPr>
          <a:xfrm>
            <a:off x="658368" y="2816352"/>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371600" y="2679192"/>
            <a:ext cx="7132320" cy="7315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Click the citation before you trust it.</a:t>
            </a:r>
            <a:endParaRPr lang="en-US" sz="2000" dirty="0"/>
          </a:p>
        </p:txBody>
      </p:sp>
      <p:sp>
        <p:nvSpPr>
          <p:cNvPr id="12" name="Shape 10"/>
          <p:cNvSpPr/>
          <p:nvPr/>
        </p:nvSpPr>
        <p:spPr>
          <a:xfrm>
            <a:off x="457200" y="3575304"/>
            <a:ext cx="8229600" cy="731520"/>
          </a:xfrm>
          <a:prstGeom prst="roundRect">
            <a:avLst>
              <a:gd name="adj" fmla="val 15000"/>
            </a:avLst>
          </a:prstGeom>
          <a:solidFill>
            <a:srgbClr val="1E293B"/>
          </a:solidFill>
          <a:ln w="12700">
            <a:solidFill>
              <a:srgbClr val="1E293B"/>
            </a:solidFill>
            <a:prstDash val="solid"/>
          </a:ln>
        </p:spPr>
      </p:sp>
      <p:sp>
        <p:nvSpPr>
          <p:cNvPr id="13" name="Shape 11"/>
          <p:cNvSpPr/>
          <p:nvPr/>
        </p:nvSpPr>
        <p:spPr>
          <a:xfrm>
            <a:off x="658368" y="3712464"/>
            <a:ext cx="457200" cy="457200"/>
          </a:xfrm>
          <a:prstGeom prst="ellipse">
            <a:avLst/>
          </a:prstGeom>
          <a:solidFill>
            <a:srgbClr val="FBBF24"/>
          </a:solidFill>
          <a:ln w="12700">
            <a:solidFill>
              <a:srgbClr val="FBBF24"/>
            </a:solidFill>
            <a:prstDash val="solid"/>
          </a:ln>
        </p:spPr>
      </p:sp>
      <p:sp>
        <p:nvSpPr>
          <p:cNvPr id="14" name="Text 12"/>
          <p:cNvSpPr txBox="1"/>
          <p:nvPr/>
        </p:nvSpPr>
        <p:spPr>
          <a:xfrm>
            <a:off x="658368" y="3712464"/>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371600" y="3575304"/>
            <a:ext cx="7132320" cy="7315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Tell it to say “not addressed” when the sources are silent.</a:t>
            </a:r>
            <a:endParaRPr lang="en-US" sz="2000" dirty="0"/>
          </a:p>
        </p:txBody>
      </p:sp>
      <p:sp>
        <p:nvSpPr>
          <p:cNvPr id="16" name="Text 14"/>
          <p:cNvSpPr txBox="1"/>
          <p:nvPr/>
        </p:nvSpPr>
        <p:spPr>
          <a:xfrm>
            <a:off x="457200" y="4526280"/>
            <a:ext cx="3657600" cy="32004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Ready for questions</a:t>
            </a:r>
            <a:endParaRPr lang="en-US" sz="1300" dirty="0"/>
          </a:p>
        </p:txBody>
      </p:sp>
      <p:sp>
        <p:nvSpPr>
          <p:cNvPr id="17" name="Text 15"/>
          <p:cNvSpPr txBox="1"/>
          <p:nvPr/>
        </p:nvSpPr>
        <p:spPr>
          <a:xfrm>
            <a:off x="4114800" y="4526280"/>
            <a:ext cx="4572000" cy="320040"/>
          </a:xfrm>
          <a:prstGeom prst="rect">
            <a:avLst/>
          </a:prstGeom>
          <a:noFill/>
          <a:ln/>
        </p:spPr>
        <p:txBody>
          <a:bodyPr wrap="square" lIns="0" tIns="0" rIns="0" bIns="0" rtlCol="0" anchor="ctr"/>
          <a:lstStyle/>
          <a:p>
            <a:pPr algn="r" indent="0" marL="0">
              <a:buNone/>
            </a:pPr>
            <a:r>
              <a:rPr lang="en-US" sz="1300" b="1" dirty="0">
                <a:solidFill>
                  <a:srgbClr val="38BDF8"/>
                </a:solidFill>
                <a:latin typeface="Calibri" pitchFamily="34" charset="0"/>
                <a:ea typeface="Calibri" pitchFamily="34" charset="-122"/>
                <a:cs typeface="Calibri" pitchFamily="34" charset="-120"/>
              </a:rPr>
              <a:t>notebook.google.com  •  notebook.google/plans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BACKUP</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Where to click: claims and their sources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4754880"/>
                <a:gridCol w="1737360"/>
                <a:gridCol w="173736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Claim</a:t>
                      </a:r>
                      <a:endParaRPr lang="en-US" sz="11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Where</a:t>
                      </a:r>
                      <a:endParaRPr lang="en-US" sz="11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29184">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Three reviewers (one from QA) and a 48-hour staging soak</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Team playbook</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Section 2</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Terminal agents for multi-file refactors</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Playbook and video</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Section 3; video 3:23</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29184">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Pick tools by top benchmark score</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Team playbook</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Section 4, Rule 4</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Benchmark scores don't always reflect real-world use</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AI Index 2026</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p. 79</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29184">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Top ten SWE-bench Verified within about 6 points (70.8% to 76.8%)</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AI Index 2026</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p. 100–101</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Up to 42% invalid questions (GSM8K, a math benchmark)</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AI Index 2026</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p. 72</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29184">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Experienced developers use about two tools</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Video</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About 9:39</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SonarQube users reported 44% fewer AI-related outages</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Video</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3:30</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Gemini Notebook: Live Demo</dc:title>
  <dc:subject>PptxGenJS Presentation</dc:subject>
  <dc:creator>PptxGenJS</dc:creator>
  <cp:lastModifiedBy>PptxGenJS</cp:lastModifiedBy>
  <cp:revision>1</cp:revision>
  <dcterms:created xsi:type="dcterms:W3CDTF">2026-09-21T03:49:20Z</dcterms:created>
  <dcterms:modified xsi:type="dcterms:W3CDTF">2026-09-21T03:49:20Z</dcterms:modified>
</cp:coreProperties>
</file>